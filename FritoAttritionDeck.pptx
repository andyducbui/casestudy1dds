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28"/>
  </p:notesMasterIdLst>
  <p:sldIdLst>
    <p:sldId id="256" r:id="rId2"/>
    <p:sldId id="257" r:id="rId3"/>
    <p:sldId id="280" r:id="rId4"/>
    <p:sldId id="261" r:id="rId5"/>
    <p:sldId id="262" r:id="rId6"/>
    <p:sldId id="283" r:id="rId7"/>
    <p:sldId id="284" r:id="rId8"/>
    <p:sldId id="264" r:id="rId9"/>
    <p:sldId id="267" r:id="rId10"/>
    <p:sldId id="282" r:id="rId11"/>
    <p:sldId id="263" r:id="rId12"/>
    <p:sldId id="268" r:id="rId13"/>
    <p:sldId id="270" r:id="rId14"/>
    <p:sldId id="285" r:id="rId15"/>
    <p:sldId id="275" r:id="rId16"/>
    <p:sldId id="276" r:id="rId17"/>
    <p:sldId id="265" r:id="rId18"/>
    <p:sldId id="274" r:id="rId19"/>
    <p:sldId id="271" r:id="rId20"/>
    <p:sldId id="273" r:id="rId21"/>
    <p:sldId id="266" r:id="rId22"/>
    <p:sldId id="277" r:id="rId23"/>
    <p:sldId id="272" r:id="rId24"/>
    <p:sldId id="278" r:id="rId25"/>
    <p:sldId id="279" r:id="rId26"/>
    <p:sldId id="286" r:id="rId27"/>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6014" autoAdjust="0"/>
    <p:restoredTop sz="74368" autoAdjust="0"/>
  </p:normalViewPr>
  <p:slideViewPr>
    <p:cSldViewPr snapToGrid="0">
      <p:cViewPr varScale="1">
        <p:scale>
          <a:sx n="118" d="100"/>
          <a:sy n="118" d="100"/>
        </p:scale>
        <p:origin x="1866" y="10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notesMaster" Target="notesMasters/notesMaster1.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viewProps" Target="viewProps.xml"/></Relationships>
</file>

<file path=ppt/diagrams/_rels/data1.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image" Target="../media/image14.svg"/><Relationship Id="rId1" Type="http://schemas.openxmlformats.org/officeDocument/2006/relationships/image" Target="../media/image13.png"/><Relationship Id="rId6" Type="http://schemas.openxmlformats.org/officeDocument/2006/relationships/image" Target="../media/image18.svg"/><Relationship Id="rId5" Type="http://schemas.openxmlformats.org/officeDocument/2006/relationships/image" Target="../media/image17.png"/><Relationship Id="rId4" Type="http://schemas.openxmlformats.org/officeDocument/2006/relationships/image" Target="../media/image16.svg"/></Relationships>
</file>

<file path=ppt/diagrams/_rels/drawing1.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image" Target="../media/image14.svg"/><Relationship Id="rId1" Type="http://schemas.openxmlformats.org/officeDocument/2006/relationships/image" Target="../media/image13.png"/><Relationship Id="rId6" Type="http://schemas.openxmlformats.org/officeDocument/2006/relationships/image" Target="../media/image18.svg"/><Relationship Id="rId5" Type="http://schemas.openxmlformats.org/officeDocument/2006/relationships/image" Target="../media/image17.png"/><Relationship Id="rId4" Type="http://schemas.openxmlformats.org/officeDocument/2006/relationships/image" Target="../media/image16.svg"/></Relationships>
</file>

<file path=ppt/diagrams/colors1.xml><?xml version="1.0" encoding="utf-8"?>
<dgm:colorsDef xmlns:dgm="http://schemas.openxmlformats.org/drawingml/2006/diagram" xmlns:a="http://schemas.openxmlformats.org/drawingml/2006/main" uniqueId="urn:microsoft.com/office/officeart/2005/8/colors/colorful1">
  <dgm:title val=""/>
  <dgm:desc val=""/>
  <dgm:catLst>
    <dgm:cat type="colorful" pri="10100"/>
  </dgm:catLst>
  <dgm:styleLbl name="node0">
    <dgm:fillClrLst meth="repeat">
      <a:schemeClr val="accent1"/>
    </dgm:fillClrLst>
    <dgm:linClrLst meth="repeat">
      <a:schemeClr val="lt1"/>
    </dgm:linClrLst>
    <dgm:effectClrLst/>
    <dgm:txLinClrLst/>
    <dgm:txFillClrLst/>
    <dgm:txEffectClrLst/>
  </dgm:styleLbl>
  <dgm:styleLbl name="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B6E91956-DE81-4E71-852B-87F74679E85B}" type="doc">
      <dgm:prSet loTypeId="urn:microsoft.com/office/officeart/2018/5/layout/CenteredIconLabelDescriptionList" loCatId="icon" qsTypeId="urn:microsoft.com/office/officeart/2005/8/quickstyle/simple1" qsCatId="simple" csTypeId="urn:microsoft.com/office/officeart/2005/8/colors/colorful1" csCatId="colorful" phldr="1"/>
      <dgm:spPr/>
      <dgm:t>
        <a:bodyPr/>
        <a:lstStyle/>
        <a:p>
          <a:endParaRPr lang="en-US"/>
        </a:p>
      </dgm:t>
    </dgm:pt>
    <dgm:pt modelId="{6EF495C9-27FB-4D97-9BCF-A2315BDD9126}">
      <dgm:prSet/>
      <dgm:spPr/>
      <dgm:t>
        <a:bodyPr/>
        <a:lstStyle/>
        <a:p>
          <a:pPr>
            <a:lnSpc>
              <a:spcPct val="100000"/>
            </a:lnSpc>
            <a:defRPr b="1"/>
          </a:pPr>
          <a:r>
            <a:rPr lang="en-US" dirty="0"/>
            <a:t>Average Employee Salary</a:t>
          </a:r>
        </a:p>
      </dgm:t>
    </dgm:pt>
    <dgm:pt modelId="{15C53CD8-FEFD-425C-A399-1B77707E91FF}" type="parTrans" cxnId="{45451DEC-C356-4C49-835B-DD0FBA3ED4C4}">
      <dgm:prSet/>
      <dgm:spPr/>
      <dgm:t>
        <a:bodyPr/>
        <a:lstStyle/>
        <a:p>
          <a:endParaRPr lang="en-US"/>
        </a:p>
      </dgm:t>
    </dgm:pt>
    <dgm:pt modelId="{D0A746F2-8D4F-4C7E-9A54-058831B578EA}" type="sibTrans" cxnId="{45451DEC-C356-4C49-835B-DD0FBA3ED4C4}">
      <dgm:prSet/>
      <dgm:spPr/>
      <dgm:t>
        <a:bodyPr/>
        <a:lstStyle/>
        <a:p>
          <a:endParaRPr lang="en-US"/>
        </a:p>
      </dgm:t>
    </dgm:pt>
    <dgm:pt modelId="{0E38C584-00C2-437F-A978-5FFE514CB0D3}">
      <dgm:prSet custT="1"/>
      <dgm:spPr/>
      <dgm:t>
        <a:bodyPr/>
        <a:lstStyle/>
        <a:p>
          <a:pPr>
            <a:lnSpc>
              <a:spcPct val="100000"/>
            </a:lnSpc>
          </a:pPr>
          <a:r>
            <a:rPr lang="en-US" sz="1600" dirty="0"/>
            <a:t>Average salary of level 1 </a:t>
          </a:r>
        </a:p>
      </dgm:t>
    </dgm:pt>
    <dgm:pt modelId="{11BA2249-4298-473C-B4CB-64CDA10AD286}" type="parTrans" cxnId="{D5AC59FD-29B0-408C-AD55-8FD4AE965D8C}">
      <dgm:prSet/>
      <dgm:spPr/>
      <dgm:t>
        <a:bodyPr/>
        <a:lstStyle/>
        <a:p>
          <a:endParaRPr lang="en-US"/>
        </a:p>
      </dgm:t>
    </dgm:pt>
    <dgm:pt modelId="{CE0A5ED1-DDC8-4D3D-A106-4B24990D6703}" type="sibTrans" cxnId="{D5AC59FD-29B0-408C-AD55-8FD4AE965D8C}">
      <dgm:prSet/>
      <dgm:spPr/>
      <dgm:t>
        <a:bodyPr/>
        <a:lstStyle/>
        <a:p>
          <a:endParaRPr lang="en-US"/>
        </a:p>
      </dgm:t>
    </dgm:pt>
    <dgm:pt modelId="{618742A2-8477-4379-B98A-36C723802C56}">
      <dgm:prSet/>
      <dgm:spPr/>
      <dgm:t>
        <a:bodyPr/>
        <a:lstStyle/>
        <a:p>
          <a:r>
            <a:rPr lang="en-US" sz="1500" b="1" dirty="0"/>
            <a:t>Level 1 </a:t>
          </a:r>
          <a:r>
            <a:rPr lang="en-US" sz="1500" dirty="0"/>
            <a:t>Monthly income ~ </a:t>
          </a:r>
          <a:r>
            <a:rPr lang="en-US" sz="1500" b="1" dirty="0"/>
            <a:t>$2744</a:t>
          </a:r>
        </a:p>
      </dgm:t>
    </dgm:pt>
    <dgm:pt modelId="{D80609C1-C1E7-43C7-A264-CE1CE89FA59E}" type="parTrans" cxnId="{FD9943ED-2E88-4C29-A59E-DAC992D58577}">
      <dgm:prSet/>
      <dgm:spPr/>
      <dgm:t>
        <a:bodyPr/>
        <a:lstStyle/>
        <a:p>
          <a:endParaRPr lang="en-US"/>
        </a:p>
      </dgm:t>
    </dgm:pt>
    <dgm:pt modelId="{B951BCAD-56C2-4453-B6A7-74A4C0A3BA2E}" type="sibTrans" cxnId="{FD9943ED-2E88-4C29-A59E-DAC992D58577}">
      <dgm:prSet/>
      <dgm:spPr/>
      <dgm:t>
        <a:bodyPr/>
        <a:lstStyle/>
        <a:p>
          <a:endParaRPr lang="en-US"/>
        </a:p>
      </dgm:t>
    </dgm:pt>
    <dgm:pt modelId="{CFA9C7FD-11C6-4906-B57A-F4E92F14D953}">
      <dgm:prSet custT="1"/>
      <dgm:spPr/>
      <dgm:t>
        <a:bodyPr/>
        <a:lstStyle/>
        <a:p>
          <a:pPr>
            <a:lnSpc>
              <a:spcPct val="100000"/>
            </a:lnSpc>
          </a:pPr>
          <a:r>
            <a:rPr lang="en-US" sz="1600" dirty="0"/>
            <a:t>Average salary of level 2</a:t>
          </a:r>
        </a:p>
      </dgm:t>
    </dgm:pt>
    <dgm:pt modelId="{F36055CD-C8E6-4A14-92F7-9C1A3BE246BE}" type="parTrans" cxnId="{BA21ECD4-DF47-4926-B8EF-BEE736297063}">
      <dgm:prSet/>
      <dgm:spPr/>
      <dgm:t>
        <a:bodyPr/>
        <a:lstStyle/>
        <a:p>
          <a:endParaRPr lang="en-US"/>
        </a:p>
      </dgm:t>
    </dgm:pt>
    <dgm:pt modelId="{F97CFD96-5A1F-4F55-806B-B8EA17EFBBAF}" type="sibTrans" cxnId="{BA21ECD4-DF47-4926-B8EF-BEE736297063}">
      <dgm:prSet/>
      <dgm:spPr/>
      <dgm:t>
        <a:bodyPr/>
        <a:lstStyle/>
        <a:p>
          <a:endParaRPr lang="en-US"/>
        </a:p>
      </dgm:t>
    </dgm:pt>
    <dgm:pt modelId="{B1B4AC93-C065-4834-9D2B-79F783DFE23E}">
      <dgm:prSet/>
      <dgm:spPr/>
      <dgm:t>
        <a:bodyPr/>
        <a:lstStyle/>
        <a:p>
          <a:r>
            <a:rPr lang="en-US" sz="1500" b="1" dirty="0"/>
            <a:t>Level 2 </a:t>
          </a:r>
          <a:r>
            <a:rPr lang="en-US" sz="1500" dirty="0"/>
            <a:t>Monthly income ~ </a:t>
          </a:r>
          <a:r>
            <a:rPr lang="en-US" sz="1500" b="1" dirty="0"/>
            <a:t>$5544</a:t>
          </a:r>
        </a:p>
      </dgm:t>
    </dgm:pt>
    <dgm:pt modelId="{74F306D3-2C03-4C9B-9AB4-A161D426A842}" type="parTrans" cxnId="{C0FA5ABC-D947-4AC2-82B9-A5039E98B802}">
      <dgm:prSet/>
      <dgm:spPr/>
      <dgm:t>
        <a:bodyPr/>
        <a:lstStyle/>
        <a:p>
          <a:endParaRPr lang="en-US"/>
        </a:p>
      </dgm:t>
    </dgm:pt>
    <dgm:pt modelId="{1728B87C-0260-4303-BAF0-563070DAB317}" type="sibTrans" cxnId="{C0FA5ABC-D947-4AC2-82B9-A5039E98B802}">
      <dgm:prSet/>
      <dgm:spPr/>
      <dgm:t>
        <a:bodyPr/>
        <a:lstStyle/>
        <a:p>
          <a:endParaRPr lang="en-US"/>
        </a:p>
      </dgm:t>
    </dgm:pt>
    <dgm:pt modelId="{EB06D5AD-AF7A-4C66-A95D-E2AF4630AD71}">
      <dgm:prSet/>
      <dgm:spPr/>
      <dgm:t>
        <a:bodyPr/>
        <a:lstStyle/>
        <a:p>
          <a:r>
            <a:rPr lang="en-US" sz="1500" b="1" dirty="0"/>
            <a:t>Level 2 </a:t>
          </a:r>
          <a:r>
            <a:rPr lang="en-US" sz="1500" dirty="0"/>
            <a:t>Yearly income ~ </a:t>
          </a:r>
          <a:r>
            <a:rPr lang="en-US" sz="1500" b="1" dirty="0"/>
            <a:t>$66,528</a:t>
          </a:r>
        </a:p>
      </dgm:t>
    </dgm:pt>
    <dgm:pt modelId="{B39081E6-90B5-4752-AF81-B93A5F9EC02B}" type="parTrans" cxnId="{5B3669E4-2FF3-48A9-9038-25885A58AABF}">
      <dgm:prSet/>
      <dgm:spPr/>
      <dgm:t>
        <a:bodyPr/>
        <a:lstStyle/>
        <a:p>
          <a:endParaRPr lang="en-US"/>
        </a:p>
      </dgm:t>
    </dgm:pt>
    <dgm:pt modelId="{4A0FA563-710C-4ED4-961E-6830FC2870AB}" type="sibTrans" cxnId="{5B3669E4-2FF3-48A9-9038-25885A58AABF}">
      <dgm:prSet/>
      <dgm:spPr/>
      <dgm:t>
        <a:bodyPr/>
        <a:lstStyle/>
        <a:p>
          <a:endParaRPr lang="en-US"/>
        </a:p>
      </dgm:t>
    </dgm:pt>
    <dgm:pt modelId="{AA62ADB5-0AA2-4E47-A671-59E6D76CD564}">
      <dgm:prSet/>
      <dgm:spPr/>
      <dgm:t>
        <a:bodyPr/>
        <a:lstStyle/>
        <a:p>
          <a:pPr>
            <a:lnSpc>
              <a:spcPct val="100000"/>
            </a:lnSpc>
            <a:defRPr b="1"/>
          </a:pPr>
          <a:r>
            <a:rPr lang="en-US" dirty="0"/>
            <a:t>Retention Incentive Program</a:t>
          </a:r>
        </a:p>
      </dgm:t>
    </dgm:pt>
    <dgm:pt modelId="{093A2A9C-BD0C-4AA2-A822-92A864369C1E}" type="parTrans" cxnId="{0B95851B-BB7B-412E-9542-360892749C39}">
      <dgm:prSet/>
      <dgm:spPr/>
      <dgm:t>
        <a:bodyPr/>
        <a:lstStyle/>
        <a:p>
          <a:endParaRPr lang="en-US"/>
        </a:p>
      </dgm:t>
    </dgm:pt>
    <dgm:pt modelId="{ABFD86C0-3075-48CC-B946-319F71FD66CB}" type="sibTrans" cxnId="{0B95851B-BB7B-412E-9542-360892749C39}">
      <dgm:prSet/>
      <dgm:spPr/>
      <dgm:t>
        <a:bodyPr/>
        <a:lstStyle/>
        <a:p>
          <a:endParaRPr lang="en-US"/>
        </a:p>
      </dgm:t>
    </dgm:pt>
    <dgm:pt modelId="{B8071BBE-083F-4C08-B165-BE952456092D}">
      <dgm:prSet custT="1"/>
      <dgm:spPr/>
      <dgm:t>
        <a:bodyPr/>
        <a:lstStyle/>
        <a:p>
          <a:pPr>
            <a:lnSpc>
              <a:spcPct val="100000"/>
            </a:lnSpc>
          </a:pPr>
          <a:r>
            <a:rPr lang="en-US" sz="1500" dirty="0"/>
            <a:t>Per employee intervention cost</a:t>
          </a:r>
        </a:p>
        <a:p>
          <a:pPr>
            <a:lnSpc>
              <a:spcPct val="100000"/>
            </a:lnSpc>
          </a:pPr>
          <a:r>
            <a:rPr lang="en-US" sz="2400" b="1" dirty="0"/>
            <a:t>$200 </a:t>
          </a:r>
        </a:p>
      </dgm:t>
    </dgm:pt>
    <dgm:pt modelId="{7EE3C4A1-1FCE-456C-9B17-3629C5B9F7AB}" type="parTrans" cxnId="{2B299089-71C5-4528-8449-8F66D7E90652}">
      <dgm:prSet/>
      <dgm:spPr/>
      <dgm:t>
        <a:bodyPr/>
        <a:lstStyle/>
        <a:p>
          <a:endParaRPr lang="en-US"/>
        </a:p>
      </dgm:t>
    </dgm:pt>
    <dgm:pt modelId="{922E0147-5AFD-421F-9A02-8DA717A25157}" type="sibTrans" cxnId="{2B299089-71C5-4528-8449-8F66D7E90652}">
      <dgm:prSet/>
      <dgm:spPr/>
      <dgm:t>
        <a:bodyPr/>
        <a:lstStyle/>
        <a:p>
          <a:endParaRPr lang="en-US"/>
        </a:p>
      </dgm:t>
    </dgm:pt>
    <dgm:pt modelId="{CCC1FFBA-86F7-4902-B6E4-DF977C3B11C1}">
      <dgm:prSet/>
      <dgm:spPr/>
      <dgm:t>
        <a:bodyPr/>
        <a:lstStyle/>
        <a:p>
          <a:r>
            <a:rPr lang="en-US" sz="1500" b="1" dirty="0"/>
            <a:t>Level 1 </a:t>
          </a:r>
          <a:r>
            <a:rPr lang="en-US" sz="1500" dirty="0"/>
            <a:t>Yearly income ~ </a:t>
          </a:r>
          <a:r>
            <a:rPr lang="en-US" sz="1500" b="1" dirty="0"/>
            <a:t>$32,928</a:t>
          </a:r>
        </a:p>
      </dgm:t>
    </dgm:pt>
    <dgm:pt modelId="{48020D58-01A6-43CC-8D75-6DC2505E9BD5}" type="parTrans" cxnId="{3851B5F3-001F-48C7-B4EE-DAB1B4E399D2}">
      <dgm:prSet/>
      <dgm:spPr/>
      <dgm:t>
        <a:bodyPr/>
        <a:lstStyle/>
        <a:p>
          <a:endParaRPr lang="en-US"/>
        </a:p>
      </dgm:t>
    </dgm:pt>
    <dgm:pt modelId="{0778D7B1-9561-4629-B52F-3516B1600F8F}" type="sibTrans" cxnId="{3851B5F3-001F-48C7-B4EE-DAB1B4E399D2}">
      <dgm:prSet/>
      <dgm:spPr/>
      <dgm:t>
        <a:bodyPr/>
        <a:lstStyle/>
        <a:p>
          <a:endParaRPr lang="en-US"/>
        </a:p>
      </dgm:t>
    </dgm:pt>
    <dgm:pt modelId="{7D982608-CE6B-40A7-930D-113C7F7706C5}">
      <dgm:prSet/>
      <dgm:spPr/>
      <dgm:t>
        <a:bodyPr/>
        <a:lstStyle/>
        <a:p>
          <a:pPr>
            <a:lnSpc>
              <a:spcPct val="100000"/>
            </a:lnSpc>
          </a:pPr>
          <a:r>
            <a:rPr lang="en-US" sz="1500" b="0" dirty="0"/>
            <a:t>Total Average of both level 1 and 2 ~ </a:t>
          </a:r>
          <a:r>
            <a:rPr lang="en-US" sz="1500" b="1" dirty="0"/>
            <a:t>$49,728 </a:t>
          </a:r>
        </a:p>
        <a:p>
          <a:pPr>
            <a:lnSpc>
              <a:spcPct val="100000"/>
            </a:lnSpc>
            <a:buFont typeface="Arial" panose="020B0604020202020204" pitchFamily="34" charset="0"/>
            <a:buChar char="•"/>
          </a:pPr>
          <a:endParaRPr lang="en-US" sz="1500" b="0" dirty="0"/>
        </a:p>
      </dgm:t>
    </dgm:pt>
    <dgm:pt modelId="{687CA112-7E7D-449E-87C6-3F26CA00DDA7}" type="parTrans" cxnId="{544B02E7-735E-4E27-A5F6-84CC9CD8F526}">
      <dgm:prSet/>
      <dgm:spPr/>
      <dgm:t>
        <a:bodyPr/>
        <a:lstStyle/>
        <a:p>
          <a:endParaRPr lang="en-US"/>
        </a:p>
      </dgm:t>
    </dgm:pt>
    <dgm:pt modelId="{B814CFE9-AEC3-45B6-9B1D-E7079FC6C8DF}" type="sibTrans" cxnId="{544B02E7-735E-4E27-A5F6-84CC9CD8F526}">
      <dgm:prSet/>
      <dgm:spPr/>
      <dgm:t>
        <a:bodyPr/>
        <a:lstStyle/>
        <a:p>
          <a:endParaRPr lang="en-US"/>
        </a:p>
      </dgm:t>
    </dgm:pt>
    <dgm:pt modelId="{4DBFCE1C-A2F4-4345-895E-F65627E20C47}">
      <dgm:prSet/>
      <dgm:spPr/>
      <dgm:t>
        <a:bodyPr/>
        <a:lstStyle/>
        <a:p>
          <a:pPr>
            <a:lnSpc>
              <a:spcPct val="100000"/>
            </a:lnSpc>
            <a:defRPr b="1"/>
          </a:pPr>
          <a:r>
            <a:rPr lang="en-US" dirty="0"/>
            <a:t>Cost for Attrition</a:t>
          </a:r>
        </a:p>
      </dgm:t>
    </dgm:pt>
    <dgm:pt modelId="{BF0D31E5-1282-4E84-B16E-5BB5482DF635}" type="parTrans" cxnId="{48199EF8-B7F7-4F90-8246-AB91330A26B3}">
      <dgm:prSet/>
      <dgm:spPr/>
      <dgm:t>
        <a:bodyPr/>
        <a:lstStyle/>
        <a:p>
          <a:endParaRPr lang="en-US"/>
        </a:p>
      </dgm:t>
    </dgm:pt>
    <dgm:pt modelId="{B8A14C71-562A-4401-80AD-48550FCE70A1}" type="sibTrans" cxnId="{48199EF8-B7F7-4F90-8246-AB91330A26B3}">
      <dgm:prSet/>
      <dgm:spPr/>
      <dgm:t>
        <a:bodyPr/>
        <a:lstStyle/>
        <a:p>
          <a:endParaRPr lang="en-US"/>
        </a:p>
      </dgm:t>
    </dgm:pt>
    <dgm:pt modelId="{4A65CDF9-7DA7-4528-8B43-A07D1E38E00C}">
      <dgm:prSet/>
      <dgm:spPr/>
      <dgm:t>
        <a:bodyPr/>
        <a:lstStyle/>
        <a:p>
          <a:pPr>
            <a:lnSpc>
              <a:spcPct val="100000"/>
            </a:lnSpc>
          </a:pPr>
          <a:r>
            <a:rPr lang="en-US" dirty="0"/>
            <a:t>It costs up to 50% - 400% of that employee's salary to have them replaced</a:t>
          </a:r>
        </a:p>
      </dgm:t>
    </dgm:pt>
    <dgm:pt modelId="{F4340353-632F-4D31-B75F-AED9B8B5DD22}" type="parTrans" cxnId="{DAF46CD2-058E-4754-9CF9-68CD3B1C9303}">
      <dgm:prSet/>
      <dgm:spPr/>
      <dgm:t>
        <a:bodyPr/>
        <a:lstStyle/>
        <a:p>
          <a:endParaRPr lang="en-US"/>
        </a:p>
      </dgm:t>
    </dgm:pt>
    <dgm:pt modelId="{153A4693-7B45-44D8-B0A2-D7BA32736927}" type="sibTrans" cxnId="{DAF46CD2-058E-4754-9CF9-68CD3B1C9303}">
      <dgm:prSet/>
      <dgm:spPr/>
      <dgm:t>
        <a:bodyPr/>
        <a:lstStyle/>
        <a:p>
          <a:endParaRPr lang="en-US"/>
        </a:p>
      </dgm:t>
    </dgm:pt>
    <dgm:pt modelId="{1939FA7C-3C11-4B84-B384-F8B8212C414F}">
      <dgm:prSet/>
      <dgm:spPr/>
      <dgm:t>
        <a:bodyPr/>
        <a:lstStyle/>
        <a:p>
          <a:pPr>
            <a:lnSpc>
              <a:spcPct val="100000"/>
            </a:lnSpc>
          </a:pPr>
          <a:r>
            <a:rPr lang="en-US" dirty="0"/>
            <a:t>Our analysis will use 200%</a:t>
          </a:r>
        </a:p>
      </dgm:t>
    </dgm:pt>
    <dgm:pt modelId="{4CB26D04-EDF6-4055-A06C-0684EE1E85B9}" type="parTrans" cxnId="{B0DE5ABB-C933-4185-BA1C-29EF94BD3261}">
      <dgm:prSet/>
      <dgm:spPr/>
      <dgm:t>
        <a:bodyPr/>
        <a:lstStyle/>
        <a:p>
          <a:endParaRPr lang="en-US"/>
        </a:p>
      </dgm:t>
    </dgm:pt>
    <dgm:pt modelId="{A5A1143B-363F-411B-9E3F-F9E36EC041FC}" type="sibTrans" cxnId="{B0DE5ABB-C933-4185-BA1C-29EF94BD3261}">
      <dgm:prSet/>
      <dgm:spPr/>
      <dgm:t>
        <a:bodyPr/>
        <a:lstStyle/>
        <a:p>
          <a:endParaRPr lang="en-US"/>
        </a:p>
      </dgm:t>
    </dgm:pt>
    <dgm:pt modelId="{71D69D39-A6D4-4607-B646-4C0794288F8E}" type="pres">
      <dgm:prSet presAssocID="{B6E91956-DE81-4E71-852B-87F74679E85B}" presName="root" presStyleCnt="0">
        <dgm:presLayoutVars>
          <dgm:dir/>
          <dgm:resizeHandles val="exact"/>
        </dgm:presLayoutVars>
      </dgm:prSet>
      <dgm:spPr/>
    </dgm:pt>
    <dgm:pt modelId="{F831B026-0BF6-47A8-98EE-49BCB1DEC175}" type="pres">
      <dgm:prSet presAssocID="{4DBFCE1C-A2F4-4345-895E-F65627E20C47}" presName="compNode" presStyleCnt="0"/>
      <dgm:spPr/>
    </dgm:pt>
    <dgm:pt modelId="{C2CEBBF3-18BD-4C59-8436-A7B2DB5675EC}" type="pres">
      <dgm:prSet presAssocID="{4DBFCE1C-A2F4-4345-895E-F65627E20C47}" presName="iconRect" presStyleLbl="node1" presStyleIdx="0" presStyleCnt="3" custLinFactNeighborX="4968" custLinFactNeighborY="-1468"/>
      <dgm:spPr>
        <a:blipFill>
          <a:blip xmlns:r="http://schemas.openxmlformats.org/officeDocument/2006/relationships" r:embed="rId1">
            <a:extLst>
              <a:ext uri="{96DAC541-7B7A-43D3-8B79-37D633B846F1}">
                <asvg:svgBlip xmlns:asvg="http://schemas.microsoft.com/office/drawing/2016/SVG/main" r:embed="rId2"/>
              </a:ext>
            </a:extLst>
          </a:blip>
          <a:srcRect/>
          <a:stretch>
            <a:fillRect t="-2000" b="-2000"/>
          </a:stretch>
        </a:blipFill>
      </dgm:spPr>
      <dgm:extLst>
        <a:ext uri="{E40237B7-FDA0-4F09-8148-C483321AD2D9}">
          <dgm14:cNvPr xmlns:dgm14="http://schemas.microsoft.com/office/drawing/2010/diagram" id="0" name="" descr="Coins outline"/>
        </a:ext>
      </dgm:extLst>
    </dgm:pt>
    <dgm:pt modelId="{430243D0-C811-402A-9BB5-D6E780DFE187}" type="pres">
      <dgm:prSet presAssocID="{4DBFCE1C-A2F4-4345-895E-F65627E20C47}" presName="iconSpace" presStyleCnt="0"/>
      <dgm:spPr/>
    </dgm:pt>
    <dgm:pt modelId="{5A452820-5123-4876-A2D6-135B41E834E0}" type="pres">
      <dgm:prSet presAssocID="{4DBFCE1C-A2F4-4345-895E-F65627E20C47}" presName="parTx" presStyleLbl="revTx" presStyleIdx="0" presStyleCnt="6">
        <dgm:presLayoutVars>
          <dgm:chMax val="0"/>
          <dgm:chPref val="0"/>
        </dgm:presLayoutVars>
      </dgm:prSet>
      <dgm:spPr/>
    </dgm:pt>
    <dgm:pt modelId="{11415963-8FEA-4507-9B89-5E8FB540C56D}" type="pres">
      <dgm:prSet presAssocID="{4DBFCE1C-A2F4-4345-895E-F65627E20C47}" presName="txSpace" presStyleCnt="0"/>
      <dgm:spPr/>
    </dgm:pt>
    <dgm:pt modelId="{FA413509-DC89-456F-9641-792D0B8D0204}" type="pres">
      <dgm:prSet presAssocID="{4DBFCE1C-A2F4-4345-895E-F65627E20C47}" presName="desTx" presStyleLbl="revTx" presStyleIdx="1" presStyleCnt="6">
        <dgm:presLayoutVars/>
      </dgm:prSet>
      <dgm:spPr/>
    </dgm:pt>
    <dgm:pt modelId="{EF38096F-8C6C-4531-8185-BF0D79373555}" type="pres">
      <dgm:prSet presAssocID="{B8A14C71-562A-4401-80AD-48550FCE70A1}" presName="sibTrans" presStyleCnt="0"/>
      <dgm:spPr/>
    </dgm:pt>
    <dgm:pt modelId="{9878B109-2D26-404D-B3E1-0568A02685D3}" type="pres">
      <dgm:prSet presAssocID="{6EF495C9-27FB-4D97-9BCF-A2315BDD9126}" presName="compNode" presStyleCnt="0"/>
      <dgm:spPr/>
    </dgm:pt>
    <dgm:pt modelId="{673322BF-FE1E-4053-AAA8-EE6AF01C68FD}" type="pres">
      <dgm:prSet presAssocID="{6EF495C9-27FB-4D97-9BCF-A2315BDD9126}" presName="iconRect" presStyleLbl="node1" presStyleIdx="1" presStyleCnt="3"/>
      <dgm:spPr>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dgm:spPr>
      <dgm:extLst>
        <a:ext uri="{E40237B7-FDA0-4F09-8148-C483321AD2D9}">
          <dgm14:cNvPr xmlns:dgm14="http://schemas.microsoft.com/office/drawing/2010/diagram" id="0" name="" descr="Dollar"/>
        </a:ext>
      </dgm:extLst>
    </dgm:pt>
    <dgm:pt modelId="{2B6DD427-6557-40A6-9B82-1EFEC919ADCE}" type="pres">
      <dgm:prSet presAssocID="{6EF495C9-27FB-4D97-9BCF-A2315BDD9126}" presName="iconSpace" presStyleCnt="0"/>
      <dgm:spPr/>
    </dgm:pt>
    <dgm:pt modelId="{F7A37BCE-68F1-4893-9921-CA2FB59FC94E}" type="pres">
      <dgm:prSet presAssocID="{6EF495C9-27FB-4D97-9BCF-A2315BDD9126}" presName="parTx" presStyleLbl="revTx" presStyleIdx="2" presStyleCnt="6">
        <dgm:presLayoutVars>
          <dgm:chMax val="0"/>
          <dgm:chPref val="0"/>
        </dgm:presLayoutVars>
      </dgm:prSet>
      <dgm:spPr/>
    </dgm:pt>
    <dgm:pt modelId="{20AA0443-8FBF-4026-9552-5A800DEED2CE}" type="pres">
      <dgm:prSet presAssocID="{6EF495C9-27FB-4D97-9BCF-A2315BDD9126}" presName="txSpace" presStyleCnt="0"/>
      <dgm:spPr/>
    </dgm:pt>
    <dgm:pt modelId="{74E9EE69-AE09-4B8A-8AA6-41BE8A4D31FF}" type="pres">
      <dgm:prSet presAssocID="{6EF495C9-27FB-4D97-9BCF-A2315BDD9126}" presName="desTx" presStyleLbl="revTx" presStyleIdx="3" presStyleCnt="6">
        <dgm:presLayoutVars/>
      </dgm:prSet>
      <dgm:spPr/>
    </dgm:pt>
    <dgm:pt modelId="{B8CEB642-3DD2-4DDC-87BA-CE31FD2BBE52}" type="pres">
      <dgm:prSet presAssocID="{D0A746F2-8D4F-4C7E-9A54-058831B578EA}" presName="sibTrans" presStyleCnt="0"/>
      <dgm:spPr/>
    </dgm:pt>
    <dgm:pt modelId="{5FD4CC7A-7DE8-421F-A04E-39230458A39A}" type="pres">
      <dgm:prSet presAssocID="{AA62ADB5-0AA2-4E47-A671-59E6D76CD564}" presName="compNode" presStyleCnt="0"/>
      <dgm:spPr/>
    </dgm:pt>
    <dgm:pt modelId="{6BFEC644-E942-49FD-85EE-4951D0C9653C}" type="pres">
      <dgm:prSet presAssocID="{AA62ADB5-0AA2-4E47-A671-59E6D76CD564}" presName="iconRect" presStyleLbl="node1" presStyleIdx="2" presStyleCnt="3"/>
      <dgm:spPr>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dgm:spPr>
      <dgm:extLst>
        <a:ext uri="{E40237B7-FDA0-4F09-8148-C483321AD2D9}">
          <dgm14:cNvPr xmlns:dgm14="http://schemas.microsoft.com/office/drawing/2010/diagram" id="0" name="" descr="Money"/>
        </a:ext>
      </dgm:extLst>
    </dgm:pt>
    <dgm:pt modelId="{47F0B561-CADE-41AB-B997-FDCAFB4BC1C8}" type="pres">
      <dgm:prSet presAssocID="{AA62ADB5-0AA2-4E47-A671-59E6D76CD564}" presName="iconSpace" presStyleCnt="0"/>
      <dgm:spPr/>
    </dgm:pt>
    <dgm:pt modelId="{83D39F15-49CE-49B2-9B36-E8C57111F20F}" type="pres">
      <dgm:prSet presAssocID="{AA62ADB5-0AA2-4E47-A671-59E6D76CD564}" presName="parTx" presStyleLbl="revTx" presStyleIdx="4" presStyleCnt="6">
        <dgm:presLayoutVars>
          <dgm:chMax val="0"/>
          <dgm:chPref val="0"/>
        </dgm:presLayoutVars>
      </dgm:prSet>
      <dgm:spPr/>
    </dgm:pt>
    <dgm:pt modelId="{FCDA70C0-DF44-48A2-9CC2-B83D01FB0188}" type="pres">
      <dgm:prSet presAssocID="{AA62ADB5-0AA2-4E47-A671-59E6D76CD564}" presName="txSpace" presStyleCnt="0"/>
      <dgm:spPr/>
    </dgm:pt>
    <dgm:pt modelId="{F143D6CE-630F-40B4-B08C-A85484F7AE2D}" type="pres">
      <dgm:prSet presAssocID="{AA62ADB5-0AA2-4E47-A671-59E6D76CD564}" presName="desTx" presStyleLbl="revTx" presStyleIdx="5" presStyleCnt="6">
        <dgm:presLayoutVars/>
      </dgm:prSet>
      <dgm:spPr/>
    </dgm:pt>
  </dgm:ptLst>
  <dgm:cxnLst>
    <dgm:cxn modelId="{7C63FB0A-52E4-4F29-8433-1897E18E630E}" type="presOf" srcId="{CCC1FFBA-86F7-4902-B6E4-DF977C3B11C1}" destId="{74E9EE69-AE09-4B8A-8AA6-41BE8A4D31FF}" srcOrd="0" destOrd="2" presId="urn:microsoft.com/office/officeart/2018/5/layout/CenteredIconLabelDescriptionList"/>
    <dgm:cxn modelId="{7B31A20B-3A7B-48EE-88F9-1707712DFE20}" type="presOf" srcId="{AA62ADB5-0AA2-4E47-A671-59E6D76CD564}" destId="{83D39F15-49CE-49B2-9B36-E8C57111F20F}" srcOrd="0" destOrd="0" presId="urn:microsoft.com/office/officeart/2018/5/layout/CenteredIconLabelDescriptionList"/>
    <dgm:cxn modelId="{0B95851B-BB7B-412E-9542-360892749C39}" srcId="{B6E91956-DE81-4E71-852B-87F74679E85B}" destId="{AA62ADB5-0AA2-4E47-A671-59E6D76CD564}" srcOrd="2" destOrd="0" parTransId="{093A2A9C-BD0C-4AA2-A822-92A864369C1E}" sibTransId="{ABFD86C0-3075-48CC-B946-319F71FD66CB}"/>
    <dgm:cxn modelId="{C6F9E138-CFA1-49B0-8744-87342F91D7A1}" type="presOf" srcId="{EB06D5AD-AF7A-4C66-A95D-E2AF4630AD71}" destId="{74E9EE69-AE09-4B8A-8AA6-41BE8A4D31FF}" srcOrd="0" destOrd="5" presId="urn:microsoft.com/office/officeart/2018/5/layout/CenteredIconLabelDescriptionList"/>
    <dgm:cxn modelId="{1E09A063-243D-46BD-8919-206ED013453F}" type="presOf" srcId="{1939FA7C-3C11-4B84-B384-F8B8212C414F}" destId="{FA413509-DC89-456F-9641-792D0B8D0204}" srcOrd="0" destOrd="1" presId="urn:microsoft.com/office/officeart/2018/5/layout/CenteredIconLabelDescriptionList"/>
    <dgm:cxn modelId="{70DB084E-29CD-469C-99FC-E5693AF7EA08}" type="presOf" srcId="{B1B4AC93-C065-4834-9D2B-79F783DFE23E}" destId="{74E9EE69-AE09-4B8A-8AA6-41BE8A4D31FF}" srcOrd="0" destOrd="4" presId="urn:microsoft.com/office/officeart/2018/5/layout/CenteredIconLabelDescriptionList"/>
    <dgm:cxn modelId="{EAD22A6E-C485-4B85-91D8-401F2E36C381}" type="presOf" srcId="{7D982608-CE6B-40A7-930D-113C7F7706C5}" destId="{74E9EE69-AE09-4B8A-8AA6-41BE8A4D31FF}" srcOrd="0" destOrd="6" presId="urn:microsoft.com/office/officeart/2018/5/layout/CenteredIconLabelDescriptionList"/>
    <dgm:cxn modelId="{716ADF74-C5DB-4FC5-9B92-153962553552}" type="presOf" srcId="{CFA9C7FD-11C6-4906-B57A-F4E92F14D953}" destId="{74E9EE69-AE09-4B8A-8AA6-41BE8A4D31FF}" srcOrd="0" destOrd="3" presId="urn:microsoft.com/office/officeart/2018/5/layout/CenteredIconLabelDescriptionList"/>
    <dgm:cxn modelId="{2B299089-71C5-4528-8449-8F66D7E90652}" srcId="{AA62ADB5-0AA2-4E47-A671-59E6D76CD564}" destId="{B8071BBE-083F-4C08-B165-BE952456092D}" srcOrd="0" destOrd="0" parTransId="{7EE3C4A1-1FCE-456C-9B17-3629C5B9F7AB}" sibTransId="{922E0147-5AFD-421F-9A02-8DA717A25157}"/>
    <dgm:cxn modelId="{E8C04EA8-B605-4DC8-A0DC-977A5B9CBF82}" type="presOf" srcId="{0E38C584-00C2-437F-A978-5FFE514CB0D3}" destId="{74E9EE69-AE09-4B8A-8AA6-41BE8A4D31FF}" srcOrd="0" destOrd="0" presId="urn:microsoft.com/office/officeart/2018/5/layout/CenteredIconLabelDescriptionList"/>
    <dgm:cxn modelId="{B3CCD6A9-0983-45A2-8211-D6453EB5FBBD}" type="presOf" srcId="{B8071BBE-083F-4C08-B165-BE952456092D}" destId="{F143D6CE-630F-40B4-B08C-A85484F7AE2D}" srcOrd="0" destOrd="0" presId="urn:microsoft.com/office/officeart/2018/5/layout/CenteredIconLabelDescriptionList"/>
    <dgm:cxn modelId="{BE7440B7-6E46-4CBE-944E-57BBCFE85FB2}" type="presOf" srcId="{4DBFCE1C-A2F4-4345-895E-F65627E20C47}" destId="{5A452820-5123-4876-A2D6-135B41E834E0}" srcOrd="0" destOrd="0" presId="urn:microsoft.com/office/officeart/2018/5/layout/CenteredIconLabelDescriptionList"/>
    <dgm:cxn modelId="{B0DE5ABB-C933-4185-BA1C-29EF94BD3261}" srcId="{4DBFCE1C-A2F4-4345-895E-F65627E20C47}" destId="{1939FA7C-3C11-4B84-B384-F8B8212C414F}" srcOrd="1" destOrd="0" parTransId="{4CB26D04-EDF6-4055-A06C-0684EE1E85B9}" sibTransId="{A5A1143B-363F-411B-9E3F-F9E36EC041FC}"/>
    <dgm:cxn modelId="{C0FA5ABC-D947-4AC2-82B9-A5039E98B802}" srcId="{CFA9C7FD-11C6-4906-B57A-F4E92F14D953}" destId="{B1B4AC93-C065-4834-9D2B-79F783DFE23E}" srcOrd="0" destOrd="0" parTransId="{74F306D3-2C03-4C9B-9AB4-A161D426A842}" sibTransId="{1728B87C-0260-4303-BAF0-563070DAB317}"/>
    <dgm:cxn modelId="{8C58E9D1-F715-4093-AE1A-7FF593C86365}" type="presOf" srcId="{6EF495C9-27FB-4D97-9BCF-A2315BDD9126}" destId="{F7A37BCE-68F1-4893-9921-CA2FB59FC94E}" srcOrd="0" destOrd="0" presId="urn:microsoft.com/office/officeart/2018/5/layout/CenteredIconLabelDescriptionList"/>
    <dgm:cxn modelId="{DAF46CD2-058E-4754-9CF9-68CD3B1C9303}" srcId="{4DBFCE1C-A2F4-4345-895E-F65627E20C47}" destId="{4A65CDF9-7DA7-4528-8B43-A07D1E38E00C}" srcOrd="0" destOrd="0" parTransId="{F4340353-632F-4D31-B75F-AED9B8B5DD22}" sibTransId="{153A4693-7B45-44D8-B0A2-D7BA32736927}"/>
    <dgm:cxn modelId="{BA21ECD4-DF47-4926-B8EF-BEE736297063}" srcId="{6EF495C9-27FB-4D97-9BCF-A2315BDD9126}" destId="{CFA9C7FD-11C6-4906-B57A-F4E92F14D953}" srcOrd="1" destOrd="0" parTransId="{F36055CD-C8E6-4A14-92F7-9C1A3BE246BE}" sibTransId="{F97CFD96-5A1F-4F55-806B-B8EA17EFBBAF}"/>
    <dgm:cxn modelId="{C67017E1-B0B2-4507-880E-C315B6F9C210}" type="presOf" srcId="{4A65CDF9-7DA7-4528-8B43-A07D1E38E00C}" destId="{FA413509-DC89-456F-9641-792D0B8D0204}" srcOrd="0" destOrd="0" presId="urn:microsoft.com/office/officeart/2018/5/layout/CenteredIconLabelDescriptionList"/>
    <dgm:cxn modelId="{5B3669E4-2FF3-48A9-9038-25885A58AABF}" srcId="{CFA9C7FD-11C6-4906-B57A-F4E92F14D953}" destId="{EB06D5AD-AF7A-4C66-A95D-E2AF4630AD71}" srcOrd="1" destOrd="0" parTransId="{B39081E6-90B5-4752-AF81-B93A5F9EC02B}" sibTransId="{4A0FA563-710C-4ED4-961E-6830FC2870AB}"/>
    <dgm:cxn modelId="{544B02E7-735E-4E27-A5F6-84CC9CD8F526}" srcId="{6EF495C9-27FB-4D97-9BCF-A2315BDD9126}" destId="{7D982608-CE6B-40A7-930D-113C7F7706C5}" srcOrd="2" destOrd="0" parTransId="{687CA112-7E7D-449E-87C6-3F26CA00DDA7}" sibTransId="{B814CFE9-AEC3-45B6-9B1D-E7079FC6C8DF}"/>
    <dgm:cxn modelId="{45451DEC-C356-4C49-835B-DD0FBA3ED4C4}" srcId="{B6E91956-DE81-4E71-852B-87F74679E85B}" destId="{6EF495C9-27FB-4D97-9BCF-A2315BDD9126}" srcOrd="1" destOrd="0" parTransId="{15C53CD8-FEFD-425C-A399-1B77707E91FF}" sibTransId="{D0A746F2-8D4F-4C7E-9A54-058831B578EA}"/>
    <dgm:cxn modelId="{FD9943ED-2E88-4C29-A59E-DAC992D58577}" srcId="{0E38C584-00C2-437F-A978-5FFE514CB0D3}" destId="{618742A2-8477-4379-B98A-36C723802C56}" srcOrd="0" destOrd="0" parTransId="{D80609C1-C1E7-43C7-A264-CE1CE89FA59E}" sibTransId="{B951BCAD-56C2-4453-B6A7-74A4C0A3BA2E}"/>
    <dgm:cxn modelId="{3851B5F3-001F-48C7-B4EE-DAB1B4E399D2}" srcId="{0E38C584-00C2-437F-A978-5FFE514CB0D3}" destId="{CCC1FFBA-86F7-4902-B6E4-DF977C3B11C1}" srcOrd="1" destOrd="0" parTransId="{48020D58-01A6-43CC-8D75-6DC2505E9BD5}" sibTransId="{0778D7B1-9561-4629-B52F-3516B1600F8F}"/>
    <dgm:cxn modelId="{D1CA60F6-3585-4D77-A4B4-3DEADE341666}" type="presOf" srcId="{618742A2-8477-4379-B98A-36C723802C56}" destId="{74E9EE69-AE09-4B8A-8AA6-41BE8A4D31FF}" srcOrd="0" destOrd="1" presId="urn:microsoft.com/office/officeart/2018/5/layout/CenteredIconLabelDescriptionList"/>
    <dgm:cxn modelId="{48199EF8-B7F7-4F90-8246-AB91330A26B3}" srcId="{B6E91956-DE81-4E71-852B-87F74679E85B}" destId="{4DBFCE1C-A2F4-4345-895E-F65627E20C47}" srcOrd="0" destOrd="0" parTransId="{BF0D31E5-1282-4E84-B16E-5BB5482DF635}" sibTransId="{B8A14C71-562A-4401-80AD-48550FCE70A1}"/>
    <dgm:cxn modelId="{D5AC59FD-29B0-408C-AD55-8FD4AE965D8C}" srcId="{6EF495C9-27FB-4D97-9BCF-A2315BDD9126}" destId="{0E38C584-00C2-437F-A978-5FFE514CB0D3}" srcOrd="0" destOrd="0" parTransId="{11BA2249-4298-473C-B4CB-64CDA10AD286}" sibTransId="{CE0A5ED1-DDC8-4D3D-A106-4B24990D6703}"/>
    <dgm:cxn modelId="{D47B8EFF-2B58-4939-9A3B-7905B426C41F}" type="presOf" srcId="{B6E91956-DE81-4E71-852B-87F74679E85B}" destId="{71D69D39-A6D4-4607-B646-4C0794288F8E}" srcOrd="0" destOrd="0" presId="urn:microsoft.com/office/officeart/2018/5/layout/CenteredIconLabelDescriptionList"/>
    <dgm:cxn modelId="{AC8F52A9-9F23-4D61-AB71-B7532297AFD0}" type="presParOf" srcId="{71D69D39-A6D4-4607-B646-4C0794288F8E}" destId="{F831B026-0BF6-47A8-98EE-49BCB1DEC175}" srcOrd="0" destOrd="0" presId="urn:microsoft.com/office/officeart/2018/5/layout/CenteredIconLabelDescriptionList"/>
    <dgm:cxn modelId="{A9877473-5C25-44A2-AF09-8CB6EBD3F734}" type="presParOf" srcId="{F831B026-0BF6-47A8-98EE-49BCB1DEC175}" destId="{C2CEBBF3-18BD-4C59-8436-A7B2DB5675EC}" srcOrd="0" destOrd="0" presId="urn:microsoft.com/office/officeart/2018/5/layout/CenteredIconLabelDescriptionList"/>
    <dgm:cxn modelId="{88857816-68BE-422B-855B-53C625D4C8D2}" type="presParOf" srcId="{F831B026-0BF6-47A8-98EE-49BCB1DEC175}" destId="{430243D0-C811-402A-9BB5-D6E780DFE187}" srcOrd="1" destOrd="0" presId="urn:microsoft.com/office/officeart/2018/5/layout/CenteredIconLabelDescriptionList"/>
    <dgm:cxn modelId="{A579A488-9E74-4778-A163-788FAF043F08}" type="presParOf" srcId="{F831B026-0BF6-47A8-98EE-49BCB1DEC175}" destId="{5A452820-5123-4876-A2D6-135B41E834E0}" srcOrd="2" destOrd="0" presId="urn:microsoft.com/office/officeart/2018/5/layout/CenteredIconLabelDescriptionList"/>
    <dgm:cxn modelId="{823D0129-2D3E-4B75-B69C-A1479CD21DB7}" type="presParOf" srcId="{F831B026-0BF6-47A8-98EE-49BCB1DEC175}" destId="{11415963-8FEA-4507-9B89-5E8FB540C56D}" srcOrd="3" destOrd="0" presId="urn:microsoft.com/office/officeart/2018/5/layout/CenteredIconLabelDescriptionList"/>
    <dgm:cxn modelId="{F421301C-461D-49E0-9981-7EDC27A808C8}" type="presParOf" srcId="{F831B026-0BF6-47A8-98EE-49BCB1DEC175}" destId="{FA413509-DC89-456F-9641-792D0B8D0204}" srcOrd="4" destOrd="0" presId="urn:microsoft.com/office/officeart/2018/5/layout/CenteredIconLabelDescriptionList"/>
    <dgm:cxn modelId="{F79E983C-009A-4BF9-9934-17E5A63BC84E}" type="presParOf" srcId="{71D69D39-A6D4-4607-B646-4C0794288F8E}" destId="{EF38096F-8C6C-4531-8185-BF0D79373555}" srcOrd="1" destOrd="0" presId="urn:microsoft.com/office/officeart/2018/5/layout/CenteredIconLabelDescriptionList"/>
    <dgm:cxn modelId="{12B097CC-9186-4F19-A947-9C4C08C563F6}" type="presParOf" srcId="{71D69D39-A6D4-4607-B646-4C0794288F8E}" destId="{9878B109-2D26-404D-B3E1-0568A02685D3}" srcOrd="2" destOrd="0" presId="urn:microsoft.com/office/officeart/2018/5/layout/CenteredIconLabelDescriptionList"/>
    <dgm:cxn modelId="{5BCB7403-23A3-484E-B3E0-8304170BFAE4}" type="presParOf" srcId="{9878B109-2D26-404D-B3E1-0568A02685D3}" destId="{673322BF-FE1E-4053-AAA8-EE6AF01C68FD}" srcOrd="0" destOrd="0" presId="urn:microsoft.com/office/officeart/2018/5/layout/CenteredIconLabelDescriptionList"/>
    <dgm:cxn modelId="{9E06505D-6228-4712-AFA9-AD1461DEDA43}" type="presParOf" srcId="{9878B109-2D26-404D-B3E1-0568A02685D3}" destId="{2B6DD427-6557-40A6-9B82-1EFEC919ADCE}" srcOrd="1" destOrd="0" presId="urn:microsoft.com/office/officeart/2018/5/layout/CenteredIconLabelDescriptionList"/>
    <dgm:cxn modelId="{7E2DF2EF-DF58-4815-B5BD-50163BF77EBE}" type="presParOf" srcId="{9878B109-2D26-404D-B3E1-0568A02685D3}" destId="{F7A37BCE-68F1-4893-9921-CA2FB59FC94E}" srcOrd="2" destOrd="0" presId="urn:microsoft.com/office/officeart/2018/5/layout/CenteredIconLabelDescriptionList"/>
    <dgm:cxn modelId="{BB4B0157-97A4-4BEF-8BCB-FCEF4BF4BA5D}" type="presParOf" srcId="{9878B109-2D26-404D-B3E1-0568A02685D3}" destId="{20AA0443-8FBF-4026-9552-5A800DEED2CE}" srcOrd="3" destOrd="0" presId="urn:microsoft.com/office/officeart/2018/5/layout/CenteredIconLabelDescriptionList"/>
    <dgm:cxn modelId="{24D1CE1D-CCFC-4FBF-931E-1BA6B13BF9F9}" type="presParOf" srcId="{9878B109-2D26-404D-B3E1-0568A02685D3}" destId="{74E9EE69-AE09-4B8A-8AA6-41BE8A4D31FF}" srcOrd="4" destOrd="0" presId="urn:microsoft.com/office/officeart/2018/5/layout/CenteredIconLabelDescriptionList"/>
    <dgm:cxn modelId="{5A442334-66C4-4024-A1E3-73C1B63CBF3E}" type="presParOf" srcId="{71D69D39-A6D4-4607-B646-4C0794288F8E}" destId="{B8CEB642-3DD2-4DDC-87BA-CE31FD2BBE52}" srcOrd="3" destOrd="0" presId="urn:microsoft.com/office/officeart/2018/5/layout/CenteredIconLabelDescriptionList"/>
    <dgm:cxn modelId="{97B73159-D767-4744-9EB9-42A675D2AEE2}" type="presParOf" srcId="{71D69D39-A6D4-4607-B646-4C0794288F8E}" destId="{5FD4CC7A-7DE8-421F-A04E-39230458A39A}" srcOrd="4" destOrd="0" presId="urn:microsoft.com/office/officeart/2018/5/layout/CenteredIconLabelDescriptionList"/>
    <dgm:cxn modelId="{C4B3657A-AC5A-4373-B79E-3E3F074B90B2}" type="presParOf" srcId="{5FD4CC7A-7DE8-421F-A04E-39230458A39A}" destId="{6BFEC644-E942-49FD-85EE-4951D0C9653C}" srcOrd="0" destOrd="0" presId="urn:microsoft.com/office/officeart/2018/5/layout/CenteredIconLabelDescriptionList"/>
    <dgm:cxn modelId="{87383186-0C67-4517-A979-B56661BDF951}" type="presParOf" srcId="{5FD4CC7A-7DE8-421F-A04E-39230458A39A}" destId="{47F0B561-CADE-41AB-B997-FDCAFB4BC1C8}" srcOrd="1" destOrd="0" presId="urn:microsoft.com/office/officeart/2018/5/layout/CenteredIconLabelDescriptionList"/>
    <dgm:cxn modelId="{068A3F85-0E8F-4318-8380-7D04A12CAD97}" type="presParOf" srcId="{5FD4CC7A-7DE8-421F-A04E-39230458A39A}" destId="{83D39F15-49CE-49B2-9B36-E8C57111F20F}" srcOrd="2" destOrd="0" presId="urn:microsoft.com/office/officeart/2018/5/layout/CenteredIconLabelDescriptionList"/>
    <dgm:cxn modelId="{197C7C9B-E629-4809-AA8C-72C8F6D78A2A}" type="presParOf" srcId="{5FD4CC7A-7DE8-421F-A04E-39230458A39A}" destId="{FCDA70C0-DF44-48A2-9CC2-B83D01FB0188}" srcOrd="3" destOrd="0" presId="urn:microsoft.com/office/officeart/2018/5/layout/CenteredIconLabelDescriptionList"/>
    <dgm:cxn modelId="{0D563B71-DB6A-413C-B0CA-C19162CDDC09}" type="presParOf" srcId="{5FD4CC7A-7DE8-421F-A04E-39230458A39A}" destId="{F143D6CE-630F-40B4-B08C-A85484F7AE2D}" srcOrd="4" destOrd="0" presId="urn:microsoft.com/office/officeart/2018/5/layout/CenteredIconLabelDescriptionList"/>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C2CEBBF3-18BD-4C59-8436-A7B2DB5675EC}">
      <dsp:nvSpPr>
        <dsp:cNvPr id="0" name=""/>
        <dsp:cNvSpPr/>
      </dsp:nvSpPr>
      <dsp:spPr>
        <a:xfrm>
          <a:off x="1122385" y="53299"/>
          <a:ext cx="1140268" cy="1102474"/>
        </a:xfrm>
        <a:prstGeom prst="rect">
          <a:avLst/>
        </a:prstGeom>
        <a:blipFill>
          <a:blip xmlns:r="http://schemas.openxmlformats.org/officeDocument/2006/relationships" r:embed="rId1">
            <a:extLst>
              <a:ext uri="{96DAC541-7B7A-43D3-8B79-37D633B846F1}">
                <asvg:svgBlip xmlns:asvg="http://schemas.microsoft.com/office/drawing/2016/SVG/main" r:embed="rId2"/>
              </a:ext>
            </a:extLst>
          </a:blip>
          <a:srcRect/>
          <a:stretch>
            <a:fillRect t="-2000" b="-2000"/>
          </a:stretch>
        </a:blip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5A452820-5123-4876-A2D6-135B41E834E0}">
      <dsp:nvSpPr>
        <dsp:cNvPr id="0" name=""/>
        <dsp:cNvSpPr/>
      </dsp:nvSpPr>
      <dsp:spPr>
        <a:xfrm>
          <a:off x="6916" y="1346273"/>
          <a:ext cx="3257909" cy="472489"/>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844550">
            <a:lnSpc>
              <a:spcPct val="100000"/>
            </a:lnSpc>
            <a:spcBef>
              <a:spcPct val="0"/>
            </a:spcBef>
            <a:spcAft>
              <a:spcPct val="35000"/>
            </a:spcAft>
            <a:buNone/>
            <a:defRPr b="1"/>
          </a:pPr>
          <a:r>
            <a:rPr lang="en-US" sz="1900" kern="1200" dirty="0"/>
            <a:t>Cost for Attrition</a:t>
          </a:r>
        </a:p>
      </dsp:txBody>
      <dsp:txXfrm>
        <a:off x="6916" y="1346273"/>
        <a:ext cx="3257909" cy="472489"/>
      </dsp:txXfrm>
    </dsp:sp>
    <dsp:sp modelId="{FA413509-DC89-456F-9641-792D0B8D0204}">
      <dsp:nvSpPr>
        <dsp:cNvPr id="0" name=""/>
        <dsp:cNvSpPr/>
      </dsp:nvSpPr>
      <dsp:spPr>
        <a:xfrm>
          <a:off x="6916" y="1899839"/>
          <a:ext cx="3257909" cy="2223481"/>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622300">
            <a:lnSpc>
              <a:spcPct val="100000"/>
            </a:lnSpc>
            <a:spcBef>
              <a:spcPct val="0"/>
            </a:spcBef>
            <a:spcAft>
              <a:spcPct val="35000"/>
            </a:spcAft>
            <a:buNone/>
          </a:pPr>
          <a:r>
            <a:rPr lang="en-US" sz="1400" kern="1200" dirty="0"/>
            <a:t>It costs up to 50% - 400% of that employee's salary to have them replaced</a:t>
          </a:r>
        </a:p>
        <a:p>
          <a:pPr marL="0" lvl="0" indent="0" algn="ctr" defTabSz="622300">
            <a:lnSpc>
              <a:spcPct val="100000"/>
            </a:lnSpc>
            <a:spcBef>
              <a:spcPct val="0"/>
            </a:spcBef>
            <a:spcAft>
              <a:spcPct val="35000"/>
            </a:spcAft>
            <a:buNone/>
          </a:pPr>
          <a:r>
            <a:rPr lang="en-US" sz="1400" kern="1200" dirty="0"/>
            <a:t>Our analysis will use 200%</a:t>
          </a:r>
        </a:p>
      </dsp:txBody>
      <dsp:txXfrm>
        <a:off x="6916" y="1899839"/>
        <a:ext cx="3257909" cy="2223481"/>
      </dsp:txXfrm>
    </dsp:sp>
    <dsp:sp modelId="{673322BF-FE1E-4053-AAA8-EE6AF01C68FD}">
      <dsp:nvSpPr>
        <dsp:cNvPr id="0" name=""/>
        <dsp:cNvSpPr/>
      </dsp:nvSpPr>
      <dsp:spPr>
        <a:xfrm>
          <a:off x="4893780" y="69483"/>
          <a:ext cx="1140268" cy="1102474"/>
        </a:xfrm>
        <a:prstGeom prst="rect">
          <a:avLst/>
        </a:prstGeom>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F7A37BCE-68F1-4893-9921-CA2FB59FC94E}">
      <dsp:nvSpPr>
        <dsp:cNvPr id="0" name=""/>
        <dsp:cNvSpPr/>
      </dsp:nvSpPr>
      <dsp:spPr>
        <a:xfrm>
          <a:off x="3834959" y="1346273"/>
          <a:ext cx="3257909" cy="472489"/>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844550">
            <a:lnSpc>
              <a:spcPct val="100000"/>
            </a:lnSpc>
            <a:spcBef>
              <a:spcPct val="0"/>
            </a:spcBef>
            <a:spcAft>
              <a:spcPct val="35000"/>
            </a:spcAft>
            <a:buNone/>
            <a:defRPr b="1"/>
          </a:pPr>
          <a:r>
            <a:rPr lang="en-US" sz="1900" kern="1200" dirty="0"/>
            <a:t>Average Employee Salary</a:t>
          </a:r>
        </a:p>
      </dsp:txBody>
      <dsp:txXfrm>
        <a:off x="3834959" y="1346273"/>
        <a:ext cx="3257909" cy="472489"/>
      </dsp:txXfrm>
    </dsp:sp>
    <dsp:sp modelId="{74E9EE69-AE09-4B8A-8AA6-41BE8A4D31FF}">
      <dsp:nvSpPr>
        <dsp:cNvPr id="0" name=""/>
        <dsp:cNvSpPr/>
      </dsp:nvSpPr>
      <dsp:spPr>
        <a:xfrm>
          <a:off x="3834959" y="1899839"/>
          <a:ext cx="3257909" cy="2223481"/>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l" defTabSz="711200">
            <a:lnSpc>
              <a:spcPct val="100000"/>
            </a:lnSpc>
            <a:spcBef>
              <a:spcPct val="0"/>
            </a:spcBef>
            <a:spcAft>
              <a:spcPct val="35000"/>
            </a:spcAft>
            <a:buNone/>
          </a:pPr>
          <a:r>
            <a:rPr lang="en-US" sz="1600" kern="1200" dirty="0"/>
            <a:t>Average salary of level 1 </a:t>
          </a:r>
        </a:p>
        <a:p>
          <a:pPr marL="114300" lvl="1" indent="-114300" algn="l" defTabSz="666750">
            <a:lnSpc>
              <a:spcPct val="90000"/>
            </a:lnSpc>
            <a:spcBef>
              <a:spcPct val="0"/>
            </a:spcBef>
            <a:spcAft>
              <a:spcPct val="15000"/>
            </a:spcAft>
            <a:buChar char="•"/>
          </a:pPr>
          <a:r>
            <a:rPr lang="en-US" sz="1500" b="1" kern="1200" dirty="0"/>
            <a:t>Level 1 </a:t>
          </a:r>
          <a:r>
            <a:rPr lang="en-US" sz="1500" kern="1200" dirty="0"/>
            <a:t>Monthly income ~ </a:t>
          </a:r>
          <a:r>
            <a:rPr lang="en-US" sz="1500" b="1" kern="1200" dirty="0"/>
            <a:t>$2744</a:t>
          </a:r>
        </a:p>
        <a:p>
          <a:pPr marL="114300" lvl="1" indent="-114300" algn="l" defTabSz="666750">
            <a:lnSpc>
              <a:spcPct val="90000"/>
            </a:lnSpc>
            <a:spcBef>
              <a:spcPct val="0"/>
            </a:spcBef>
            <a:spcAft>
              <a:spcPct val="15000"/>
            </a:spcAft>
            <a:buChar char="•"/>
          </a:pPr>
          <a:r>
            <a:rPr lang="en-US" sz="1500" b="1" kern="1200" dirty="0"/>
            <a:t>Level 1 </a:t>
          </a:r>
          <a:r>
            <a:rPr lang="en-US" sz="1500" kern="1200" dirty="0"/>
            <a:t>Yearly income ~ </a:t>
          </a:r>
          <a:r>
            <a:rPr lang="en-US" sz="1500" b="1" kern="1200" dirty="0"/>
            <a:t>$32,928</a:t>
          </a:r>
        </a:p>
        <a:p>
          <a:pPr marL="0" lvl="0" indent="0" algn="l" defTabSz="711200">
            <a:lnSpc>
              <a:spcPct val="100000"/>
            </a:lnSpc>
            <a:spcBef>
              <a:spcPct val="0"/>
            </a:spcBef>
            <a:spcAft>
              <a:spcPct val="35000"/>
            </a:spcAft>
            <a:buNone/>
          </a:pPr>
          <a:r>
            <a:rPr lang="en-US" sz="1600" kern="1200" dirty="0"/>
            <a:t>Average salary of level 2</a:t>
          </a:r>
        </a:p>
        <a:p>
          <a:pPr marL="114300" lvl="1" indent="-114300" algn="l" defTabSz="666750">
            <a:lnSpc>
              <a:spcPct val="90000"/>
            </a:lnSpc>
            <a:spcBef>
              <a:spcPct val="0"/>
            </a:spcBef>
            <a:spcAft>
              <a:spcPct val="15000"/>
            </a:spcAft>
            <a:buChar char="•"/>
          </a:pPr>
          <a:r>
            <a:rPr lang="en-US" sz="1500" b="1" kern="1200" dirty="0"/>
            <a:t>Level 2 </a:t>
          </a:r>
          <a:r>
            <a:rPr lang="en-US" sz="1500" kern="1200" dirty="0"/>
            <a:t>Monthly income ~ </a:t>
          </a:r>
          <a:r>
            <a:rPr lang="en-US" sz="1500" b="1" kern="1200" dirty="0"/>
            <a:t>$5544</a:t>
          </a:r>
        </a:p>
        <a:p>
          <a:pPr marL="114300" lvl="1" indent="-114300" algn="l" defTabSz="666750">
            <a:lnSpc>
              <a:spcPct val="90000"/>
            </a:lnSpc>
            <a:spcBef>
              <a:spcPct val="0"/>
            </a:spcBef>
            <a:spcAft>
              <a:spcPct val="15000"/>
            </a:spcAft>
            <a:buChar char="•"/>
          </a:pPr>
          <a:r>
            <a:rPr lang="en-US" sz="1500" b="1" kern="1200" dirty="0"/>
            <a:t>Level 2 </a:t>
          </a:r>
          <a:r>
            <a:rPr lang="en-US" sz="1500" kern="1200" dirty="0"/>
            <a:t>Yearly income ~ </a:t>
          </a:r>
          <a:r>
            <a:rPr lang="en-US" sz="1500" b="1" kern="1200" dirty="0"/>
            <a:t>$66,528</a:t>
          </a:r>
        </a:p>
        <a:p>
          <a:pPr marL="0" lvl="0" indent="0" algn="l" defTabSz="666750">
            <a:lnSpc>
              <a:spcPct val="100000"/>
            </a:lnSpc>
            <a:spcBef>
              <a:spcPct val="0"/>
            </a:spcBef>
            <a:spcAft>
              <a:spcPct val="35000"/>
            </a:spcAft>
            <a:buNone/>
          </a:pPr>
          <a:r>
            <a:rPr lang="en-US" sz="1500" b="0" kern="1200" dirty="0"/>
            <a:t>Total Average of both level 1 and 2 ~ </a:t>
          </a:r>
          <a:r>
            <a:rPr lang="en-US" sz="1500" b="1" kern="1200" dirty="0"/>
            <a:t>$49,728 </a:t>
          </a:r>
        </a:p>
        <a:p>
          <a:pPr marL="0" lvl="0" indent="0" algn="l" defTabSz="666750">
            <a:lnSpc>
              <a:spcPct val="100000"/>
            </a:lnSpc>
            <a:spcBef>
              <a:spcPct val="0"/>
            </a:spcBef>
            <a:spcAft>
              <a:spcPct val="35000"/>
            </a:spcAft>
            <a:buFont typeface="Arial" panose="020B0604020202020204" pitchFamily="34" charset="0"/>
            <a:buNone/>
          </a:pPr>
          <a:endParaRPr lang="en-US" sz="1500" b="0" kern="1200" dirty="0"/>
        </a:p>
      </dsp:txBody>
      <dsp:txXfrm>
        <a:off x="3834959" y="1899839"/>
        <a:ext cx="3257909" cy="2223481"/>
      </dsp:txXfrm>
    </dsp:sp>
    <dsp:sp modelId="{6BFEC644-E942-49FD-85EE-4951D0C9653C}">
      <dsp:nvSpPr>
        <dsp:cNvPr id="0" name=""/>
        <dsp:cNvSpPr/>
      </dsp:nvSpPr>
      <dsp:spPr>
        <a:xfrm>
          <a:off x="8721823" y="69483"/>
          <a:ext cx="1140268" cy="1102474"/>
        </a:xfrm>
        <a:prstGeom prst="rect">
          <a:avLst/>
        </a:prstGeom>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83D39F15-49CE-49B2-9B36-E8C57111F20F}">
      <dsp:nvSpPr>
        <dsp:cNvPr id="0" name=""/>
        <dsp:cNvSpPr/>
      </dsp:nvSpPr>
      <dsp:spPr>
        <a:xfrm>
          <a:off x="7663003" y="1346273"/>
          <a:ext cx="3257909" cy="472489"/>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844550">
            <a:lnSpc>
              <a:spcPct val="100000"/>
            </a:lnSpc>
            <a:spcBef>
              <a:spcPct val="0"/>
            </a:spcBef>
            <a:spcAft>
              <a:spcPct val="35000"/>
            </a:spcAft>
            <a:buNone/>
            <a:defRPr b="1"/>
          </a:pPr>
          <a:r>
            <a:rPr lang="en-US" sz="1900" kern="1200" dirty="0"/>
            <a:t>Retention Incentive Program</a:t>
          </a:r>
        </a:p>
      </dsp:txBody>
      <dsp:txXfrm>
        <a:off x="7663003" y="1346273"/>
        <a:ext cx="3257909" cy="472489"/>
      </dsp:txXfrm>
    </dsp:sp>
    <dsp:sp modelId="{F143D6CE-630F-40B4-B08C-A85484F7AE2D}">
      <dsp:nvSpPr>
        <dsp:cNvPr id="0" name=""/>
        <dsp:cNvSpPr/>
      </dsp:nvSpPr>
      <dsp:spPr>
        <a:xfrm>
          <a:off x="7663003" y="1899839"/>
          <a:ext cx="3257909" cy="2223481"/>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666750">
            <a:lnSpc>
              <a:spcPct val="100000"/>
            </a:lnSpc>
            <a:spcBef>
              <a:spcPct val="0"/>
            </a:spcBef>
            <a:spcAft>
              <a:spcPct val="35000"/>
            </a:spcAft>
            <a:buNone/>
          </a:pPr>
          <a:r>
            <a:rPr lang="en-US" sz="1500" kern="1200" dirty="0"/>
            <a:t>Per employee intervention cost</a:t>
          </a:r>
        </a:p>
        <a:p>
          <a:pPr marL="0" lvl="0" indent="0" algn="ctr" defTabSz="666750">
            <a:lnSpc>
              <a:spcPct val="100000"/>
            </a:lnSpc>
            <a:spcBef>
              <a:spcPct val="0"/>
            </a:spcBef>
            <a:spcAft>
              <a:spcPct val="35000"/>
            </a:spcAft>
            <a:buNone/>
          </a:pPr>
          <a:r>
            <a:rPr lang="en-US" sz="2400" b="1" kern="1200" dirty="0"/>
            <a:t>$200 </a:t>
          </a:r>
        </a:p>
      </dsp:txBody>
      <dsp:txXfrm>
        <a:off x="7663003" y="1899839"/>
        <a:ext cx="3257909" cy="2223481"/>
      </dsp:txXfrm>
    </dsp:sp>
  </dsp:spTree>
</dsp:drawing>
</file>

<file path=ppt/diagrams/layout1.xml><?xml version="1.0" encoding="utf-8"?>
<dgm:layoutDef xmlns:dgm="http://schemas.openxmlformats.org/drawingml/2006/diagram" xmlns:a="http://schemas.openxmlformats.org/drawingml/2006/main" uniqueId="urn:microsoft.com/office/officeart/2018/5/layout/CenteredIconLabelDescriptionList">
  <dgm:title val="Centered Icon Label Description List"/>
  <dgm:desc val="Use to show non-sequential or grouped chunks of information. The placeholder holds an icon or small picture, and corresponding text boxes show Level 1 and Level 2 text respectively. Works well for minimal Level 1 text accompanied by lengthier Level two text."/>
  <dgm:catLst>
    <dgm:cat type="icon" pri="500"/>
  </dgm:catLst>
  <dgm:sampData useDef="1">
    <dgm:dataModel>
      <dgm:ptLst/>
      <dgm:bg/>
      <dgm:whole/>
    </dgm:dataModel>
  </dgm:sampData>
  <dgm:styleData useDef="1">
    <dgm:dataModel>
      <dgm:ptLst/>
      <dgm:bg/>
      <dgm:whole/>
    </dgm:dataModel>
  </dgm:styleData>
  <dgm:clrData useDef="1">
    <dgm:dataModel>
      <dgm:ptLst/>
      <dgm:bg/>
      <dgm:whole/>
    </dgm:dataModel>
  </dgm:clrData>
  <dgm:layoutNode name="root">
    <dgm:varLst>
      <dgm:dir/>
      <dgm:resizeHandles val="exact"/>
    </dgm:varLst>
    <dgm:choose name="Name0">
      <dgm:if name="Name1" axis="self" func="var" arg="dir" op="equ" val="norm">
        <dgm:alg type="lin"/>
      </dgm:if>
      <dgm:else name="Name2">
        <dgm:alg type="lin">
          <dgm:param type="linDir" val="fromR"/>
        </dgm:alg>
      </dgm:else>
    </dgm:choose>
    <dgm:shape xmlns:r="http://schemas.openxmlformats.org/officeDocument/2006/relationships" r:blip="">
      <dgm:adjLst/>
    </dgm:shape>
    <dgm:presOf/>
    <dgm:constrLst>
      <dgm:constr type="h" for="ch" forName="compNode" refType="h" fact="0.45"/>
      <dgm:constr type="w" for="ch" forName="compNode" val="120"/>
      <dgm:constr type="w" for="ch" forName="sibTrans" refType="w" refFor="ch" refForName="compNode" fact="0.175"/>
      <dgm:constr type="primFontSz" for="des" forName="parTx" val="36"/>
      <dgm:constr type="primFontSz" for="des" forName="desTx" refType="primFontSz" refFor="des" refForName="parTx" op="lte" fact="0.75"/>
      <dgm:constr type="h" for="des" forName="compNode" op="equ"/>
      <dgm:constr type="h" for="des" forName="iconRect" op="equ"/>
      <dgm:constr type="w" for="des" forName="iconRect" op="equ"/>
      <dgm:constr type="h" for="des" forName="iconSpace" op="equ"/>
      <dgm:constr type="h" for="des" forName="parTx" op="equ"/>
      <dgm:constr type="h" for="des" forName="txSpace" op="equ"/>
      <dgm:constr type="h" for="des" forName="desTx" op="equ"/>
    </dgm:constrLst>
    <dgm:ruleLst>
      <dgm:rule type="w" for="ch" forName="compNode" val="0" fact="NaN" max="NaN"/>
    </dgm:ruleLst>
    <dgm:forEach name="Name3" axis="ch" ptType="node">
      <dgm:layoutNode name="compNode">
        <dgm:alg type="composite"/>
        <dgm:shape xmlns:r="http://schemas.openxmlformats.org/officeDocument/2006/relationships" r:blip="">
          <dgm:adjLst/>
        </dgm:shape>
        <dgm:presOf axis="self"/>
        <dgm:constrLst>
          <dgm:constr type="w" for="ch" forName="iconRect" refType="w" fact="0.35"/>
          <dgm:constr type="h" for="ch" forName="iconRect" refType="w" refFor="ch" refForName="iconRect"/>
          <dgm:constr type="ctrX" for="ch" forName="iconRect" refType="w" fact="0.5"/>
          <dgm:constr type="t" for="ch" forName="iconRect"/>
          <dgm:constr type="w" for="ch" forName="iconSpace" refType="w"/>
          <dgm:constr type="h" for="ch" forName="iconSpace" refType="h" fact="0.043"/>
          <dgm:constr type="l" for="ch" forName="iconSpace"/>
          <dgm:constr type="t" for="ch" forName="iconSpace" refType="b" refFor="ch" refForName="iconRect"/>
          <dgm:constr type="w" for="ch" forName="parTx" refType="w"/>
          <dgm:constr type="h" for="ch" forName="parTx" refType="w" fact="0.15"/>
          <dgm:constr type="l" for="ch" forName="parTx"/>
          <dgm:constr type="t" for="ch" forName="parTx" refType="b" refFor="ch" refForName="iconSpace"/>
          <dgm:constr type="h" for="ch" forName="txSpace" refType="h" fact="0.02"/>
          <dgm:constr type="w" for="ch" forName="txSpace" refType="w"/>
          <dgm:constr type="l" for="ch" forName="txSpace"/>
          <dgm:constr type="t" for="ch" forName="txSpace" refType="b" refFor="ch" refForName="parTx"/>
          <dgm:constr type="w" for="ch" forName="desTx" refType="w"/>
          <dgm:constr type="l" for="ch" forName="desTx"/>
          <dgm:constr type="t" for="ch" forName="desTx" refType="b" refFor="ch" refForName="txSpace"/>
        </dgm:constrLst>
        <dgm:ruleLst>
          <dgm:rule type="h" val="INF" fact="NaN" max="NaN"/>
        </dgm:ruleLst>
        <dgm:layoutNode name="iconRect" styleLbl="node1">
          <dgm:alg type="sp"/>
          <dgm:shape xmlns:r="http://schemas.openxmlformats.org/officeDocument/2006/relationships" type="rect" r:blip="" blipPhldr="1">
            <dgm:adjLst/>
          </dgm:shape>
          <dgm:presOf/>
          <dgm:constrLst/>
          <dgm:ruleLst/>
        </dgm:layoutNode>
        <dgm:layoutNode name="iconSpace">
          <dgm:alg type="sp"/>
          <dgm:shape xmlns:r="http://schemas.openxmlformats.org/officeDocument/2006/relationships" r:blip="">
            <dgm:adjLst/>
          </dgm:shape>
          <dgm:presOf/>
          <dgm:constrLst/>
          <dgm:ruleLst/>
        </dgm:layoutNode>
        <dgm:layoutNode name="parTx" styleLbl="revTx">
          <dgm:varLst>
            <dgm:chMax val="0"/>
            <dgm:chPref val="0"/>
          </dgm:varLst>
          <dgm:alg type="tx">
            <dgm:param type="txAnchorVert" val="t"/>
          </dgm:alg>
          <dgm:shape xmlns:r="http://schemas.openxmlformats.org/officeDocument/2006/relationships" type="rect" r:blip="">
            <dgm:adjLst/>
          </dgm:shape>
          <dgm:presOf axis="self" ptType="node"/>
          <dgm:constrLst>
            <dgm:constr type="lMarg"/>
            <dgm:constr type="rMarg"/>
            <dgm:constr type="tMarg"/>
            <dgm:constr type="bMarg"/>
          </dgm:constrLst>
          <dgm:ruleLst>
            <dgm:rule type="primFontSz" val="14" fact="NaN" max="NaN"/>
            <dgm:rule type="h" val="INF" fact="NaN" max="NaN"/>
          </dgm:ruleLst>
        </dgm:layoutNode>
        <dgm:layoutNode name="txSpace">
          <dgm:alg type="sp"/>
          <dgm:shape xmlns:r="http://schemas.openxmlformats.org/officeDocument/2006/relationships" r:blip="">
            <dgm:adjLst/>
          </dgm:shape>
          <dgm:presOf/>
          <dgm:constrLst/>
          <dgm:ruleLst/>
        </dgm:layoutNode>
        <dgm:layoutNode name="desTx" styleLbl="revTx">
          <dgm:varLst/>
          <dgm:alg type="tx">
            <dgm:param type="stBulletLvl" val="0"/>
            <dgm:param type="txAnchorVert" val="t"/>
          </dgm:alg>
          <dgm:shape xmlns:r="http://schemas.openxmlformats.org/officeDocument/2006/relationships" type="rect" r:blip="">
            <dgm:adjLst/>
          </dgm:shape>
          <dgm:presOf axis="des" ptType="node"/>
          <dgm:constrLst>
            <dgm:constr type="secFontSz" refType="primFontSz"/>
            <dgm:constr type="lMarg"/>
            <dgm:constr type="rMarg"/>
            <dgm:constr type="tMarg"/>
            <dgm:constr type="bMarg"/>
          </dgm:constrLst>
          <dgm:ruleLst>
            <dgm:rule type="primFontSz" val="NaN" fact="NaN" max="17"/>
            <dgm:rule type="h" val="INF" fact="NaN" max="NaN"/>
          </dgm:ruleLst>
        </dgm:layoutNode>
      </dgm:layoutNode>
      <dgm:forEach name="Name4" axis="followSib" ptType="sibTrans" cnt="1">
        <dgm:layoutNode name="sibTrans">
          <dgm:alg type="sp"/>
          <dgm:shape xmlns:r="http://schemas.openxmlformats.org/officeDocument/2006/relationships" r:blip="">
            <dgm:adjLst/>
          </dgm:shape>
          <dgm:presOf axis="self"/>
          <dgm:constrLst/>
          <dgm:ruleLst/>
        </dgm:layoutNode>
      </dgm:forEach>
    </dgm:forEach>
  </dgm:layoutNode>
  <dgm:extLst>
    <a:ext uri="{68A01E43-0DF5-4B5B-8FA6-DAF915123BFB}">
      <dgm1612:lstStyle xmlns:dgm1612="http://schemas.microsoft.com/office/drawing/2016/12/diagram">
        <a:lvl1pPr>
          <a:lnSpc>
            <a:spcPct val="100000"/>
          </a:lnSpc>
          <a:defRPr b="1"/>
        </a:lvl1pPr>
        <a:lvl2pPr>
          <a:lnSpc>
            <a:spcPct val="100000"/>
          </a:lnSpc>
        </a:lvl2pPr>
      </dgm1612:lstStyle>
    </a:ext>
  </dgm:extLst>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C4DA1A6B-942D-4331-AA78-F4F384189B9A}" type="datetimeFigureOut">
              <a:rPr lang="en-US" smtClean="0"/>
              <a:t>3/8/2026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3442FB0-EB98-4817-B271-BEAAC9C232F4}" type="slidenum">
              <a:rPr lang="en-US" smtClean="0"/>
              <a:t>‹#›</a:t>
            </a:fld>
            <a:endParaRPr lang="en-US"/>
          </a:p>
        </p:txBody>
      </p:sp>
    </p:spTree>
    <p:extLst>
      <p:ext uri="{BB962C8B-B14F-4D97-AF65-F5344CB8AC3E}">
        <p14:creationId xmlns:p14="http://schemas.microsoft.com/office/powerpoint/2010/main" val="3298411174"/>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Hello </a:t>
            </a:r>
            <a:r>
              <a:rPr lang="en-US" dirty="0" err="1"/>
              <a:t>everyon</a:t>
            </a:r>
            <a:r>
              <a:rPr lang="en-US" dirty="0"/>
              <a:t>. I'm Andy Bui from </a:t>
            </a:r>
            <a:r>
              <a:rPr lang="en-US" dirty="0" err="1"/>
              <a:t>DDSAnalytics</a:t>
            </a:r>
            <a:r>
              <a:rPr lang="en-US" dirty="0"/>
              <a:t>. Today I'll be presenting our findings on employee attrition at Frito Lay, including what's driving it, how we can predict it, and what it's costing the company</a:t>
            </a:r>
          </a:p>
        </p:txBody>
      </p:sp>
      <p:sp>
        <p:nvSpPr>
          <p:cNvPr id="4" name="Slide Number Placeholder 3"/>
          <p:cNvSpPr>
            <a:spLocks noGrp="1"/>
          </p:cNvSpPr>
          <p:nvPr>
            <p:ph type="sldNum" sz="quarter" idx="5"/>
          </p:nvPr>
        </p:nvSpPr>
        <p:spPr/>
        <p:txBody>
          <a:bodyPr/>
          <a:lstStyle/>
          <a:p>
            <a:fld id="{C3442FB0-EB98-4817-B271-BEAAC9C232F4}" type="slidenum">
              <a:rPr lang="en-US" smtClean="0"/>
              <a:t>1</a:t>
            </a:fld>
            <a:endParaRPr lang="en-US"/>
          </a:p>
        </p:txBody>
      </p:sp>
    </p:spTree>
    <p:extLst>
      <p:ext uri="{BB962C8B-B14F-4D97-AF65-F5344CB8AC3E}">
        <p14:creationId xmlns:p14="http://schemas.microsoft.com/office/powerpoint/2010/main" val="2287791094"/>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analyzed 870 </a:t>
            </a:r>
            <a:r>
              <a:rPr lang="en-US" dirty="0" err="1"/>
              <a:t>frito</a:t>
            </a:r>
            <a:r>
              <a:rPr lang="en-US" dirty="0"/>
              <a:t> lays employee. 730 are still with the company but 140 have quit. That's a 16% attrition rate. On the surface that might not sound alarming, but when you factor in replacement costs, that number becomes very significant </a:t>
            </a:r>
          </a:p>
        </p:txBody>
      </p:sp>
      <p:sp>
        <p:nvSpPr>
          <p:cNvPr id="4" name="Slide Number Placeholder 3"/>
          <p:cNvSpPr>
            <a:spLocks noGrp="1"/>
          </p:cNvSpPr>
          <p:nvPr>
            <p:ph type="sldNum" sz="quarter" idx="5"/>
          </p:nvPr>
        </p:nvSpPr>
        <p:spPr/>
        <p:txBody>
          <a:bodyPr/>
          <a:lstStyle/>
          <a:p>
            <a:fld id="{C3442FB0-EB98-4817-B271-BEAAC9C232F4}" type="slidenum">
              <a:rPr lang="en-US" smtClean="0"/>
              <a:t>2</a:t>
            </a:fld>
            <a:endParaRPr lang="en-US"/>
          </a:p>
        </p:txBody>
      </p:sp>
    </p:spTree>
    <p:extLst>
      <p:ext uri="{BB962C8B-B14F-4D97-AF65-F5344CB8AC3E}">
        <p14:creationId xmlns:p14="http://schemas.microsoft.com/office/powerpoint/2010/main" val="550109236"/>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What's actually driving people to leave? We analyzed over 30 variables across your workforce to identify which ones matter most.</a:t>
            </a:r>
          </a:p>
        </p:txBody>
      </p:sp>
      <p:sp>
        <p:nvSpPr>
          <p:cNvPr id="4" name="Slide Number Placeholder 3"/>
          <p:cNvSpPr>
            <a:spLocks noGrp="1"/>
          </p:cNvSpPr>
          <p:nvPr>
            <p:ph type="sldNum" sz="quarter" idx="5"/>
          </p:nvPr>
        </p:nvSpPr>
        <p:spPr/>
        <p:txBody>
          <a:bodyPr/>
          <a:lstStyle/>
          <a:p>
            <a:fld id="{C3442FB0-EB98-4817-B271-BEAAC9C232F4}" type="slidenum">
              <a:rPr lang="en-US" smtClean="0"/>
              <a:t>3</a:t>
            </a:fld>
            <a:endParaRPr lang="en-US"/>
          </a:p>
        </p:txBody>
      </p:sp>
    </p:spTree>
    <p:extLst>
      <p:ext uri="{BB962C8B-B14F-4D97-AF65-F5344CB8AC3E}">
        <p14:creationId xmlns:p14="http://schemas.microsoft.com/office/powerpoint/2010/main" val="2624148617"/>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first thing we checked was gender. Female attrition is 15%, male is 16.9% essentially identical. Gender is not a meaningful driver of attrition at your company, so we can set that aside and focus on factors that actually matter.</a:t>
            </a:r>
          </a:p>
        </p:txBody>
      </p:sp>
      <p:sp>
        <p:nvSpPr>
          <p:cNvPr id="4" name="Slide Number Placeholder 3"/>
          <p:cNvSpPr>
            <a:spLocks noGrp="1"/>
          </p:cNvSpPr>
          <p:nvPr>
            <p:ph type="sldNum" sz="quarter" idx="5"/>
          </p:nvPr>
        </p:nvSpPr>
        <p:spPr/>
        <p:txBody>
          <a:bodyPr/>
          <a:lstStyle/>
          <a:p>
            <a:fld id="{C3442FB0-EB98-4817-B271-BEAAC9C232F4}" type="slidenum">
              <a:rPr lang="en-US" smtClean="0"/>
              <a:t>4</a:t>
            </a:fld>
            <a:endParaRPr lang="en-US"/>
          </a:p>
        </p:txBody>
      </p:sp>
    </p:spTree>
    <p:extLst>
      <p:ext uri="{BB962C8B-B14F-4D97-AF65-F5344CB8AC3E}">
        <p14:creationId xmlns:p14="http://schemas.microsoft.com/office/powerpoint/2010/main" val="2650325183"/>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Age is a clear signal. Employees who quit averaged an age of 33, while those who stayed averaged 37. Your younger workforce is significantly more likely to leave. This is important because younger employees are often in entry-level roles, which connects with other factors</a:t>
            </a:r>
          </a:p>
        </p:txBody>
      </p:sp>
      <p:sp>
        <p:nvSpPr>
          <p:cNvPr id="4" name="Slide Number Placeholder 3"/>
          <p:cNvSpPr>
            <a:spLocks noGrp="1"/>
          </p:cNvSpPr>
          <p:nvPr>
            <p:ph type="sldNum" sz="quarter" idx="5"/>
          </p:nvPr>
        </p:nvSpPr>
        <p:spPr/>
        <p:txBody>
          <a:bodyPr/>
          <a:lstStyle/>
          <a:p>
            <a:fld id="{C3442FB0-EB98-4817-B271-BEAAC9C232F4}" type="slidenum">
              <a:rPr lang="en-US" smtClean="0"/>
              <a:t>5</a:t>
            </a:fld>
            <a:endParaRPr lang="en-US"/>
          </a:p>
        </p:txBody>
      </p:sp>
    </p:spTree>
    <p:extLst>
      <p:ext uri="{BB962C8B-B14F-4D97-AF65-F5344CB8AC3E}">
        <p14:creationId xmlns:p14="http://schemas.microsoft.com/office/powerpoint/2010/main" val="1386988627"/>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Marital status shows a distinct pattern. Single employees have the highest attrition rate, while divorced employees actually show the lowest. Our theory is that single employees have fewer financial and lifestyle obligations keeping them tied to a stable job, making them more willing to take risks and switch employers.</a:t>
            </a:r>
          </a:p>
        </p:txBody>
      </p:sp>
      <p:sp>
        <p:nvSpPr>
          <p:cNvPr id="4" name="Slide Number Placeholder 3"/>
          <p:cNvSpPr>
            <a:spLocks noGrp="1"/>
          </p:cNvSpPr>
          <p:nvPr>
            <p:ph type="sldNum" sz="quarter" idx="5"/>
          </p:nvPr>
        </p:nvSpPr>
        <p:spPr/>
        <p:txBody>
          <a:bodyPr/>
          <a:lstStyle/>
          <a:p>
            <a:fld id="{C3442FB0-EB98-4817-B271-BEAAC9C232F4}" type="slidenum">
              <a:rPr lang="en-US" smtClean="0"/>
              <a:t>6</a:t>
            </a:fld>
            <a:endParaRPr lang="en-US"/>
          </a:p>
        </p:txBody>
      </p:sp>
    </p:spTree>
    <p:extLst>
      <p:ext uri="{BB962C8B-B14F-4D97-AF65-F5344CB8AC3E}">
        <p14:creationId xmlns:p14="http://schemas.microsoft.com/office/powerpoint/2010/main" val="2850973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Job Level, this is one of our strongest findings.  Job Level 1, entry level employees, account for 61.4% of attrition. A great portion of your attrition sets at the bottom of your organization. As employees move up attrition drops sharply.</a:t>
            </a:r>
          </a:p>
        </p:txBody>
      </p:sp>
      <p:sp>
        <p:nvSpPr>
          <p:cNvPr id="4" name="Slide Number Placeholder 3"/>
          <p:cNvSpPr>
            <a:spLocks noGrp="1"/>
          </p:cNvSpPr>
          <p:nvPr>
            <p:ph type="sldNum" sz="quarter" idx="5"/>
          </p:nvPr>
        </p:nvSpPr>
        <p:spPr/>
        <p:txBody>
          <a:bodyPr/>
          <a:lstStyle/>
          <a:p>
            <a:fld id="{C3442FB0-EB98-4817-B271-BEAAC9C232F4}" type="slidenum">
              <a:rPr lang="en-US" smtClean="0"/>
              <a:t>7</a:t>
            </a:fld>
            <a:endParaRPr lang="en-US"/>
          </a:p>
        </p:txBody>
      </p:sp>
    </p:spTree>
    <p:extLst>
      <p:ext uri="{BB962C8B-B14F-4D97-AF65-F5344CB8AC3E}">
        <p14:creationId xmlns:p14="http://schemas.microsoft.com/office/powerpoint/2010/main" val="377283077"/>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Employees who quit had an average of 7 years total work experience, vs 10 years for those who stayed. This is likely a tied with age. Your younger employees are the highest flight risk. You seasoned employees tend to be more settled in their careers</a:t>
            </a:r>
          </a:p>
        </p:txBody>
      </p:sp>
      <p:sp>
        <p:nvSpPr>
          <p:cNvPr id="4" name="Slide Number Placeholder 3"/>
          <p:cNvSpPr>
            <a:spLocks noGrp="1"/>
          </p:cNvSpPr>
          <p:nvPr>
            <p:ph type="sldNum" sz="quarter" idx="5"/>
          </p:nvPr>
        </p:nvSpPr>
        <p:spPr/>
        <p:txBody>
          <a:bodyPr/>
          <a:lstStyle/>
          <a:p>
            <a:fld id="{C3442FB0-EB98-4817-B271-BEAAC9C232F4}" type="slidenum">
              <a:rPr lang="en-US" smtClean="0"/>
              <a:t>8</a:t>
            </a:fld>
            <a:endParaRPr lang="en-US"/>
          </a:p>
        </p:txBody>
      </p:sp>
    </p:spTree>
    <p:extLst>
      <p:ext uri="{BB962C8B-B14F-4D97-AF65-F5344CB8AC3E}">
        <p14:creationId xmlns:p14="http://schemas.microsoft.com/office/powerpoint/2010/main" val="3067297743"/>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Money matters. Employees who quit were earning around $3,000 per month on average, compared to $5,500 for those who stayed. That's nearly double. Combined with the job level finding, this suggests that relatively modest salary increases or faster promotion pathways for entry-level employees could help with retention</a:t>
            </a:r>
          </a:p>
        </p:txBody>
      </p:sp>
      <p:sp>
        <p:nvSpPr>
          <p:cNvPr id="4" name="Slide Number Placeholder 3"/>
          <p:cNvSpPr>
            <a:spLocks noGrp="1"/>
          </p:cNvSpPr>
          <p:nvPr>
            <p:ph type="sldNum" sz="quarter" idx="5"/>
          </p:nvPr>
        </p:nvSpPr>
        <p:spPr/>
        <p:txBody>
          <a:bodyPr/>
          <a:lstStyle/>
          <a:p>
            <a:fld id="{C3442FB0-EB98-4817-B271-BEAAC9C232F4}" type="slidenum">
              <a:rPr lang="en-US" smtClean="0"/>
              <a:t>9</a:t>
            </a:fld>
            <a:endParaRPr lang="en-US"/>
          </a:p>
        </p:txBody>
      </p:sp>
    </p:spTree>
    <p:extLst>
      <p:ext uri="{BB962C8B-B14F-4D97-AF65-F5344CB8AC3E}">
        <p14:creationId xmlns:p14="http://schemas.microsoft.com/office/powerpoint/2010/main" val="1807677796"/>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Employees who quit had spent an average of only 2 years with their current manager, versus 3 years for those who stayed. Manager relationships matter. Your company can actively promote healthier manager and employee work relations to increase relation and reduce attrition</a:t>
            </a:r>
          </a:p>
        </p:txBody>
      </p:sp>
      <p:sp>
        <p:nvSpPr>
          <p:cNvPr id="4" name="Slide Number Placeholder 3"/>
          <p:cNvSpPr>
            <a:spLocks noGrp="1"/>
          </p:cNvSpPr>
          <p:nvPr>
            <p:ph type="sldNum" sz="quarter" idx="5"/>
          </p:nvPr>
        </p:nvSpPr>
        <p:spPr/>
        <p:txBody>
          <a:bodyPr/>
          <a:lstStyle/>
          <a:p>
            <a:fld id="{C3442FB0-EB98-4817-B271-BEAAC9C232F4}" type="slidenum">
              <a:rPr lang="en-US" smtClean="0"/>
              <a:t>10</a:t>
            </a:fld>
            <a:endParaRPr lang="en-US"/>
          </a:p>
        </p:txBody>
      </p:sp>
    </p:spTree>
    <p:extLst>
      <p:ext uri="{BB962C8B-B14F-4D97-AF65-F5344CB8AC3E}">
        <p14:creationId xmlns:p14="http://schemas.microsoft.com/office/powerpoint/2010/main" val="3785940330"/>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Overtime is one of our top 3 factors. Employees working overtime quit at a dramatically higher rate than those who don't. The data suggests burnout is a real issue. If your company can identify what is causing overtime, you can significantly reduce turnovers</a:t>
            </a:r>
          </a:p>
        </p:txBody>
      </p:sp>
      <p:sp>
        <p:nvSpPr>
          <p:cNvPr id="4" name="Slide Number Placeholder 3"/>
          <p:cNvSpPr>
            <a:spLocks noGrp="1"/>
          </p:cNvSpPr>
          <p:nvPr>
            <p:ph type="sldNum" sz="quarter" idx="5"/>
          </p:nvPr>
        </p:nvSpPr>
        <p:spPr/>
        <p:txBody>
          <a:bodyPr/>
          <a:lstStyle/>
          <a:p>
            <a:fld id="{C3442FB0-EB98-4817-B271-BEAAC9C232F4}" type="slidenum">
              <a:rPr lang="en-US" smtClean="0"/>
              <a:t>11</a:t>
            </a:fld>
            <a:endParaRPr lang="en-US"/>
          </a:p>
        </p:txBody>
      </p:sp>
    </p:spTree>
    <p:extLst>
      <p:ext uri="{BB962C8B-B14F-4D97-AF65-F5344CB8AC3E}">
        <p14:creationId xmlns:p14="http://schemas.microsoft.com/office/powerpoint/2010/main" val="1355422503"/>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Looking at job roles, the Sales department, Research Scientists, and Lab Technicians account for the highest number of departures overall. These are your highest volume turnover roles.</a:t>
            </a:r>
          </a:p>
        </p:txBody>
      </p:sp>
      <p:sp>
        <p:nvSpPr>
          <p:cNvPr id="4" name="Slide Number Placeholder 3"/>
          <p:cNvSpPr>
            <a:spLocks noGrp="1"/>
          </p:cNvSpPr>
          <p:nvPr>
            <p:ph type="sldNum" sz="quarter" idx="5"/>
          </p:nvPr>
        </p:nvSpPr>
        <p:spPr/>
        <p:txBody>
          <a:bodyPr/>
          <a:lstStyle/>
          <a:p>
            <a:fld id="{C3442FB0-EB98-4817-B271-BEAAC9C232F4}" type="slidenum">
              <a:rPr lang="en-US" smtClean="0"/>
              <a:t>12</a:t>
            </a:fld>
            <a:endParaRPr lang="en-US"/>
          </a:p>
        </p:txBody>
      </p:sp>
    </p:spTree>
    <p:extLst>
      <p:ext uri="{BB962C8B-B14F-4D97-AF65-F5344CB8AC3E}">
        <p14:creationId xmlns:p14="http://schemas.microsoft.com/office/powerpoint/2010/main" val="234315544"/>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But when we look at attrition rate within each role,  Sales Representatives stand out at 45.3%. Nearly half of your Sales Representatives quit. Laboratory Technicians at 19.6% and Research Scientists at 18.6% are also elevated. These three roles are your priority targets for retention investment.</a:t>
            </a:r>
          </a:p>
        </p:txBody>
      </p:sp>
      <p:sp>
        <p:nvSpPr>
          <p:cNvPr id="4" name="Slide Number Placeholder 3"/>
          <p:cNvSpPr>
            <a:spLocks noGrp="1"/>
          </p:cNvSpPr>
          <p:nvPr>
            <p:ph type="sldNum" sz="quarter" idx="5"/>
          </p:nvPr>
        </p:nvSpPr>
        <p:spPr/>
        <p:txBody>
          <a:bodyPr/>
          <a:lstStyle/>
          <a:p>
            <a:fld id="{C3442FB0-EB98-4817-B271-BEAAC9C232F4}" type="slidenum">
              <a:rPr lang="en-US" smtClean="0"/>
              <a:t>13</a:t>
            </a:fld>
            <a:endParaRPr lang="en-US"/>
          </a:p>
        </p:txBody>
      </p:sp>
    </p:spTree>
    <p:extLst>
      <p:ext uri="{BB962C8B-B14F-4D97-AF65-F5344CB8AC3E}">
        <p14:creationId xmlns:p14="http://schemas.microsoft.com/office/powerpoint/2010/main" val="3898692136"/>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4E6119F-0FE7-8231-452C-E9F6136EDEEF}"/>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AB2D380-3BC1-9985-7507-E3C5B72F07AE}"/>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AACB3DCA-B4A1-3A5D-591A-C80D34A6119E}"/>
              </a:ext>
            </a:extLst>
          </p:cNvPr>
          <p:cNvSpPr>
            <a:spLocks noGrp="1"/>
          </p:cNvSpPr>
          <p:nvPr>
            <p:ph type="body" idx="1"/>
          </p:nvPr>
        </p:nvSpPr>
        <p:spPr/>
        <p:txBody>
          <a:bodyPr/>
          <a:lstStyle/>
          <a:p>
            <a:r>
              <a:rPr lang="en-US" dirty="0"/>
              <a:t>Pulling it all together, the factors most strongly associated with attrition are overtime, monthly income, marital status, age, job level, work experience, manager tenure, and job role. Our top 3 are overtime, monthly income, and marital status. These are the variables that driving our predictive models</a:t>
            </a:r>
          </a:p>
        </p:txBody>
      </p:sp>
      <p:sp>
        <p:nvSpPr>
          <p:cNvPr id="4" name="Slide Number Placeholder 3">
            <a:extLst>
              <a:ext uri="{FF2B5EF4-FFF2-40B4-BE49-F238E27FC236}">
                <a16:creationId xmlns:a16="http://schemas.microsoft.com/office/drawing/2014/main" id="{67B90C75-3409-971C-9FF4-545A42BFF000}"/>
              </a:ext>
            </a:extLst>
          </p:cNvPr>
          <p:cNvSpPr>
            <a:spLocks noGrp="1"/>
          </p:cNvSpPr>
          <p:nvPr>
            <p:ph type="sldNum" sz="quarter" idx="5"/>
          </p:nvPr>
        </p:nvSpPr>
        <p:spPr/>
        <p:txBody>
          <a:bodyPr/>
          <a:lstStyle/>
          <a:p>
            <a:fld id="{C3442FB0-EB98-4817-B271-BEAAC9C232F4}" type="slidenum">
              <a:rPr lang="en-US" smtClean="0"/>
              <a:t>14</a:t>
            </a:fld>
            <a:endParaRPr lang="en-US"/>
          </a:p>
        </p:txBody>
      </p:sp>
    </p:spTree>
    <p:extLst>
      <p:ext uri="{BB962C8B-B14F-4D97-AF65-F5344CB8AC3E}">
        <p14:creationId xmlns:p14="http://schemas.microsoft.com/office/powerpoint/2010/main" val="2268451644"/>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let's talk about what this actually costs and you can assist</a:t>
            </a:r>
          </a:p>
        </p:txBody>
      </p:sp>
      <p:sp>
        <p:nvSpPr>
          <p:cNvPr id="4" name="Slide Number Placeholder 3"/>
          <p:cNvSpPr>
            <a:spLocks noGrp="1"/>
          </p:cNvSpPr>
          <p:nvPr>
            <p:ph type="sldNum" sz="quarter" idx="5"/>
          </p:nvPr>
        </p:nvSpPr>
        <p:spPr/>
        <p:txBody>
          <a:bodyPr/>
          <a:lstStyle/>
          <a:p>
            <a:fld id="{C3442FB0-EB98-4817-B271-BEAAC9C232F4}" type="slidenum">
              <a:rPr lang="en-US" smtClean="0"/>
              <a:t>15</a:t>
            </a:fld>
            <a:endParaRPr lang="en-US"/>
          </a:p>
        </p:txBody>
      </p:sp>
    </p:spTree>
    <p:extLst>
      <p:ext uri="{BB962C8B-B14F-4D97-AF65-F5344CB8AC3E}">
        <p14:creationId xmlns:p14="http://schemas.microsoft.com/office/powerpoint/2010/main" val="372722466"/>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Replacing an employee costs between 50% and 400% of their annual salary when you factor in recruiting, onboarding, lost productivity, and training. For our analysis we used 200% as a conservative estimate. The average salary across your highest-risk Job Levels 1 and 2, is $49,728 per year. We also assumed a $200 per-employee intervention cost. This a retention conversation, a small bonus, or a check-in program.</a:t>
            </a:r>
          </a:p>
        </p:txBody>
      </p:sp>
      <p:sp>
        <p:nvSpPr>
          <p:cNvPr id="4" name="Slide Number Placeholder 3"/>
          <p:cNvSpPr>
            <a:spLocks noGrp="1"/>
          </p:cNvSpPr>
          <p:nvPr>
            <p:ph type="sldNum" sz="quarter" idx="5"/>
          </p:nvPr>
        </p:nvSpPr>
        <p:spPr/>
        <p:txBody>
          <a:bodyPr/>
          <a:lstStyle/>
          <a:p>
            <a:fld id="{C3442FB0-EB98-4817-B271-BEAAC9C232F4}" type="slidenum">
              <a:rPr lang="en-US" smtClean="0"/>
              <a:t>16</a:t>
            </a:fld>
            <a:endParaRPr lang="en-US"/>
          </a:p>
        </p:txBody>
      </p:sp>
    </p:spTree>
    <p:extLst>
      <p:ext uri="{BB962C8B-B14F-4D97-AF65-F5344CB8AC3E}">
        <p14:creationId xmlns:p14="http://schemas.microsoft.com/office/powerpoint/2010/main" val="215693161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built two predictive models. The first is called KNN, it works by finding the 5 most similar employees in your workforce and using their outcomes to predict whether someone will quit. In its baseline, it correctly identified 35% of employees who would quit. While that sounds low, it's a starting point and I'll show you how we improved it significantly. It’s also predicted up 95% of employees do didn’t quit. While this number may be big the model we’d like to have both </a:t>
            </a:r>
            <a:r>
              <a:rPr lang="en-US" dirty="0" err="1"/>
              <a:t>true’s</a:t>
            </a:r>
            <a:r>
              <a:rPr lang="en-US" dirty="0"/>
              <a:t> high</a:t>
            </a:r>
          </a:p>
        </p:txBody>
      </p:sp>
      <p:sp>
        <p:nvSpPr>
          <p:cNvPr id="4" name="Slide Number Placeholder 3"/>
          <p:cNvSpPr>
            <a:spLocks noGrp="1"/>
          </p:cNvSpPr>
          <p:nvPr>
            <p:ph type="sldNum" sz="quarter" idx="5"/>
          </p:nvPr>
        </p:nvSpPr>
        <p:spPr/>
        <p:txBody>
          <a:bodyPr/>
          <a:lstStyle/>
          <a:p>
            <a:fld id="{C3442FB0-EB98-4817-B271-BEAAC9C232F4}" type="slidenum">
              <a:rPr lang="en-US" smtClean="0"/>
              <a:t>17</a:t>
            </a:fld>
            <a:endParaRPr lang="en-US"/>
          </a:p>
        </p:txBody>
      </p:sp>
    </p:spTree>
    <p:extLst>
      <p:ext uri="{BB962C8B-B14F-4D97-AF65-F5344CB8AC3E}">
        <p14:creationId xmlns:p14="http://schemas.microsoft.com/office/powerpoint/2010/main" val="2844439695"/>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With the baseline KNN model, the total estimated cost is $2.59 million, mostly driven by the 26 employees it missed, who then quit, and had to be replaced.</a:t>
            </a:r>
          </a:p>
        </p:txBody>
      </p:sp>
      <p:sp>
        <p:nvSpPr>
          <p:cNvPr id="4" name="Slide Number Placeholder 3"/>
          <p:cNvSpPr>
            <a:spLocks noGrp="1"/>
          </p:cNvSpPr>
          <p:nvPr>
            <p:ph type="sldNum" sz="quarter" idx="5"/>
          </p:nvPr>
        </p:nvSpPr>
        <p:spPr/>
        <p:txBody>
          <a:bodyPr/>
          <a:lstStyle/>
          <a:p>
            <a:fld id="{C3442FB0-EB98-4817-B271-BEAAC9C232F4}" type="slidenum">
              <a:rPr lang="en-US" smtClean="0"/>
              <a:t>18</a:t>
            </a:fld>
            <a:endParaRPr lang="en-US"/>
          </a:p>
        </p:txBody>
      </p:sp>
    </p:spTree>
    <p:extLst>
      <p:ext uri="{BB962C8B-B14F-4D97-AF65-F5344CB8AC3E}">
        <p14:creationId xmlns:p14="http://schemas.microsoft.com/office/powerpoint/2010/main" val="3607030907"/>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improved the model by adjusting threshold, essentially making the model more aggressive about flagging potential quitters. Instead of only acting when the model is 50% confident someone will quit, we lowered that to 30%. This pushed sensitivity up to 65%, meaning we now catch 65% of employees who would quit, nearly double the previous model.</a:t>
            </a:r>
          </a:p>
        </p:txBody>
      </p:sp>
      <p:sp>
        <p:nvSpPr>
          <p:cNvPr id="4" name="Slide Number Placeholder 3"/>
          <p:cNvSpPr>
            <a:spLocks noGrp="1"/>
          </p:cNvSpPr>
          <p:nvPr>
            <p:ph type="sldNum" sz="quarter" idx="5"/>
          </p:nvPr>
        </p:nvSpPr>
        <p:spPr/>
        <p:txBody>
          <a:bodyPr/>
          <a:lstStyle/>
          <a:p>
            <a:fld id="{C3442FB0-EB98-4817-B271-BEAAC9C232F4}" type="slidenum">
              <a:rPr lang="en-US" smtClean="0"/>
              <a:t>19</a:t>
            </a:fld>
            <a:endParaRPr lang="en-US"/>
          </a:p>
        </p:txBody>
      </p:sp>
    </p:spTree>
    <p:extLst>
      <p:ext uri="{BB962C8B-B14F-4D97-AF65-F5344CB8AC3E}">
        <p14:creationId xmlns:p14="http://schemas.microsoft.com/office/powerpoint/2010/main" val="3288683478"/>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With the improved KNN model, total cost drops to $1.41 million, saving the company, $1.18 million compared to the previous model. The tradeoff is more false alarms, 72 employees flagged who weren't actually going to quit, but at $200 per intervention, that's a small price to pay</a:t>
            </a:r>
          </a:p>
        </p:txBody>
      </p:sp>
      <p:sp>
        <p:nvSpPr>
          <p:cNvPr id="4" name="Slide Number Placeholder 3"/>
          <p:cNvSpPr>
            <a:spLocks noGrp="1"/>
          </p:cNvSpPr>
          <p:nvPr>
            <p:ph type="sldNum" sz="quarter" idx="5"/>
          </p:nvPr>
        </p:nvSpPr>
        <p:spPr/>
        <p:txBody>
          <a:bodyPr/>
          <a:lstStyle/>
          <a:p>
            <a:fld id="{C3442FB0-EB98-4817-B271-BEAAC9C232F4}" type="slidenum">
              <a:rPr lang="en-US" smtClean="0"/>
              <a:t>20</a:t>
            </a:fld>
            <a:endParaRPr lang="en-US"/>
          </a:p>
        </p:txBody>
      </p:sp>
    </p:spTree>
    <p:extLst>
      <p:ext uri="{BB962C8B-B14F-4D97-AF65-F5344CB8AC3E}">
        <p14:creationId xmlns:p14="http://schemas.microsoft.com/office/powerpoint/2010/main" val="1971661513"/>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Our second model, Naïve Bayes, takes a different approach. Instead of finding similar employees, it calculates the statistical probability of quitting based on each factor independently, then combines them. It achieved 60% sensitivity and 68.8% specificity, stronger predictions than our first KNN model</a:t>
            </a:r>
          </a:p>
        </p:txBody>
      </p:sp>
      <p:sp>
        <p:nvSpPr>
          <p:cNvPr id="4" name="Slide Number Placeholder 3"/>
          <p:cNvSpPr>
            <a:spLocks noGrp="1"/>
          </p:cNvSpPr>
          <p:nvPr>
            <p:ph type="sldNum" sz="quarter" idx="5"/>
          </p:nvPr>
        </p:nvSpPr>
        <p:spPr/>
        <p:txBody>
          <a:bodyPr/>
          <a:lstStyle/>
          <a:p>
            <a:fld id="{C3442FB0-EB98-4817-B271-BEAAC9C232F4}" type="slidenum">
              <a:rPr lang="en-US" smtClean="0"/>
              <a:t>21</a:t>
            </a:fld>
            <a:endParaRPr lang="en-US"/>
          </a:p>
        </p:txBody>
      </p:sp>
    </p:spTree>
    <p:extLst>
      <p:ext uri="{BB962C8B-B14F-4D97-AF65-F5344CB8AC3E}">
        <p14:creationId xmlns:p14="http://schemas.microsoft.com/office/powerpoint/2010/main" val="488960869"/>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baseline Naïve Bayes cost comes in at $1.61 million, already better than the baseline KNN model's $2.59 million</a:t>
            </a:r>
          </a:p>
        </p:txBody>
      </p:sp>
      <p:sp>
        <p:nvSpPr>
          <p:cNvPr id="4" name="Slide Number Placeholder 3"/>
          <p:cNvSpPr>
            <a:spLocks noGrp="1"/>
          </p:cNvSpPr>
          <p:nvPr>
            <p:ph type="sldNum" sz="quarter" idx="5"/>
          </p:nvPr>
        </p:nvSpPr>
        <p:spPr/>
        <p:txBody>
          <a:bodyPr/>
          <a:lstStyle/>
          <a:p>
            <a:fld id="{C3442FB0-EB98-4817-B271-BEAAC9C232F4}" type="slidenum">
              <a:rPr lang="en-US" smtClean="0"/>
              <a:t>22</a:t>
            </a:fld>
            <a:endParaRPr lang="en-US"/>
          </a:p>
        </p:txBody>
      </p:sp>
    </p:spTree>
    <p:extLst>
      <p:ext uri="{BB962C8B-B14F-4D97-AF65-F5344CB8AC3E}">
        <p14:creationId xmlns:p14="http://schemas.microsoft.com/office/powerpoint/2010/main" val="3255717626"/>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Applying the same threshold idea to Naïve Bayes pushed sensitivity to 68% and maintained 61% specificity. We're now catching attrition more than any other version of our models</a:t>
            </a:r>
          </a:p>
        </p:txBody>
      </p:sp>
      <p:sp>
        <p:nvSpPr>
          <p:cNvPr id="4" name="Slide Number Placeholder 3"/>
          <p:cNvSpPr>
            <a:spLocks noGrp="1"/>
          </p:cNvSpPr>
          <p:nvPr>
            <p:ph type="sldNum" sz="quarter" idx="5"/>
          </p:nvPr>
        </p:nvSpPr>
        <p:spPr/>
        <p:txBody>
          <a:bodyPr/>
          <a:lstStyle/>
          <a:p>
            <a:fld id="{C3442FB0-EB98-4817-B271-BEAAC9C232F4}" type="slidenum">
              <a:rPr lang="en-US" smtClean="0"/>
              <a:t>23</a:t>
            </a:fld>
            <a:endParaRPr lang="en-US"/>
          </a:p>
        </p:txBody>
      </p:sp>
    </p:spTree>
    <p:extLst>
      <p:ext uri="{BB962C8B-B14F-4D97-AF65-F5344CB8AC3E}">
        <p14:creationId xmlns:p14="http://schemas.microsoft.com/office/powerpoint/2010/main" val="2481351180"/>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optimized Naïve Bayes model comes in at $1.32 million total, the lowest cost of all four models. Compared to the optimized KNN, that's an additional $96,000 in savings. The reason is simple: Naïve Bayes catches one more quitter and misses three fewer, and since each missed quitter costs nearly $100,000 to replace, that adds up fast.</a:t>
            </a:r>
          </a:p>
        </p:txBody>
      </p:sp>
      <p:sp>
        <p:nvSpPr>
          <p:cNvPr id="4" name="Slide Number Placeholder 3"/>
          <p:cNvSpPr>
            <a:spLocks noGrp="1"/>
          </p:cNvSpPr>
          <p:nvPr>
            <p:ph type="sldNum" sz="quarter" idx="5"/>
          </p:nvPr>
        </p:nvSpPr>
        <p:spPr/>
        <p:txBody>
          <a:bodyPr/>
          <a:lstStyle/>
          <a:p>
            <a:fld id="{C3442FB0-EB98-4817-B271-BEAAC9C232F4}" type="slidenum">
              <a:rPr lang="en-US" smtClean="0"/>
              <a:t>24</a:t>
            </a:fld>
            <a:endParaRPr lang="en-US"/>
          </a:p>
        </p:txBody>
      </p:sp>
    </p:spTree>
    <p:extLst>
      <p:ext uri="{BB962C8B-B14F-4D97-AF65-F5344CB8AC3E}">
        <p14:creationId xmlns:p14="http://schemas.microsoft.com/office/powerpoint/2010/main" val="785194938"/>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 what does this all mean for Frito Lay</a:t>
            </a:r>
          </a:p>
        </p:txBody>
      </p:sp>
      <p:sp>
        <p:nvSpPr>
          <p:cNvPr id="4" name="Slide Number Placeholder 3"/>
          <p:cNvSpPr>
            <a:spLocks noGrp="1"/>
          </p:cNvSpPr>
          <p:nvPr>
            <p:ph type="sldNum" sz="quarter" idx="5"/>
          </p:nvPr>
        </p:nvSpPr>
        <p:spPr/>
        <p:txBody>
          <a:bodyPr/>
          <a:lstStyle/>
          <a:p>
            <a:fld id="{C3442FB0-EB98-4817-B271-BEAAC9C232F4}" type="slidenum">
              <a:rPr lang="en-US" smtClean="0"/>
              <a:t>25</a:t>
            </a:fld>
            <a:endParaRPr lang="en-US"/>
          </a:p>
        </p:txBody>
      </p:sp>
    </p:spTree>
    <p:extLst>
      <p:ext uri="{BB962C8B-B14F-4D97-AF65-F5344CB8AC3E}">
        <p14:creationId xmlns:p14="http://schemas.microsoft.com/office/powerpoint/2010/main" val="164857123"/>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Our recommendation is to deploy the Naïve Bayes model with a lowered threshold. It is the most cost effective solution, reducing your estimated attrition cost from $2.59 million to $1.32 million, saving Frito Lay $1.27 million. The model works best when it has access to these eight employee attributes: age, job level, marital status, total work experience, monthly income, overtime status, years with current manager, and job role. We recommend your company review flagged employees quarterly and intervene early, the data shows that catching a flight risk before they walk out the door is far cheaper than replacing them after.</a:t>
            </a:r>
          </a:p>
        </p:txBody>
      </p:sp>
      <p:sp>
        <p:nvSpPr>
          <p:cNvPr id="4" name="Slide Number Placeholder 3"/>
          <p:cNvSpPr>
            <a:spLocks noGrp="1"/>
          </p:cNvSpPr>
          <p:nvPr>
            <p:ph type="sldNum" sz="quarter" idx="5"/>
          </p:nvPr>
        </p:nvSpPr>
        <p:spPr/>
        <p:txBody>
          <a:bodyPr/>
          <a:lstStyle/>
          <a:p>
            <a:fld id="{C3442FB0-EB98-4817-B271-BEAAC9C232F4}" type="slidenum">
              <a:rPr lang="en-US" smtClean="0"/>
              <a:t>26</a:t>
            </a:fld>
            <a:endParaRPr lang="en-US"/>
          </a:p>
        </p:txBody>
      </p:sp>
    </p:spTree>
    <p:extLst>
      <p:ext uri="{BB962C8B-B14F-4D97-AF65-F5344CB8AC3E}">
        <p14:creationId xmlns:p14="http://schemas.microsoft.com/office/powerpoint/2010/main" val="173900830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1A059F8-8727-D6E4-0C90-AF3A1DCB861C}"/>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3CC1D765-2702-97E4-D7AC-1269769C316E}"/>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8B53B033-65CF-0E28-E392-FA653D1F9A59}"/>
              </a:ext>
            </a:extLst>
          </p:cNvPr>
          <p:cNvSpPr>
            <a:spLocks noGrp="1"/>
          </p:cNvSpPr>
          <p:nvPr>
            <p:ph type="dt" sz="half" idx="10"/>
          </p:nvPr>
        </p:nvSpPr>
        <p:spPr/>
        <p:txBody>
          <a:bodyPr/>
          <a:lstStyle/>
          <a:p>
            <a:fld id="{7CBB8CD8-01C3-47CB-82B4-8A6B4FAB2887}" type="datetimeFigureOut">
              <a:rPr lang="en-US" smtClean="0"/>
              <a:t>3/8/2026</a:t>
            </a:fld>
            <a:endParaRPr lang="en-US"/>
          </a:p>
        </p:txBody>
      </p:sp>
      <p:sp>
        <p:nvSpPr>
          <p:cNvPr id="5" name="Footer Placeholder 4">
            <a:extLst>
              <a:ext uri="{FF2B5EF4-FFF2-40B4-BE49-F238E27FC236}">
                <a16:creationId xmlns:a16="http://schemas.microsoft.com/office/drawing/2014/main" id="{50C727C4-BD9F-C176-6CE6-B25A7247DC86}"/>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72D21CF3-5074-135C-EC02-81DCD1A9BE58}"/>
              </a:ext>
            </a:extLst>
          </p:cNvPr>
          <p:cNvSpPr>
            <a:spLocks noGrp="1"/>
          </p:cNvSpPr>
          <p:nvPr>
            <p:ph type="sldNum" sz="quarter" idx="12"/>
          </p:nvPr>
        </p:nvSpPr>
        <p:spPr/>
        <p:txBody>
          <a:bodyPr/>
          <a:lstStyle/>
          <a:p>
            <a:fld id="{15112AFF-775F-497E-A464-BE18F205B3BE}" type="slidenum">
              <a:rPr lang="en-US" smtClean="0"/>
              <a:t>‹#›</a:t>
            </a:fld>
            <a:endParaRPr lang="en-US"/>
          </a:p>
        </p:txBody>
      </p:sp>
    </p:spTree>
    <p:extLst>
      <p:ext uri="{BB962C8B-B14F-4D97-AF65-F5344CB8AC3E}">
        <p14:creationId xmlns:p14="http://schemas.microsoft.com/office/powerpoint/2010/main" val="319466616"/>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73ED038-AD7C-9A37-E54D-AFF266E3D09E}"/>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202E8B93-DACF-3A98-209E-BE9722430706}"/>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5D181EB5-367D-7A71-FB73-B37F6EA61287}"/>
              </a:ext>
            </a:extLst>
          </p:cNvPr>
          <p:cNvSpPr>
            <a:spLocks noGrp="1"/>
          </p:cNvSpPr>
          <p:nvPr>
            <p:ph type="dt" sz="half" idx="10"/>
          </p:nvPr>
        </p:nvSpPr>
        <p:spPr/>
        <p:txBody>
          <a:bodyPr/>
          <a:lstStyle/>
          <a:p>
            <a:fld id="{7CBB8CD8-01C3-47CB-82B4-8A6B4FAB2887}" type="datetimeFigureOut">
              <a:rPr lang="en-US" smtClean="0"/>
              <a:t>3/8/2026</a:t>
            </a:fld>
            <a:endParaRPr lang="en-US"/>
          </a:p>
        </p:txBody>
      </p:sp>
      <p:sp>
        <p:nvSpPr>
          <p:cNvPr id="5" name="Footer Placeholder 4">
            <a:extLst>
              <a:ext uri="{FF2B5EF4-FFF2-40B4-BE49-F238E27FC236}">
                <a16:creationId xmlns:a16="http://schemas.microsoft.com/office/drawing/2014/main" id="{EDAF62EC-3A27-6E24-86CA-44CC6B7E7167}"/>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7D6117A9-D2E0-5D25-E698-7EBBF2A27BC8}"/>
              </a:ext>
            </a:extLst>
          </p:cNvPr>
          <p:cNvSpPr>
            <a:spLocks noGrp="1"/>
          </p:cNvSpPr>
          <p:nvPr>
            <p:ph type="sldNum" sz="quarter" idx="12"/>
          </p:nvPr>
        </p:nvSpPr>
        <p:spPr/>
        <p:txBody>
          <a:bodyPr/>
          <a:lstStyle/>
          <a:p>
            <a:fld id="{15112AFF-775F-497E-A464-BE18F205B3BE}" type="slidenum">
              <a:rPr lang="en-US" smtClean="0"/>
              <a:t>‹#›</a:t>
            </a:fld>
            <a:endParaRPr lang="en-US"/>
          </a:p>
        </p:txBody>
      </p:sp>
    </p:spTree>
    <p:extLst>
      <p:ext uri="{BB962C8B-B14F-4D97-AF65-F5344CB8AC3E}">
        <p14:creationId xmlns:p14="http://schemas.microsoft.com/office/powerpoint/2010/main" val="329710558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6685902-D021-BA4E-B5FB-0E82630FD2FE}"/>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CE965801-CCC5-AE08-974F-90D8FDF07FD4}"/>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85B13FAF-F99F-8B24-1342-459A8B00FFB1}"/>
              </a:ext>
            </a:extLst>
          </p:cNvPr>
          <p:cNvSpPr>
            <a:spLocks noGrp="1"/>
          </p:cNvSpPr>
          <p:nvPr>
            <p:ph type="dt" sz="half" idx="10"/>
          </p:nvPr>
        </p:nvSpPr>
        <p:spPr/>
        <p:txBody>
          <a:bodyPr/>
          <a:lstStyle/>
          <a:p>
            <a:fld id="{7CBB8CD8-01C3-47CB-82B4-8A6B4FAB2887}" type="datetimeFigureOut">
              <a:rPr lang="en-US" smtClean="0"/>
              <a:t>3/8/2026</a:t>
            </a:fld>
            <a:endParaRPr lang="en-US"/>
          </a:p>
        </p:txBody>
      </p:sp>
      <p:sp>
        <p:nvSpPr>
          <p:cNvPr id="5" name="Footer Placeholder 4">
            <a:extLst>
              <a:ext uri="{FF2B5EF4-FFF2-40B4-BE49-F238E27FC236}">
                <a16:creationId xmlns:a16="http://schemas.microsoft.com/office/drawing/2014/main" id="{D93738C3-1F70-EA8C-AB10-ADC74B167A29}"/>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8F4C005E-F58C-5179-A562-BBA3594508CC}"/>
              </a:ext>
            </a:extLst>
          </p:cNvPr>
          <p:cNvSpPr>
            <a:spLocks noGrp="1"/>
          </p:cNvSpPr>
          <p:nvPr>
            <p:ph type="sldNum" sz="quarter" idx="12"/>
          </p:nvPr>
        </p:nvSpPr>
        <p:spPr/>
        <p:txBody>
          <a:bodyPr/>
          <a:lstStyle/>
          <a:p>
            <a:fld id="{15112AFF-775F-497E-A464-BE18F205B3BE}" type="slidenum">
              <a:rPr lang="en-US" smtClean="0"/>
              <a:t>‹#›</a:t>
            </a:fld>
            <a:endParaRPr lang="en-US"/>
          </a:p>
        </p:txBody>
      </p:sp>
    </p:spTree>
    <p:extLst>
      <p:ext uri="{BB962C8B-B14F-4D97-AF65-F5344CB8AC3E}">
        <p14:creationId xmlns:p14="http://schemas.microsoft.com/office/powerpoint/2010/main" val="175220455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60A5D28-32BE-6DC7-9739-579C930BE911}"/>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8A469BA7-316A-E6B7-EEBA-DDE3EB3602B0}"/>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253387B2-DAF5-6B51-0774-9FD3A1EA65F0}"/>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33A15CE3-E5FD-ED59-4881-0AFFDC178B58}"/>
              </a:ext>
            </a:extLst>
          </p:cNvPr>
          <p:cNvSpPr>
            <a:spLocks noGrp="1"/>
          </p:cNvSpPr>
          <p:nvPr>
            <p:ph type="dt" sz="half" idx="10"/>
          </p:nvPr>
        </p:nvSpPr>
        <p:spPr/>
        <p:txBody>
          <a:bodyPr/>
          <a:lstStyle/>
          <a:p>
            <a:fld id="{7CBB8CD8-01C3-47CB-82B4-8A6B4FAB2887}" type="datetimeFigureOut">
              <a:rPr lang="en-US" smtClean="0"/>
              <a:t>3/8/2026</a:t>
            </a:fld>
            <a:endParaRPr lang="en-US"/>
          </a:p>
        </p:txBody>
      </p:sp>
      <p:sp>
        <p:nvSpPr>
          <p:cNvPr id="6" name="Footer Placeholder 5">
            <a:extLst>
              <a:ext uri="{FF2B5EF4-FFF2-40B4-BE49-F238E27FC236}">
                <a16:creationId xmlns:a16="http://schemas.microsoft.com/office/drawing/2014/main" id="{F7B57AD5-7622-A6A6-0775-BFE96F122A14}"/>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831E9007-9A0B-4254-90E6-283A7E9F14FB}"/>
              </a:ext>
            </a:extLst>
          </p:cNvPr>
          <p:cNvSpPr>
            <a:spLocks noGrp="1"/>
          </p:cNvSpPr>
          <p:nvPr>
            <p:ph type="sldNum" sz="quarter" idx="12"/>
          </p:nvPr>
        </p:nvSpPr>
        <p:spPr/>
        <p:txBody>
          <a:bodyPr/>
          <a:lstStyle/>
          <a:p>
            <a:fld id="{15112AFF-775F-497E-A464-BE18F205B3BE}" type="slidenum">
              <a:rPr lang="en-US" smtClean="0"/>
              <a:t>‹#›</a:t>
            </a:fld>
            <a:endParaRPr lang="en-US"/>
          </a:p>
        </p:txBody>
      </p:sp>
    </p:spTree>
    <p:extLst>
      <p:ext uri="{BB962C8B-B14F-4D97-AF65-F5344CB8AC3E}">
        <p14:creationId xmlns:p14="http://schemas.microsoft.com/office/powerpoint/2010/main" val="2392309951"/>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F183D81-A663-A1FA-57E9-DAEE9F74AFDC}"/>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069ADDAC-7FDE-A017-70DE-4FCCEBE0A501}"/>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C283B389-FAA7-E9B6-740C-2C30F2652710}"/>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0B01401E-F17C-0AAF-DA8D-B104A5BD51C2}"/>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2880CEC6-6C03-F252-943F-D1F57B27F90E}"/>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222B1538-7E39-82BB-3700-FDBFD108DE52}"/>
              </a:ext>
            </a:extLst>
          </p:cNvPr>
          <p:cNvSpPr>
            <a:spLocks noGrp="1"/>
          </p:cNvSpPr>
          <p:nvPr>
            <p:ph type="dt" sz="half" idx="10"/>
          </p:nvPr>
        </p:nvSpPr>
        <p:spPr/>
        <p:txBody>
          <a:bodyPr/>
          <a:lstStyle/>
          <a:p>
            <a:fld id="{7CBB8CD8-01C3-47CB-82B4-8A6B4FAB2887}" type="datetimeFigureOut">
              <a:rPr lang="en-US" smtClean="0"/>
              <a:t>3/8/2026</a:t>
            </a:fld>
            <a:endParaRPr lang="en-US"/>
          </a:p>
        </p:txBody>
      </p:sp>
      <p:sp>
        <p:nvSpPr>
          <p:cNvPr id="8" name="Footer Placeholder 7">
            <a:extLst>
              <a:ext uri="{FF2B5EF4-FFF2-40B4-BE49-F238E27FC236}">
                <a16:creationId xmlns:a16="http://schemas.microsoft.com/office/drawing/2014/main" id="{8876BDD0-9C9F-EADD-85BF-74D402D0AA7F}"/>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2C62C382-F1C7-F49F-53AA-22B71DBABB74}"/>
              </a:ext>
            </a:extLst>
          </p:cNvPr>
          <p:cNvSpPr>
            <a:spLocks noGrp="1"/>
          </p:cNvSpPr>
          <p:nvPr>
            <p:ph type="sldNum" sz="quarter" idx="12"/>
          </p:nvPr>
        </p:nvSpPr>
        <p:spPr/>
        <p:txBody>
          <a:bodyPr/>
          <a:lstStyle/>
          <a:p>
            <a:fld id="{15112AFF-775F-497E-A464-BE18F205B3BE}" type="slidenum">
              <a:rPr lang="en-US" smtClean="0"/>
              <a:t>‹#›</a:t>
            </a:fld>
            <a:endParaRPr lang="en-US"/>
          </a:p>
        </p:txBody>
      </p:sp>
    </p:spTree>
    <p:extLst>
      <p:ext uri="{BB962C8B-B14F-4D97-AF65-F5344CB8AC3E}">
        <p14:creationId xmlns:p14="http://schemas.microsoft.com/office/powerpoint/2010/main" val="392722878"/>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A46EF41-D5F3-2CC9-D350-982C3621D526}"/>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14769821-F466-C733-1F57-292064A838C0}"/>
              </a:ext>
            </a:extLst>
          </p:cNvPr>
          <p:cNvSpPr>
            <a:spLocks noGrp="1"/>
          </p:cNvSpPr>
          <p:nvPr>
            <p:ph type="dt" sz="half" idx="10"/>
          </p:nvPr>
        </p:nvSpPr>
        <p:spPr/>
        <p:txBody>
          <a:bodyPr/>
          <a:lstStyle/>
          <a:p>
            <a:fld id="{7CBB8CD8-01C3-47CB-82B4-8A6B4FAB2887}" type="datetimeFigureOut">
              <a:rPr lang="en-US" smtClean="0"/>
              <a:t>3/8/2026</a:t>
            </a:fld>
            <a:endParaRPr lang="en-US"/>
          </a:p>
        </p:txBody>
      </p:sp>
      <p:sp>
        <p:nvSpPr>
          <p:cNvPr id="4" name="Footer Placeholder 3">
            <a:extLst>
              <a:ext uri="{FF2B5EF4-FFF2-40B4-BE49-F238E27FC236}">
                <a16:creationId xmlns:a16="http://schemas.microsoft.com/office/drawing/2014/main" id="{7DC3CD0C-30B5-B3C9-FF41-F7C549D3A2F0}"/>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C4D32D96-6121-4446-A317-584CD50704E4}"/>
              </a:ext>
            </a:extLst>
          </p:cNvPr>
          <p:cNvSpPr>
            <a:spLocks noGrp="1"/>
          </p:cNvSpPr>
          <p:nvPr>
            <p:ph type="sldNum" sz="quarter" idx="12"/>
          </p:nvPr>
        </p:nvSpPr>
        <p:spPr/>
        <p:txBody>
          <a:bodyPr/>
          <a:lstStyle/>
          <a:p>
            <a:fld id="{15112AFF-775F-497E-A464-BE18F205B3BE}" type="slidenum">
              <a:rPr lang="en-US" smtClean="0"/>
              <a:t>‹#›</a:t>
            </a:fld>
            <a:endParaRPr lang="en-US"/>
          </a:p>
        </p:txBody>
      </p:sp>
    </p:spTree>
    <p:extLst>
      <p:ext uri="{BB962C8B-B14F-4D97-AF65-F5344CB8AC3E}">
        <p14:creationId xmlns:p14="http://schemas.microsoft.com/office/powerpoint/2010/main" val="2714528764"/>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1206A755-5DF2-9EA1-293D-151E78150E18}"/>
              </a:ext>
            </a:extLst>
          </p:cNvPr>
          <p:cNvSpPr>
            <a:spLocks noGrp="1"/>
          </p:cNvSpPr>
          <p:nvPr>
            <p:ph type="dt" sz="half" idx="10"/>
          </p:nvPr>
        </p:nvSpPr>
        <p:spPr/>
        <p:txBody>
          <a:bodyPr/>
          <a:lstStyle/>
          <a:p>
            <a:fld id="{7CBB8CD8-01C3-47CB-82B4-8A6B4FAB2887}" type="datetimeFigureOut">
              <a:rPr lang="en-US" smtClean="0"/>
              <a:t>3/8/2026</a:t>
            </a:fld>
            <a:endParaRPr lang="en-US"/>
          </a:p>
        </p:txBody>
      </p:sp>
      <p:sp>
        <p:nvSpPr>
          <p:cNvPr id="3" name="Footer Placeholder 2">
            <a:extLst>
              <a:ext uri="{FF2B5EF4-FFF2-40B4-BE49-F238E27FC236}">
                <a16:creationId xmlns:a16="http://schemas.microsoft.com/office/drawing/2014/main" id="{321254B2-02D3-70D1-35A1-F703444DFF8A}"/>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CC0BA901-150E-E146-E76D-C6BF816FFEEE}"/>
              </a:ext>
            </a:extLst>
          </p:cNvPr>
          <p:cNvSpPr>
            <a:spLocks noGrp="1"/>
          </p:cNvSpPr>
          <p:nvPr>
            <p:ph type="sldNum" sz="quarter" idx="12"/>
          </p:nvPr>
        </p:nvSpPr>
        <p:spPr/>
        <p:txBody>
          <a:bodyPr/>
          <a:lstStyle/>
          <a:p>
            <a:fld id="{15112AFF-775F-497E-A464-BE18F205B3BE}" type="slidenum">
              <a:rPr lang="en-US" smtClean="0"/>
              <a:t>‹#›</a:t>
            </a:fld>
            <a:endParaRPr lang="en-US"/>
          </a:p>
        </p:txBody>
      </p:sp>
    </p:spTree>
    <p:extLst>
      <p:ext uri="{BB962C8B-B14F-4D97-AF65-F5344CB8AC3E}">
        <p14:creationId xmlns:p14="http://schemas.microsoft.com/office/powerpoint/2010/main" val="343219663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C2AD886-5381-6715-7174-E012A13589D1}"/>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B4907EFE-26DA-1894-9FC2-241F42D85343}"/>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1E7E7F2A-6DE7-7194-587C-ADEE7E3605B3}"/>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8041CC48-6FB3-83A2-40CE-E4A21953FABD}"/>
              </a:ext>
            </a:extLst>
          </p:cNvPr>
          <p:cNvSpPr>
            <a:spLocks noGrp="1"/>
          </p:cNvSpPr>
          <p:nvPr>
            <p:ph type="dt" sz="half" idx="10"/>
          </p:nvPr>
        </p:nvSpPr>
        <p:spPr/>
        <p:txBody>
          <a:bodyPr/>
          <a:lstStyle/>
          <a:p>
            <a:fld id="{7CBB8CD8-01C3-47CB-82B4-8A6B4FAB2887}" type="datetimeFigureOut">
              <a:rPr lang="en-US" smtClean="0"/>
              <a:t>3/8/2026</a:t>
            </a:fld>
            <a:endParaRPr lang="en-US"/>
          </a:p>
        </p:txBody>
      </p:sp>
      <p:sp>
        <p:nvSpPr>
          <p:cNvPr id="6" name="Footer Placeholder 5">
            <a:extLst>
              <a:ext uri="{FF2B5EF4-FFF2-40B4-BE49-F238E27FC236}">
                <a16:creationId xmlns:a16="http://schemas.microsoft.com/office/drawing/2014/main" id="{4E0E6454-7539-0B98-6649-33E15610DDA6}"/>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B714E115-289D-CF90-C129-8D3EEF50963D}"/>
              </a:ext>
            </a:extLst>
          </p:cNvPr>
          <p:cNvSpPr>
            <a:spLocks noGrp="1"/>
          </p:cNvSpPr>
          <p:nvPr>
            <p:ph type="sldNum" sz="quarter" idx="12"/>
          </p:nvPr>
        </p:nvSpPr>
        <p:spPr/>
        <p:txBody>
          <a:bodyPr/>
          <a:lstStyle/>
          <a:p>
            <a:fld id="{15112AFF-775F-497E-A464-BE18F205B3BE}" type="slidenum">
              <a:rPr lang="en-US" smtClean="0"/>
              <a:t>‹#›</a:t>
            </a:fld>
            <a:endParaRPr lang="en-US"/>
          </a:p>
        </p:txBody>
      </p:sp>
    </p:spTree>
    <p:extLst>
      <p:ext uri="{BB962C8B-B14F-4D97-AF65-F5344CB8AC3E}">
        <p14:creationId xmlns:p14="http://schemas.microsoft.com/office/powerpoint/2010/main" val="1733374745"/>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FDBE981-852B-FAD1-326B-A630D8351844}"/>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77184F85-D978-BC10-34D9-C049725201A1}"/>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6CC5E2F8-5C17-8659-9FA8-C4A94B68016E}"/>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3AD76DE6-E221-3205-2F7B-D409E0B01D8C}"/>
              </a:ext>
            </a:extLst>
          </p:cNvPr>
          <p:cNvSpPr>
            <a:spLocks noGrp="1"/>
          </p:cNvSpPr>
          <p:nvPr>
            <p:ph type="dt" sz="half" idx="10"/>
          </p:nvPr>
        </p:nvSpPr>
        <p:spPr/>
        <p:txBody>
          <a:bodyPr/>
          <a:lstStyle/>
          <a:p>
            <a:fld id="{7CBB8CD8-01C3-47CB-82B4-8A6B4FAB2887}" type="datetimeFigureOut">
              <a:rPr lang="en-US" smtClean="0"/>
              <a:t>3/8/2026</a:t>
            </a:fld>
            <a:endParaRPr lang="en-US"/>
          </a:p>
        </p:txBody>
      </p:sp>
      <p:sp>
        <p:nvSpPr>
          <p:cNvPr id="6" name="Footer Placeholder 5">
            <a:extLst>
              <a:ext uri="{FF2B5EF4-FFF2-40B4-BE49-F238E27FC236}">
                <a16:creationId xmlns:a16="http://schemas.microsoft.com/office/drawing/2014/main" id="{C1DFA3D2-D134-25BA-993D-132FC6470AC3}"/>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6C8F0F32-AEB6-0640-C06F-EAED3732D97A}"/>
              </a:ext>
            </a:extLst>
          </p:cNvPr>
          <p:cNvSpPr>
            <a:spLocks noGrp="1"/>
          </p:cNvSpPr>
          <p:nvPr>
            <p:ph type="sldNum" sz="quarter" idx="12"/>
          </p:nvPr>
        </p:nvSpPr>
        <p:spPr/>
        <p:txBody>
          <a:bodyPr/>
          <a:lstStyle/>
          <a:p>
            <a:fld id="{15112AFF-775F-497E-A464-BE18F205B3BE}" type="slidenum">
              <a:rPr lang="en-US" smtClean="0"/>
              <a:t>‹#›</a:t>
            </a:fld>
            <a:endParaRPr lang="en-US"/>
          </a:p>
        </p:txBody>
      </p:sp>
    </p:spTree>
    <p:extLst>
      <p:ext uri="{BB962C8B-B14F-4D97-AF65-F5344CB8AC3E}">
        <p14:creationId xmlns:p14="http://schemas.microsoft.com/office/powerpoint/2010/main" val="371551134"/>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2CA2A3C-8217-0F84-5829-C817BC3B98F9}"/>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F63DE8F5-1E0B-7426-46A2-E06A66C8E423}"/>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9706023B-F63A-8F2D-85E8-1DBB8E54E948}"/>
              </a:ext>
            </a:extLst>
          </p:cNvPr>
          <p:cNvSpPr>
            <a:spLocks noGrp="1"/>
          </p:cNvSpPr>
          <p:nvPr>
            <p:ph type="dt" sz="half" idx="10"/>
          </p:nvPr>
        </p:nvSpPr>
        <p:spPr/>
        <p:txBody>
          <a:bodyPr/>
          <a:lstStyle/>
          <a:p>
            <a:fld id="{7CBB8CD8-01C3-47CB-82B4-8A6B4FAB2887}" type="datetimeFigureOut">
              <a:rPr lang="en-US" smtClean="0"/>
              <a:t>3/8/2026</a:t>
            </a:fld>
            <a:endParaRPr lang="en-US"/>
          </a:p>
        </p:txBody>
      </p:sp>
      <p:sp>
        <p:nvSpPr>
          <p:cNvPr id="5" name="Footer Placeholder 4">
            <a:extLst>
              <a:ext uri="{FF2B5EF4-FFF2-40B4-BE49-F238E27FC236}">
                <a16:creationId xmlns:a16="http://schemas.microsoft.com/office/drawing/2014/main" id="{B29AE162-D381-12A6-355D-2033970E04E5}"/>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3685B333-7E76-1F83-4BEE-C491BB603FF3}"/>
              </a:ext>
            </a:extLst>
          </p:cNvPr>
          <p:cNvSpPr>
            <a:spLocks noGrp="1"/>
          </p:cNvSpPr>
          <p:nvPr>
            <p:ph type="sldNum" sz="quarter" idx="12"/>
          </p:nvPr>
        </p:nvSpPr>
        <p:spPr/>
        <p:txBody>
          <a:bodyPr/>
          <a:lstStyle/>
          <a:p>
            <a:fld id="{15112AFF-775F-497E-A464-BE18F205B3BE}" type="slidenum">
              <a:rPr lang="en-US" smtClean="0"/>
              <a:t>‹#›</a:t>
            </a:fld>
            <a:endParaRPr lang="en-US"/>
          </a:p>
        </p:txBody>
      </p:sp>
    </p:spTree>
    <p:extLst>
      <p:ext uri="{BB962C8B-B14F-4D97-AF65-F5344CB8AC3E}">
        <p14:creationId xmlns:p14="http://schemas.microsoft.com/office/powerpoint/2010/main" val="2846852212"/>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098093B1-6208-5D80-A857-E2D6BD562297}"/>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46B8962C-5321-91B5-C3CD-8F3250075697}"/>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E21B9A2F-5940-D17C-8CCC-CDC3A4E8AFB2}"/>
              </a:ext>
            </a:extLst>
          </p:cNvPr>
          <p:cNvSpPr>
            <a:spLocks noGrp="1"/>
          </p:cNvSpPr>
          <p:nvPr>
            <p:ph type="dt" sz="half" idx="10"/>
          </p:nvPr>
        </p:nvSpPr>
        <p:spPr/>
        <p:txBody>
          <a:bodyPr/>
          <a:lstStyle/>
          <a:p>
            <a:fld id="{7CBB8CD8-01C3-47CB-82B4-8A6B4FAB2887}" type="datetimeFigureOut">
              <a:rPr lang="en-US" smtClean="0"/>
              <a:t>3/8/2026</a:t>
            </a:fld>
            <a:endParaRPr lang="en-US"/>
          </a:p>
        </p:txBody>
      </p:sp>
      <p:sp>
        <p:nvSpPr>
          <p:cNvPr id="5" name="Footer Placeholder 4">
            <a:extLst>
              <a:ext uri="{FF2B5EF4-FFF2-40B4-BE49-F238E27FC236}">
                <a16:creationId xmlns:a16="http://schemas.microsoft.com/office/drawing/2014/main" id="{6BFA0F8A-F6AE-0259-519F-761DF7AC2855}"/>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11CA54E0-7055-295D-9D4C-B46EE11A6FF4}"/>
              </a:ext>
            </a:extLst>
          </p:cNvPr>
          <p:cNvSpPr>
            <a:spLocks noGrp="1"/>
          </p:cNvSpPr>
          <p:nvPr>
            <p:ph type="sldNum" sz="quarter" idx="12"/>
          </p:nvPr>
        </p:nvSpPr>
        <p:spPr/>
        <p:txBody>
          <a:bodyPr/>
          <a:lstStyle/>
          <a:p>
            <a:fld id="{15112AFF-775F-497E-A464-BE18F205B3BE}" type="slidenum">
              <a:rPr lang="en-US" smtClean="0"/>
              <a:t>‹#›</a:t>
            </a:fld>
            <a:endParaRPr lang="en-US"/>
          </a:p>
        </p:txBody>
      </p:sp>
    </p:spTree>
    <p:extLst>
      <p:ext uri="{BB962C8B-B14F-4D97-AF65-F5344CB8AC3E}">
        <p14:creationId xmlns:p14="http://schemas.microsoft.com/office/powerpoint/2010/main" val="3690253036"/>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2D2137CC-40D7-D007-487D-09614D0443C3}"/>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77CE23EF-E0A7-0317-5A67-E3B0420A03F0}"/>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3E02E887-A0F5-C4F7-AE18-CEFCB233E380}"/>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7CBB8CD8-01C3-47CB-82B4-8A6B4FAB2887}" type="datetimeFigureOut">
              <a:rPr lang="en-US" smtClean="0"/>
              <a:t>3/8/2026</a:t>
            </a:fld>
            <a:endParaRPr lang="en-US"/>
          </a:p>
        </p:txBody>
      </p:sp>
      <p:sp>
        <p:nvSpPr>
          <p:cNvPr id="5" name="Footer Placeholder 4">
            <a:extLst>
              <a:ext uri="{FF2B5EF4-FFF2-40B4-BE49-F238E27FC236}">
                <a16:creationId xmlns:a16="http://schemas.microsoft.com/office/drawing/2014/main" id="{8AF9A296-2320-6BED-7830-7E6F3D02C5E5}"/>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US"/>
          </a:p>
        </p:txBody>
      </p:sp>
      <p:sp>
        <p:nvSpPr>
          <p:cNvPr id="6" name="Slide Number Placeholder 5">
            <a:extLst>
              <a:ext uri="{FF2B5EF4-FFF2-40B4-BE49-F238E27FC236}">
                <a16:creationId xmlns:a16="http://schemas.microsoft.com/office/drawing/2014/main" id="{E79238EE-1D6D-4DEB-7315-CDB7CF42F061}"/>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15112AFF-775F-497E-A464-BE18F205B3BE}" type="slidenum">
              <a:rPr lang="en-US" smtClean="0"/>
              <a:t>‹#›</a:t>
            </a:fld>
            <a:endParaRPr lang="en-US"/>
          </a:p>
        </p:txBody>
      </p:sp>
    </p:spTree>
    <p:extLst>
      <p:ext uri="{BB962C8B-B14F-4D97-AF65-F5344CB8AC3E}">
        <p14:creationId xmlns:p14="http://schemas.microsoft.com/office/powerpoint/2010/main" val="4249569788"/>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13.xml"/><Relationship Id="rId1" Type="http://schemas.openxmlformats.org/officeDocument/2006/relationships/slideLayout" Target="../slideLayouts/slideLayout2.xml"/><Relationship Id="rId4" Type="http://schemas.openxmlformats.org/officeDocument/2006/relationships/image" Target="../media/image12.png"/></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3" Type="http://schemas.openxmlformats.org/officeDocument/2006/relationships/diagramData" Target="../diagrams/data1.xml"/><Relationship Id="rId7" Type="http://schemas.microsoft.com/office/2007/relationships/diagramDrawing" Target="../diagrams/drawing1.xml"/><Relationship Id="rId2" Type="http://schemas.openxmlformats.org/officeDocument/2006/relationships/notesSlide" Target="../notesSlides/notesSlide16.xml"/><Relationship Id="rId1" Type="http://schemas.openxmlformats.org/officeDocument/2006/relationships/slideLayout" Target="../slideLayouts/slideLayout2.xml"/><Relationship Id="rId6" Type="http://schemas.openxmlformats.org/officeDocument/2006/relationships/diagramColors" Target="../diagrams/colors1.xml"/><Relationship Id="rId5" Type="http://schemas.openxmlformats.org/officeDocument/2006/relationships/diagramQuickStyle" Target="../diagrams/quickStyle1.xml"/><Relationship Id="rId4" Type="http://schemas.openxmlformats.org/officeDocument/2006/relationships/diagramLayout" Target="../diagrams/layout1.xml"/></Relationships>
</file>

<file path=ppt/slides/_rels/slide17.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notesSlide" Target="../notesSlides/notesSlide19.xm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notesSlide" Target="../notesSlides/notesSlide20.xml"/><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notesSlide" Target="../notesSlides/notesSlide21.xml"/><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notesSlide" Target="../notesSlides/notesSlide22.xml"/><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notesSlide" Target="../notesSlides/notesSlide23.xml"/><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notesSlide" Target="../notesSlides/notesSlide24.xml"/><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9" name="Rectangle 18">
            <a:extLst>
              <a:ext uri="{FF2B5EF4-FFF2-40B4-BE49-F238E27FC236}">
                <a16:creationId xmlns:a16="http://schemas.microsoft.com/office/drawing/2014/main" id="{0E30439A-8A5B-46EC-8283-9B6B031D40D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1" name="Rectangle 20">
            <a:extLst>
              <a:ext uri="{FF2B5EF4-FFF2-40B4-BE49-F238E27FC236}">
                <a16:creationId xmlns:a16="http://schemas.microsoft.com/office/drawing/2014/main" id="{5CEAD642-85CF-4750-8432-7C80C901F00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427"/>
            <a:ext cx="12192001" cy="6858000"/>
          </a:xfrm>
          <a:prstGeom prst="rect">
            <a:avLst/>
          </a:prstGeom>
          <a:gradFill>
            <a:gsLst>
              <a:gs pos="0">
                <a:srgbClr val="000000"/>
              </a:gs>
              <a:gs pos="100000">
                <a:schemeClr val="accent1">
                  <a:lumMod val="75000"/>
                </a:schemeClr>
              </a:gs>
            </a:gsLst>
            <a:lin ang="15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2" name="Rectangle 21">
            <a:extLst>
              <a:ext uri="{FF2B5EF4-FFF2-40B4-BE49-F238E27FC236}">
                <a16:creationId xmlns:a16="http://schemas.microsoft.com/office/drawing/2014/main" id="{FA33EEAE-15D5-4119-8C1E-89D943F911E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H="1">
            <a:off x="455521" y="-1720"/>
            <a:ext cx="11750040" cy="6840685"/>
          </a:xfrm>
          <a:prstGeom prst="rect">
            <a:avLst/>
          </a:prstGeom>
          <a:gradFill>
            <a:gsLst>
              <a:gs pos="21000">
                <a:schemeClr val="accent1">
                  <a:lumMod val="50000"/>
                  <a:alpha val="61000"/>
                </a:schemeClr>
              </a:gs>
              <a:gs pos="100000">
                <a:schemeClr val="accent1">
                  <a:alpha val="0"/>
                </a:schemeClr>
              </a:gs>
            </a:gsLst>
            <a:lin ang="21594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3" name="Rectangle 22">
            <a:extLst>
              <a:ext uri="{FF2B5EF4-FFF2-40B4-BE49-F238E27FC236}">
                <a16:creationId xmlns:a16="http://schemas.microsoft.com/office/drawing/2014/main" id="{730D8B3B-9B80-4025-B934-26DC7D7CD23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8606054" y="-1291"/>
            <a:ext cx="3608179" cy="6858864"/>
          </a:xfrm>
          <a:prstGeom prst="rect">
            <a:avLst/>
          </a:prstGeom>
          <a:gradFill>
            <a:gsLst>
              <a:gs pos="0">
                <a:schemeClr val="accent1">
                  <a:lumMod val="75000"/>
                  <a:alpha val="0"/>
                </a:schemeClr>
              </a:gs>
              <a:gs pos="99000">
                <a:srgbClr val="000000">
                  <a:alpha val="41000"/>
                </a:srgbClr>
              </a:gs>
            </a:gsLst>
            <a:lin ang="16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4" name="Oval 23">
            <a:extLst>
              <a:ext uri="{FF2B5EF4-FFF2-40B4-BE49-F238E27FC236}">
                <a16:creationId xmlns:a16="http://schemas.microsoft.com/office/drawing/2014/main" id="{B5A1B09C-1565-46F8-B70F-621C5EB48A0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5274173">
            <a:off x="6059728" y="779270"/>
            <a:ext cx="4967533" cy="4988390"/>
          </a:xfrm>
          <a:prstGeom prst="ellipse">
            <a:avLst/>
          </a:prstGeom>
          <a:gradFill>
            <a:gsLst>
              <a:gs pos="0">
                <a:schemeClr val="accent1">
                  <a:alpha val="24000"/>
                </a:schemeClr>
              </a:gs>
              <a:gs pos="79000">
                <a:schemeClr val="accent1">
                  <a:lumMod val="60000"/>
                  <a:lumOff val="40000"/>
                  <a:alpha val="0"/>
                </a:schemeClr>
              </a:gs>
            </a:gsLst>
            <a:lin ang="14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itle 1">
            <a:extLst>
              <a:ext uri="{FF2B5EF4-FFF2-40B4-BE49-F238E27FC236}">
                <a16:creationId xmlns:a16="http://schemas.microsoft.com/office/drawing/2014/main" id="{B2D1ACC5-1BAD-38DE-DFAC-449E633DFEA4}"/>
              </a:ext>
            </a:extLst>
          </p:cNvPr>
          <p:cNvSpPr>
            <a:spLocks noGrp="1"/>
          </p:cNvSpPr>
          <p:nvPr>
            <p:ph type="ctrTitle"/>
          </p:nvPr>
        </p:nvSpPr>
        <p:spPr>
          <a:xfrm>
            <a:off x="1386865" y="818984"/>
            <a:ext cx="6596245" cy="3268520"/>
          </a:xfrm>
        </p:spPr>
        <p:txBody>
          <a:bodyPr>
            <a:normAutofit/>
          </a:bodyPr>
          <a:lstStyle/>
          <a:p>
            <a:pPr algn="r"/>
            <a:r>
              <a:rPr lang="en-US" sz="4800">
                <a:solidFill>
                  <a:srgbClr val="FFFFFF"/>
                </a:solidFill>
              </a:rPr>
              <a:t>Frito Lay Attrition</a:t>
            </a:r>
          </a:p>
        </p:txBody>
      </p:sp>
      <p:sp>
        <p:nvSpPr>
          <p:cNvPr id="18" name="Rectangle 17">
            <a:extLst>
              <a:ext uri="{FF2B5EF4-FFF2-40B4-BE49-F238E27FC236}">
                <a16:creationId xmlns:a16="http://schemas.microsoft.com/office/drawing/2014/main" id="{8C516CC8-80AC-446C-A56E-9F54B721040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H="1">
            <a:off x="6314" y="4480038"/>
            <a:ext cx="12179371" cy="2377962"/>
          </a:xfrm>
          <a:prstGeom prst="rect">
            <a:avLst/>
          </a:prstGeom>
          <a:gradFill>
            <a:gsLst>
              <a:gs pos="0">
                <a:schemeClr val="accent1">
                  <a:lumMod val="75000"/>
                  <a:alpha val="50000"/>
                </a:schemeClr>
              </a:gs>
              <a:gs pos="99000">
                <a:srgbClr val="000000">
                  <a:alpha val="34000"/>
                </a:srgbClr>
              </a:gs>
            </a:gsLst>
            <a:lin ang="17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Subtitle 2">
            <a:extLst>
              <a:ext uri="{FF2B5EF4-FFF2-40B4-BE49-F238E27FC236}">
                <a16:creationId xmlns:a16="http://schemas.microsoft.com/office/drawing/2014/main" id="{0C282FDB-97AD-EB3C-DCA7-067486F46A5B}"/>
              </a:ext>
            </a:extLst>
          </p:cNvPr>
          <p:cNvSpPr>
            <a:spLocks noGrp="1"/>
          </p:cNvSpPr>
          <p:nvPr>
            <p:ph type="subTitle" idx="1"/>
          </p:nvPr>
        </p:nvSpPr>
        <p:spPr>
          <a:xfrm>
            <a:off x="1931874" y="4797188"/>
            <a:ext cx="6051236" cy="1241828"/>
          </a:xfrm>
        </p:spPr>
        <p:txBody>
          <a:bodyPr>
            <a:normAutofit/>
          </a:bodyPr>
          <a:lstStyle/>
          <a:p>
            <a:pPr algn="r"/>
            <a:r>
              <a:rPr lang="en-US">
                <a:solidFill>
                  <a:srgbClr val="FFFFFF"/>
                </a:solidFill>
              </a:rPr>
              <a:t>Andy Bui</a:t>
            </a:r>
          </a:p>
        </p:txBody>
      </p:sp>
      <p:sp>
        <p:nvSpPr>
          <p:cNvPr id="20" name="Rectangle 19">
            <a:extLst>
              <a:ext uri="{FF2B5EF4-FFF2-40B4-BE49-F238E27FC236}">
                <a16:creationId xmlns:a16="http://schemas.microsoft.com/office/drawing/2014/main" id="{53947E58-F088-49F1-A3D1-DEA690192E8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6200000" flipH="1">
            <a:off x="6967085" y="1632660"/>
            <a:ext cx="6857572" cy="3592258"/>
          </a:xfrm>
          <a:prstGeom prst="rect">
            <a:avLst/>
          </a:prstGeom>
          <a:gradFill>
            <a:gsLst>
              <a:gs pos="0">
                <a:schemeClr val="accent1">
                  <a:lumMod val="75000"/>
                  <a:alpha val="50000"/>
                </a:schemeClr>
              </a:gs>
              <a:gs pos="99000">
                <a:srgbClr val="000000">
                  <a:alpha val="0"/>
                </a:srgbClr>
              </a:gs>
            </a:gsLst>
            <a:lin ang="156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2599374697"/>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47" name="Rectangle 46">
            <a:extLst>
              <a:ext uri="{FF2B5EF4-FFF2-40B4-BE49-F238E27FC236}">
                <a16:creationId xmlns:a16="http://schemas.microsoft.com/office/drawing/2014/main" id="{A8384FB5-9ADC-4DDC-881B-597D56F5B15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8" name="Rectangle 47">
            <a:extLst>
              <a:ext uri="{FF2B5EF4-FFF2-40B4-BE49-F238E27FC236}">
                <a16:creationId xmlns:a16="http://schemas.microsoft.com/office/drawing/2014/main" id="{91E5A9A7-95C6-4F4F-B00E-C82E07FE62E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1417539" y="1417538"/>
            <a:ext cx="6875818" cy="4040744"/>
          </a:xfrm>
          <a:prstGeom prst="rect">
            <a:avLst/>
          </a:prstGeom>
          <a:gradFill>
            <a:gsLst>
              <a:gs pos="0">
                <a:srgbClr val="000000"/>
              </a:gs>
              <a:gs pos="100000">
                <a:schemeClr val="accent1">
                  <a:lumMod val="75000"/>
                </a:schemeClr>
              </a:gs>
            </a:gsLst>
            <a:lin ang="186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49" name="Rectangle 48">
            <a:extLst>
              <a:ext uri="{FF2B5EF4-FFF2-40B4-BE49-F238E27FC236}">
                <a16:creationId xmlns:a16="http://schemas.microsoft.com/office/drawing/2014/main" id="{D07DD2DE-F619-49DD-B5E7-03A290FF4ED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6200000">
            <a:off x="-158495" y="2660473"/>
            <a:ext cx="4355594" cy="4038603"/>
          </a:xfrm>
          <a:prstGeom prst="rect">
            <a:avLst/>
          </a:prstGeom>
          <a:gradFill>
            <a:gsLst>
              <a:gs pos="0">
                <a:schemeClr val="accent1">
                  <a:alpha val="50000"/>
                </a:schemeClr>
              </a:gs>
              <a:gs pos="100000">
                <a:schemeClr val="accent1">
                  <a:lumMod val="50000"/>
                  <a:alpha val="0"/>
                </a:schemeClr>
              </a:gs>
            </a:gsLst>
            <a:lin ang="11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0" name="Rectangle 49">
            <a:extLst>
              <a:ext uri="{FF2B5EF4-FFF2-40B4-BE49-F238E27FC236}">
                <a16:creationId xmlns:a16="http://schemas.microsoft.com/office/drawing/2014/main" id="{85149191-5F60-4A28-AAFF-039F96B0F3E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6200000" flipH="1">
            <a:off x="-1180882" y="1638085"/>
            <a:ext cx="6857572" cy="3581401"/>
          </a:xfrm>
          <a:prstGeom prst="rect">
            <a:avLst/>
          </a:prstGeom>
          <a:gradFill>
            <a:gsLst>
              <a:gs pos="0">
                <a:srgbClr val="000000">
                  <a:alpha val="59000"/>
                </a:srgbClr>
              </a:gs>
              <a:gs pos="69000">
                <a:schemeClr val="accent1">
                  <a:alpha val="0"/>
                </a:schemeClr>
              </a:gs>
            </a:gsLst>
            <a:lin ang="13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46" name="Freeform: Shape 45">
            <a:extLst>
              <a:ext uri="{FF2B5EF4-FFF2-40B4-BE49-F238E27FC236}">
                <a16:creationId xmlns:a16="http://schemas.microsoft.com/office/drawing/2014/main" id="{F8260ED5-17F7-4158-B241-D51DD4CF1B7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6097846">
            <a:off x="-747355" y="1201312"/>
            <a:ext cx="4808302" cy="4088666"/>
          </a:xfrm>
          <a:custGeom>
            <a:avLst/>
            <a:gdLst>
              <a:gd name="connsiteX0" fmla="*/ 48844 w 4808302"/>
              <a:gd name="connsiteY0" fmla="*/ 2888671 h 4088666"/>
              <a:gd name="connsiteX1" fmla="*/ 0 w 4808302"/>
              <a:gd name="connsiteY1" fmla="*/ 2404151 h 4088666"/>
              <a:gd name="connsiteX2" fmla="*/ 2404151 w 4808302"/>
              <a:gd name="connsiteY2" fmla="*/ 0 h 4088666"/>
              <a:gd name="connsiteX3" fmla="*/ 4808302 w 4808302"/>
              <a:gd name="connsiteY3" fmla="*/ 2404151 h 4088666"/>
              <a:gd name="connsiteX4" fmla="*/ 4700216 w 4808302"/>
              <a:gd name="connsiteY4" fmla="*/ 3119072 h 4088666"/>
              <a:gd name="connsiteX5" fmla="*/ 4643143 w 4808302"/>
              <a:gd name="connsiteY5" fmla="*/ 3275009 h 4088666"/>
              <a:gd name="connsiteX6" fmla="*/ 690093 w 4808302"/>
              <a:gd name="connsiteY6" fmla="*/ 4088666 h 4088666"/>
              <a:gd name="connsiteX7" fmla="*/ 548991 w 4808302"/>
              <a:gd name="connsiteY7" fmla="*/ 3933414 h 4088666"/>
              <a:gd name="connsiteX8" fmla="*/ 48844 w 4808302"/>
              <a:gd name="connsiteY8" fmla="*/ 2888671 h 40886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4808302" h="4088666">
                <a:moveTo>
                  <a:pt x="48844" y="2888671"/>
                </a:moveTo>
                <a:cubicBezTo>
                  <a:pt x="16818" y="2732167"/>
                  <a:pt x="0" y="2570123"/>
                  <a:pt x="0" y="2404151"/>
                </a:cubicBezTo>
                <a:cubicBezTo>
                  <a:pt x="0" y="1076375"/>
                  <a:pt x="1076375" y="0"/>
                  <a:pt x="2404151" y="0"/>
                </a:cubicBezTo>
                <a:cubicBezTo>
                  <a:pt x="3731927" y="0"/>
                  <a:pt x="4808302" y="1076375"/>
                  <a:pt x="4808302" y="2404151"/>
                </a:cubicBezTo>
                <a:cubicBezTo>
                  <a:pt x="4808302" y="2653109"/>
                  <a:pt x="4770461" y="2893229"/>
                  <a:pt x="4700216" y="3119072"/>
                </a:cubicBezTo>
                <a:lnTo>
                  <a:pt x="4643143" y="3275009"/>
                </a:lnTo>
                <a:lnTo>
                  <a:pt x="690093" y="4088666"/>
                </a:lnTo>
                <a:lnTo>
                  <a:pt x="548991" y="3933414"/>
                </a:lnTo>
                <a:cubicBezTo>
                  <a:pt x="304015" y="3636572"/>
                  <a:pt x="128908" y="3279932"/>
                  <a:pt x="48844" y="2888671"/>
                </a:cubicBezTo>
                <a:close/>
              </a:path>
            </a:pathLst>
          </a:custGeom>
          <a:gradFill>
            <a:gsLst>
              <a:gs pos="39000">
                <a:schemeClr val="accent1">
                  <a:lumMod val="60000"/>
                  <a:lumOff val="40000"/>
                  <a:alpha val="0"/>
                </a:schemeClr>
              </a:gs>
              <a:gs pos="100000">
                <a:schemeClr val="accent1">
                  <a:lumMod val="75000"/>
                  <a:alpha val="26000"/>
                </a:schemeClr>
              </a:gs>
            </a:gsLst>
            <a:lin ang="186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51" name="Title 1">
            <a:extLst>
              <a:ext uri="{FF2B5EF4-FFF2-40B4-BE49-F238E27FC236}">
                <a16:creationId xmlns:a16="http://schemas.microsoft.com/office/drawing/2014/main" id="{E423468E-9F24-0801-EC92-88DB6A983E87}"/>
              </a:ext>
            </a:extLst>
          </p:cNvPr>
          <p:cNvSpPr>
            <a:spLocks noGrp="1"/>
          </p:cNvSpPr>
          <p:nvPr>
            <p:ph type="title"/>
          </p:nvPr>
        </p:nvSpPr>
        <p:spPr>
          <a:xfrm>
            <a:off x="98614" y="1262156"/>
            <a:ext cx="3832035" cy="1222002"/>
          </a:xfrm>
        </p:spPr>
        <p:txBody>
          <a:bodyPr vert="horz" lIns="91440" tIns="45720" rIns="91440" bIns="45720" rtlCol="0" anchor="t">
            <a:normAutofit/>
          </a:bodyPr>
          <a:lstStyle/>
          <a:p>
            <a:r>
              <a:rPr lang="en-US" sz="4000" kern="1200" dirty="0">
                <a:solidFill>
                  <a:srgbClr val="FFFFFF"/>
                </a:solidFill>
                <a:latin typeface="+mj-lt"/>
                <a:ea typeface="+mj-ea"/>
                <a:cs typeface="+mj-cs"/>
              </a:rPr>
              <a:t>Employee Attrition Data</a:t>
            </a:r>
          </a:p>
        </p:txBody>
      </p:sp>
      <p:sp>
        <p:nvSpPr>
          <p:cNvPr id="15" name="TextBox 14">
            <a:extLst>
              <a:ext uri="{FF2B5EF4-FFF2-40B4-BE49-F238E27FC236}">
                <a16:creationId xmlns:a16="http://schemas.microsoft.com/office/drawing/2014/main" id="{9B84B18C-AD3B-621A-064D-59ADB6257943}"/>
              </a:ext>
            </a:extLst>
          </p:cNvPr>
          <p:cNvSpPr txBox="1"/>
          <p:nvPr/>
        </p:nvSpPr>
        <p:spPr>
          <a:xfrm>
            <a:off x="120650" y="2654300"/>
            <a:ext cx="3683000" cy="2031325"/>
          </a:xfrm>
          <a:prstGeom prst="rect">
            <a:avLst/>
          </a:prstGeom>
          <a:noFill/>
        </p:spPr>
        <p:txBody>
          <a:bodyPr wrap="square" rtlCol="0">
            <a:spAutoFit/>
          </a:bodyPr>
          <a:lstStyle/>
          <a:p>
            <a:pPr marL="285750" indent="-285750">
              <a:buFont typeface="Arial" panose="020B0604020202020204" pitchFamily="34" charset="0"/>
              <a:buChar char="•"/>
            </a:pPr>
            <a:r>
              <a:rPr lang="en-US" dirty="0">
                <a:solidFill>
                  <a:schemeClr val="bg1"/>
                </a:solidFill>
              </a:rPr>
              <a:t>Frito Lay’s has a total of 870 employees</a:t>
            </a:r>
          </a:p>
          <a:p>
            <a:pPr marL="742950" lvl="1" indent="-285750">
              <a:buFont typeface="Arial" panose="020B0604020202020204" pitchFamily="34" charset="0"/>
              <a:buChar char="•"/>
            </a:pPr>
            <a:r>
              <a:rPr lang="en-US" dirty="0">
                <a:solidFill>
                  <a:schemeClr val="bg1"/>
                </a:solidFill>
              </a:rPr>
              <a:t>730 Still Employed</a:t>
            </a:r>
          </a:p>
          <a:p>
            <a:pPr marL="1200150" lvl="2" indent="-285750">
              <a:buFont typeface="Arial" panose="020B0604020202020204" pitchFamily="34" charset="0"/>
              <a:buChar char="•"/>
            </a:pPr>
            <a:r>
              <a:rPr lang="en-US" dirty="0">
                <a:solidFill>
                  <a:schemeClr val="bg1"/>
                </a:solidFill>
              </a:rPr>
              <a:t>About 84%</a:t>
            </a:r>
          </a:p>
          <a:p>
            <a:pPr marL="742950" lvl="1" indent="-285750">
              <a:buFont typeface="Arial" panose="020B0604020202020204" pitchFamily="34" charset="0"/>
              <a:buChar char="•"/>
            </a:pPr>
            <a:r>
              <a:rPr lang="en-US" dirty="0">
                <a:solidFill>
                  <a:schemeClr val="bg1"/>
                </a:solidFill>
              </a:rPr>
              <a:t>140 Quit</a:t>
            </a:r>
          </a:p>
          <a:p>
            <a:pPr marL="1200150" lvl="2" indent="-285750">
              <a:buFont typeface="Arial" panose="020B0604020202020204" pitchFamily="34" charset="0"/>
              <a:buChar char="•"/>
            </a:pPr>
            <a:r>
              <a:rPr lang="en-US" dirty="0">
                <a:solidFill>
                  <a:schemeClr val="bg1"/>
                </a:solidFill>
              </a:rPr>
              <a:t>About 16%</a:t>
            </a:r>
          </a:p>
          <a:p>
            <a:pPr marL="285750" indent="-285750">
              <a:buFont typeface="Arial" panose="020B0604020202020204" pitchFamily="34" charset="0"/>
              <a:buChar char="•"/>
            </a:pPr>
            <a:endParaRPr lang="en-US" dirty="0">
              <a:solidFill>
                <a:schemeClr val="bg1"/>
              </a:solidFill>
            </a:endParaRPr>
          </a:p>
        </p:txBody>
      </p:sp>
      <p:pic>
        <p:nvPicPr>
          <p:cNvPr id="7" name="Picture 6">
            <a:extLst>
              <a:ext uri="{FF2B5EF4-FFF2-40B4-BE49-F238E27FC236}">
                <a16:creationId xmlns:a16="http://schemas.microsoft.com/office/drawing/2014/main" id="{2B779E83-C20F-891D-25AD-800503244F11}"/>
              </a:ext>
            </a:extLst>
          </p:cNvPr>
          <p:cNvPicPr>
            <a:picLocks noChangeAspect="1"/>
          </p:cNvPicPr>
          <p:nvPr/>
        </p:nvPicPr>
        <p:blipFill>
          <a:blip r:embed="rId3"/>
          <a:stretch>
            <a:fillRect/>
          </a:stretch>
        </p:blipFill>
        <p:spPr>
          <a:xfrm>
            <a:off x="4105276" y="-1"/>
            <a:ext cx="8020051" cy="6867469"/>
          </a:xfrm>
          <a:prstGeom prst="rect">
            <a:avLst/>
          </a:prstGeom>
        </p:spPr>
      </p:pic>
    </p:spTree>
    <p:extLst>
      <p:ext uri="{BB962C8B-B14F-4D97-AF65-F5344CB8AC3E}">
        <p14:creationId xmlns:p14="http://schemas.microsoft.com/office/powerpoint/2010/main" val="3944998518"/>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0A5ACDDC-F225-FAEE-C4A1-CBA9D3E74715}"/>
            </a:ext>
          </a:extLst>
        </p:cNvPr>
        <p:cNvGrpSpPr/>
        <p:nvPr/>
      </p:nvGrpSpPr>
      <p:grpSpPr>
        <a:xfrm>
          <a:off x="0" y="0"/>
          <a:ext cx="0" cy="0"/>
          <a:chOff x="0" y="0"/>
          <a:chExt cx="0" cy="0"/>
        </a:xfrm>
      </p:grpSpPr>
      <p:sp useBgFill="1">
        <p:nvSpPr>
          <p:cNvPr id="37" name="Rectangle 36">
            <a:extLst>
              <a:ext uri="{FF2B5EF4-FFF2-40B4-BE49-F238E27FC236}">
                <a16:creationId xmlns:a16="http://schemas.microsoft.com/office/drawing/2014/main" id="{DA9C8D46-54D8-4DF1-99A2-E651C7B132F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8" name="Rectangle 37">
            <a:extLst>
              <a:ext uri="{FF2B5EF4-FFF2-40B4-BE49-F238E27FC236}">
                <a16:creationId xmlns:a16="http://schemas.microsoft.com/office/drawing/2014/main" id="{9715DAF0-AE1B-46C9-8A6B-DB2AA05AB91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a:off x="-1" y="0"/>
            <a:ext cx="12191999" cy="6858000"/>
          </a:xfrm>
          <a:prstGeom prst="rect">
            <a:avLst/>
          </a:prstGeom>
          <a:gradFill>
            <a:gsLst>
              <a:gs pos="0">
                <a:schemeClr val="accent1">
                  <a:lumMod val="50000"/>
                </a:schemeClr>
              </a:gs>
              <a:gs pos="100000">
                <a:srgbClr val="000000"/>
              </a:gs>
            </a:gsLst>
            <a:lin ang="9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9" name="Freeform: Shape 38">
            <a:extLst>
              <a:ext uri="{FF2B5EF4-FFF2-40B4-BE49-F238E27FC236}">
                <a16:creationId xmlns:a16="http://schemas.microsoft.com/office/drawing/2014/main" id="{DE12BF4D-F47A-41C1-85FC-652E412D3B4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3988591">
            <a:off x="7897613" y="684022"/>
            <a:ext cx="5330585" cy="5218721"/>
          </a:xfrm>
          <a:custGeom>
            <a:avLst/>
            <a:gdLst>
              <a:gd name="connsiteX0" fmla="*/ 4721855 w 5330585"/>
              <a:gd name="connsiteY0" fmla="*/ 4361426 h 5218721"/>
              <a:gd name="connsiteX1" fmla="*/ 3457542 w 5330585"/>
              <a:gd name="connsiteY1" fmla="*/ 5211667 h 5218721"/>
              <a:gd name="connsiteX2" fmla="*/ 3430109 w 5330585"/>
              <a:gd name="connsiteY2" fmla="*/ 5218721 h 5218721"/>
              <a:gd name="connsiteX3" fmla="*/ 0 w 5330585"/>
              <a:gd name="connsiteY3" fmla="*/ 2647363 h 5218721"/>
              <a:gd name="connsiteX4" fmla="*/ 12834 w 5330585"/>
              <a:gd name="connsiteY4" fmla="*/ 2393199 h 5218721"/>
              <a:gd name="connsiteX5" fmla="*/ 2664828 w 5330585"/>
              <a:gd name="connsiteY5" fmla="*/ 0 h 5218721"/>
              <a:gd name="connsiteX6" fmla="*/ 5330585 w 5330585"/>
              <a:gd name="connsiteY6" fmla="*/ 2665757 h 5218721"/>
              <a:gd name="connsiteX7" fmla="*/ 4721855 w 5330585"/>
              <a:gd name="connsiteY7" fmla="*/ 4361426 h 521872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5330585" h="5218721">
                <a:moveTo>
                  <a:pt x="4721855" y="4361426"/>
                </a:moveTo>
                <a:cubicBezTo>
                  <a:pt x="4395896" y="4756397"/>
                  <a:pt x="3958379" y="5055891"/>
                  <a:pt x="3457542" y="5211667"/>
                </a:cubicBezTo>
                <a:lnTo>
                  <a:pt x="3430109" y="5218721"/>
                </a:lnTo>
                <a:lnTo>
                  <a:pt x="0" y="2647363"/>
                </a:lnTo>
                <a:lnTo>
                  <a:pt x="12834" y="2393199"/>
                </a:lnTo>
                <a:cubicBezTo>
                  <a:pt x="149347" y="1048975"/>
                  <a:pt x="1284587" y="0"/>
                  <a:pt x="2664828" y="0"/>
                </a:cubicBezTo>
                <a:cubicBezTo>
                  <a:pt x="4137085" y="0"/>
                  <a:pt x="5330585" y="1193500"/>
                  <a:pt x="5330585" y="2665757"/>
                </a:cubicBezTo>
                <a:cubicBezTo>
                  <a:pt x="5330585" y="3309870"/>
                  <a:pt x="5102142" y="3900626"/>
                  <a:pt x="4721855" y="4361426"/>
                </a:cubicBezTo>
                <a:close/>
              </a:path>
            </a:pathLst>
          </a:custGeom>
          <a:gradFill>
            <a:gsLst>
              <a:gs pos="16000">
                <a:srgbClr val="000000">
                  <a:alpha val="41000"/>
                </a:srgbClr>
              </a:gs>
              <a:gs pos="85000">
                <a:schemeClr val="accent1">
                  <a:alpha val="25000"/>
                </a:schemeClr>
              </a:gs>
            </a:gsLst>
            <a:lin ang="14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40" name="Rectangle 39">
            <a:extLst>
              <a:ext uri="{FF2B5EF4-FFF2-40B4-BE49-F238E27FC236}">
                <a16:creationId xmlns:a16="http://schemas.microsoft.com/office/drawing/2014/main" id="{AAF055B3-1F95-4ABA-BFE4-A58320A8206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H="1">
            <a:off x="0" y="0"/>
            <a:ext cx="12165981" cy="4480890"/>
          </a:xfrm>
          <a:prstGeom prst="rect">
            <a:avLst/>
          </a:prstGeom>
          <a:gradFill>
            <a:gsLst>
              <a:gs pos="0">
                <a:schemeClr val="accent1">
                  <a:lumMod val="75000"/>
                  <a:alpha val="50000"/>
                </a:schemeClr>
              </a:gs>
              <a:gs pos="99000">
                <a:srgbClr val="000000">
                  <a:alpha val="34000"/>
                </a:srgbClr>
              </a:gs>
            </a:gsLst>
            <a:lin ang="156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1" name="Rectangle 40">
            <a:extLst>
              <a:ext uri="{FF2B5EF4-FFF2-40B4-BE49-F238E27FC236}">
                <a16:creationId xmlns:a16="http://schemas.microsoft.com/office/drawing/2014/main" id="{65FBF53F-BBBA-4974-AD72-0E8CD294E50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a:off x="12622" y="-2"/>
            <a:ext cx="12179371" cy="6400796"/>
          </a:xfrm>
          <a:prstGeom prst="rect">
            <a:avLst/>
          </a:prstGeom>
          <a:gradFill>
            <a:gsLst>
              <a:gs pos="45000">
                <a:schemeClr val="accent1">
                  <a:lumMod val="75000"/>
                  <a:alpha val="0"/>
                </a:schemeClr>
              </a:gs>
              <a:gs pos="99000">
                <a:srgbClr val="000000">
                  <a:alpha val="68000"/>
                </a:srgbClr>
              </a:gs>
            </a:gsLst>
            <a:lin ang="13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3936E693-A7BA-DA0D-1622-622C0D6AF1C1}"/>
              </a:ext>
            </a:extLst>
          </p:cNvPr>
          <p:cNvSpPr>
            <a:spLocks noGrp="1"/>
          </p:cNvSpPr>
          <p:nvPr>
            <p:ph type="ctrTitle"/>
          </p:nvPr>
        </p:nvSpPr>
        <p:spPr>
          <a:xfrm>
            <a:off x="4221803" y="1201002"/>
            <a:ext cx="7208197" cy="2779619"/>
          </a:xfrm>
        </p:spPr>
        <p:txBody>
          <a:bodyPr anchor="b">
            <a:normAutofit/>
          </a:bodyPr>
          <a:lstStyle/>
          <a:p>
            <a:pPr algn="l"/>
            <a:r>
              <a:rPr lang="en-US" sz="4800">
                <a:solidFill>
                  <a:srgbClr val="FFFFFF"/>
                </a:solidFill>
              </a:rPr>
              <a:t>Possible Attrition Factors</a:t>
            </a:r>
            <a:endParaRPr lang="en-US" sz="4800" dirty="0">
              <a:solidFill>
                <a:srgbClr val="FFFFFF"/>
              </a:solidFill>
            </a:endParaRPr>
          </a:p>
        </p:txBody>
      </p:sp>
      <p:sp>
        <p:nvSpPr>
          <p:cNvPr id="42" name="Rectangle 41">
            <a:extLst>
              <a:ext uri="{FF2B5EF4-FFF2-40B4-BE49-F238E27FC236}">
                <a16:creationId xmlns:a16="http://schemas.microsoft.com/office/drawing/2014/main" id="{5A2875D7-3769-4291-959E-9FAD764A760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32461" y="0"/>
            <a:ext cx="3214360" cy="6858000"/>
          </a:xfrm>
          <a:prstGeom prst="rect">
            <a:avLst/>
          </a:prstGeom>
          <a:gradFill>
            <a:gsLst>
              <a:gs pos="0">
                <a:srgbClr val="000000">
                  <a:alpha val="41000"/>
                </a:srgbClr>
              </a:gs>
              <a:gs pos="86000">
                <a:schemeClr val="accent1">
                  <a:alpha val="3000"/>
                </a:schemeClr>
              </a:gs>
            </a:gsLst>
            <a:lin ang="2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Tree>
    <p:extLst>
      <p:ext uri="{BB962C8B-B14F-4D97-AF65-F5344CB8AC3E}">
        <p14:creationId xmlns:p14="http://schemas.microsoft.com/office/powerpoint/2010/main" val="235391159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500"/>
                                  </p:stCondLst>
                                  <p:iterate>
                                    <p:tmPct val="10000"/>
                                  </p:iterate>
                                  <p:childTnLst>
                                    <p:set>
                                      <p:cBhvr>
                                        <p:cTn id="6" dur="1" fill="hold">
                                          <p:stCondLst>
                                            <p:cond delay="0"/>
                                          </p:stCondLst>
                                        </p:cTn>
                                        <p:tgtEl>
                                          <p:spTgt spid="2"/>
                                        </p:tgtEl>
                                        <p:attrNameLst>
                                          <p:attrName>style.visibility</p:attrName>
                                        </p:attrNameLst>
                                      </p:cBhvr>
                                      <p:to>
                                        <p:strVal val="visible"/>
                                      </p:to>
                                    </p:set>
                                    <p:animEffect transition="in" filter="fade">
                                      <p:cBhvr>
                                        <p:cTn id="7" dur="7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36" name="Rectangle 35">
            <a:extLst>
              <a:ext uri="{FF2B5EF4-FFF2-40B4-BE49-F238E27FC236}">
                <a16:creationId xmlns:a16="http://schemas.microsoft.com/office/drawing/2014/main" id="{979E27D9-03C7-44E2-9FF8-15D0C8506AF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Title 1">
            <a:extLst>
              <a:ext uri="{FF2B5EF4-FFF2-40B4-BE49-F238E27FC236}">
                <a16:creationId xmlns:a16="http://schemas.microsoft.com/office/drawing/2014/main" id="{5F301F44-0BDC-5DC6-CD75-067691E30E78}"/>
              </a:ext>
            </a:extLst>
          </p:cNvPr>
          <p:cNvSpPr txBox="1">
            <a:spLocks/>
          </p:cNvSpPr>
          <p:nvPr/>
        </p:nvSpPr>
        <p:spPr>
          <a:xfrm>
            <a:off x="1136397" y="502021"/>
            <a:ext cx="4959603" cy="1642969"/>
          </a:xfrm>
          <a:prstGeom prst="rect">
            <a:avLst/>
          </a:prstGeom>
        </p:spPr>
        <p:txBody>
          <a:bodyPr vert="horz" lIns="91440" tIns="45720" rIns="91440" bIns="45720" rtlCol="0" anchor="b">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spcAft>
                <a:spcPts val="600"/>
              </a:spcAft>
            </a:pPr>
            <a:r>
              <a:rPr lang="en-US" sz="4000" kern="1200" dirty="0">
                <a:solidFill>
                  <a:schemeClr val="tx1"/>
                </a:solidFill>
                <a:latin typeface="+mj-lt"/>
                <a:ea typeface="+mj-ea"/>
                <a:cs typeface="+mj-cs"/>
              </a:rPr>
              <a:t>Gender</a:t>
            </a:r>
          </a:p>
        </p:txBody>
      </p:sp>
      <p:sp>
        <p:nvSpPr>
          <p:cNvPr id="11" name="TextBox 10">
            <a:extLst>
              <a:ext uri="{FF2B5EF4-FFF2-40B4-BE49-F238E27FC236}">
                <a16:creationId xmlns:a16="http://schemas.microsoft.com/office/drawing/2014/main" id="{A1A0B915-997D-9996-D58A-84CC4ADF8599}"/>
              </a:ext>
            </a:extLst>
          </p:cNvPr>
          <p:cNvSpPr txBox="1"/>
          <p:nvPr/>
        </p:nvSpPr>
        <p:spPr>
          <a:xfrm>
            <a:off x="1136397" y="2418408"/>
            <a:ext cx="4959603" cy="3522569"/>
          </a:xfrm>
          <a:prstGeom prst="rect">
            <a:avLst/>
          </a:prstGeom>
        </p:spPr>
        <p:txBody>
          <a:bodyPr vert="horz" lIns="91440" tIns="45720" rIns="91440" bIns="45720" rtlCol="0" anchor="t">
            <a:normAutofit/>
          </a:bodyPr>
          <a:lstStyle/>
          <a:p>
            <a:pPr marL="285750" indent="-228600">
              <a:lnSpc>
                <a:spcPct val="90000"/>
              </a:lnSpc>
              <a:spcAft>
                <a:spcPts val="600"/>
              </a:spcAft>
              <a:buFont typeface="Arial" panose="020B0604020202020204" pitchFamily="34" charset="0"/>
              <a:buChar char="•"/>
            </a:pPr>
            <a:r>
              <a:rPr lang="en-US" sz="2000" dirty="0"/>
              <a:t>Attrition By Gender</a:t>
            </a:r>
          </a:p>
          <a:p>
            <a:pPr marL="742950" lvl="1" indent="-228600">
              <a:lnSpc>
                <a:spcPct val="90000"/>
              </a:lnSpc>
              <a:spcAft>
                <a:spcPts val="600"/>
              </a:spcAft>
              <a:buFont typeface="Arial" panose="020B0604020202020204" pitchFamily="34" charset="0"/>
              <a:buChar char="•"/>
            </a:pPr>
            <a:r>
              <a:rPr lang="en-US" sz="2000" dirty="0"/>
              <a:t>Female</a:t>
            </a:r>
          </a:p>
          <a:p>
            <a:pPr marL="1200150" lvl="2" indent="-228600">
              <a:lnSpc>
                <a:spcPct val="90000"/>
              </a:lnSpc>
              <a:spcAft>
                <a:spcPts val="600"/>
              </a:spcAft>
              <a:buFont typeface="Arial" panose="020B0604020202020204" pitchFamily="34" charset="0"/>
              <a:buChar char="•"/>
            </a:pPr>
            <a:r>
              <a:rPr lang="en-US" sz="2000" dirty="0"/>
              <a:t>15%</a:t>
            </a:r>
          </a:p>
          <a:p>
            <a:pPr marL="742950" lvl="1" indent="-228600">
              <a:lnSpc>
                <a:spcPct val="90000"/>
              </a:lnSpc>
              <a:spcAft>
                <a:spcPts val="600"/>
              </a:spcAft>
              <a:buFont typeface="Arial" panose="020B0604020202020204" pitchFamily="34" charset="0"/>
              <a:buChar char="•"/>
            </a:pPr>
            <a:r>
              <a:rPr lang="en-US" sz="2000" dirty="0"/>
              <a:t>Male</a:t>
            </a:r>
          </a:p>
          <a:p>
            <a:pPr marL="1200150" lvl="2" indent="-228600">
              <a:lnSpc>
                <a:spcPct val="90000"/>
              </a:lnSpc>
              <a:spcAft>
                <a:spcPts val="600"/>
              </a:spcAft>
              <a:buFont typeface="Arial" panose="020B0604020202020204" pitchFamily="34" charset="0"/>
              <a:buChar char="•"/>
            </a:pPr>
            <a:r>
              <a:rPr lang="en-US" sz="2000" dirty="0"/>
              <a:t>16.9%</a:t>
            </a:r>
          </a:p>
          <a:p>
            <a:pPr marL="285750" indent="-228600">
              <a:lnSpc>
                <a:spcPct val="90000"/>
              </a:lnSpc>
              <a:spcAft>
                <a:spcPts val="600"/>
              </a:spcAft>
              <a:buFont typeface="Arial" panose="020B0604020202020204" pitchFamily="34" charset="0"/>
              <a:buChar char="•"/>
            </a:pPr>
            <a:r>
              <a:rPr lang="en-US" sz="2000" dirty="0"/>
              <a:t>Attrition percentage within gender group is similar to the opposite gender</a:t>
            </a:r>
          </a:p>
          <a:p>
            <a:pPr marL="285750" indent="-228600">
              <a:lnSpc>
                <a:spcPct val="90000"/>
              </a:lnSpc>
              <a:spcAft>
                <a:spcPts val="600"/>
              </a:spcAft>
              <a:buFont typeface="Arial" panose="020B0604020202020204" pitchFamily="34" charset="0"/>
              <a:buChar char="•"/>
            </a:pPr>
            <a:r>
              <a:rPr lang="en-US" sz="2000" dirty="0"/>
              <a:t>Gender plays minimal roll in attrition</a:t>
            </a:r>
          </a:p>
          <a:p>
            <a:pPr marL="285750" indent="-228600">
              <a:lnSpc>
                <a:spcPct val="90000"/>
              </a:lnSpc>
              <a:spcAft>
                <a:spcPts val="600"/>
              </a:spcAft>
              <a:buFont typeface="Arial" panose="020B0604020202020204" pitchFamily="34" charset="0"/>
              <a:buChar char="•"/>
            </a:pPr>
            <a:r>
              <a:rPr lang="en-US" sz="2000" dirty="0"/>
              <a:t>Can remove Gender as a factor for attrition</a:t>
            </a:r>
          </a:p>
          <a:p>
            <a:pPr marL="285750" indent="-228600">
              <a:lnSpc>
                <a:spcPct val="90000"/>
              </a:lnSpc>
              <a:spcAft>
                <a:spcPts val="600"/>
              </a:spcAft>
              <a:buFont typeface="Arial" panose="020B0604020202020204" pitchFamily="34" charset="0"/>
              <a:buChar char="•"/>
            </a:pPr>
            <a:endParaRPr lang="en-US" sz="2000" dirty="0"/>
          </a:p>
        </p:txBody>
      </p:sp>
      <p:pic>
        <p:nvPicPr>
          <p:cNvPr id="3" name="Picture 2">
            <a:extLst>
              <a:ext uri="{FF2B5EF4-FFF2-40B4-BE49-F238E27FC236}">
                <a16:creationId xmlns:a16="http://schemas.microsoft.com/office/drawing/2014/main" id="{1245CEF6-A3A3-7157-ECA8-0D6C16C6B763}"/>
              </a:ext>
            </a:extLst>
          </p:cNvPr>
          <p:cNvPicPr>
            <a:picLocks noChangeAspect="1"/>
          </p:cNvPicPr>
          <p:nvPr/>
        </p:nvPicPr>
        <p:blipFill>
          <a:blip r:embed="rId3"/>
          <a:stretch>
            <a:fillRect/>
          </a:stretch>
        </p:blipFill>
        <p:spPr>
          <a:xfrm>
            <a:off x="6512442" y="1616306"/>
            <a:ext cx="5201023" cy="3211631"/>
          </a:xfrm>
          <a:prstGeom prst="rect">
            <a:avLst/>
          </a:prstGeom>
        </p:spPr>
      </p:pic>
      <p:sp>
        <p:nvSpPr>
          <p:cNvPr id="38" name="Rectangle 37">
            <a:extLst>
              <a:ext uri="{FF2B5EF4-FFF2-40B4-BE49-F238E27FC236}">
                <a16:creationId xmlns:a16="http://schemas.microsoft.com/office/drawing/2014/main" id="{EEBF1590-3B36-48EE-A89D-3B6F3CB256A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H="1">
            <a:off x="0" y="6400799"/>
            <a:ext cx="12192000" cy="456773"/>
          </a:xfrm>
          <a:prstGeom prst="rect">
            <a:avLst/>
          </a:prstGeom>
          <a:gradFill>
            <a:gsLst>
              <a:gs pos="0">
                <a:schemeClr val="accent1"/>
              </a:gs>
              <a:gs pos="78000">
                <a:srgbClr val="000000"/>
              </a:gs>
            </a:gsLst>
            <a:lin ang="2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0" name="Rectangle 39">
            <a:extLst>
              <a:ext uri="{FF2B5EF4-FFF2-40B4-BE49-F238E27FC236}">
                <a16:creationId xmlns:a16="http://schemas.microsoft.com/office/drawing/2014/main" id="{AC8F6C8C-AB5A-4548-942D-E3FD40ACBC4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4038600" y="6400799"/>
            <a:ext cx="8153398" cy="456772"/>
          </a:xfrm>
          <a:prstGeom prst="rect">
            <a:avLst/>
          </a:prstGeom>
          <a:gradFill>
            <a:gsLst>
              <a:gs pos="0">
                <a:srgbClr val="000000">
                  <a:alpha val="63000"/>
                </a:srgbClr>
              </a:gs>
              <a:gs pos="100000">
                <a:schemeClr val="accent1">
                  <a:lumMod val="75000"/>
                </a:schemeClr>
              </a:gs>
            </a:gsLst>
            <a:lin ang="13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2363827700"/>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69" name="Rectangle 68">
            <a:extLst>
              <a:ext uri="{FF2B5EF4-FFF2-40B4-BE49-F238E27FC236}">
                <a16:creationId xmlns:a16="http://schemas.microsoft.com/office/drawing/2014/main" id="{979E27D9-03C7-44E2-9FF8-15D0C8506AF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B6727941-7B5D-EC9A-2DBD-E6C8DCE967A8}"/>
              </a:ext>
            </a:extLst>
          </p:cNvPr>
          <p:cNvSpPr>
            <a:spLocks noGrp="1"/>
          </p:cNvSpPr>
          <p:nvPr>
            <p:ph type="title"/>
          </p:nvPr>
        </p:nvSpPr>
        <p:spPr>
          <a:xfrm>
            <a:off x="1136397" y="502021"/>
            <a:ext cx="4959603" cy="1642969"/>
          </a:xfrm>
        </p:spPr>
        <p:txBody>
          <a:bodyPr vert="horz" lIns="91440" tIns="45720" rIns="91440" bIns="45720" rtlCol="0" anchor="b">
            <a:normAutofit/>
          </a:bodyPr>
          <a:lstStyle/>
          <a:p>
            <a:r>
              <a:rPr lang="en-US" sz="4000" kern="1200" dirty="0">
                <a:solidFill>
                  <a:schemeClr val="tx1"/>
                </a:solidFill>
                <a:latin typeface="+mj-lt"/>
                <a:ea typeface="+mj-ea"/>
                <a:cs typeface="+mj-cs"/>
              </a:rPr>
              <a:t>Age</a:t>
            </a:r>
          </a:p>
        </p:txBody>
      </p:sp>
      <p:sp>
        <p:nvSpPr>
          <p:cNvPr id="28" name="TextBox 27">
            <a:extLst>
              <a:ext uri="{FF2B5EF4-FFF2-40B4-BE49-F238E27FC236}">
                <a16:creationId xmlns:a16="http://schemas.microsoft.com/office/drawing/2014/main" id="{057685A7-72EF-7467-C1D7-2228D8AFB196}"/>
              </a:ext>
            </a:extLst>
          </p:cNvPr>
          <p:cNvSpPr txBox="1"/>
          <p:nvPr/>
        </p:nvSpPr>
        <p:spPr>
          <a:xfrm>
            <a:off x="1136397" y="2418408"/>
            <a:ext cx="4959603" cy="3522569"/>
          </a:xfrm>
          <a:prstGeom prst="rect">
            <a:avLst/>
          </a:prstGeom>
        </p:spPr>
        <p:txBody>
          <a:bodyPr vert="horz" lIns="91440" tIns="45720" rIns="91440" bIns="45720" rtlCol="0" anchor="t">
            <a:normAutofit/>
          </a:bodyPr>
          <a:lstStyle/>
          <a:p>
            <a:pPr marL="285750" indent="-228600">
              <a:lnSpc>
                <a:spcPct val="90000"/>
              </a:lnSpc>
              <a:spcAft>
                <a:spcPts val="600"/>
              </a:spcAft>
              <a:buFont typeface="Arial" panose="020B0604020202020204" pitchFamily="34" charset="0"/>
              <a:buChar char="•"/>
            </a:pPr>
            <a:r>
              <a:rPr lang="en-US" sz="2000" dirty="0"/>
              <a:t>Majority of Frito Lay's turnover occurs among younger employees</a:t>
            </a:r>
          </a:p>
          <a:p>
            <a:pPr marL="285750" indent="-228600">
              <a:lnSpc>
                <a:spcPct val="90000"/>
              </a:lnSpc>
              <a:spcAft>
                <a:spcPts val="600"/>
              </a:spcAft>
              <a:buFont typeface="Arial" panose="020B0604020202020204" pitchFamily="34" charset="0"/>
              <a:buChar char="•"/>
            </a:pPr>
            <a:r>
              <a:rPr lang="en-US" sz="2000" dirty="0"/>
              <a:t>Older Frito Lay’s employees tend to stay with the company</a:t>
            </a:r>
          </a:p>
          <a:p>
            <a:pPr marL="285750" indent="-228600">
              <a:lnSpc>
                <a:spcPct val="90000"/>
              </a:lnSpc>
              <a:spcAft>
                <a:spcPts val="600"/>
              </a:spcAft>
              <a:buFont typeface="Arial" panose="020B0604020202020204" pitchFamily="34" charset="0"/>
              <a:buChar char="•"/>
            </a:pPr>
            <a:r>
              <a:rPr lang="en-US" sz="2000" dirty="0"/>
              <a:t>Age can be used to determine the likeliness of attrition</a:t>
            </a:r>
          </a:p>
          <a:p>
            <a:pPr marL="285750" indent="-228600">
              <a:lnSpc>
                <a:spcPct val="90000"/>
              </a:lnSpc>
              <a:spcAft>
                <a:spcPts val="600"/>
              </a:spcAft>
              <a:buFont typeface="Arial" panose="020B0604020202020204" pitchFamily="34" charset="0"/>
              <a:buChar char="•"/>
            </a:pPr>
            <a:r>
              <a:rPr lang="en-US" sz="2000" dirty="0"/>
              <a:t>Average age of employees who quit: 33 vs 37 for those who stayed</a:t>
            </a:r>
          </a:p>
          <a:p>
            <a:pPr marL="285750" indent="-228600">
              <a:lnSpc>
                <a:spcPct val="90000"/>
              </a:lnSpc>
              <a:spcAft>
                <a:spcPts val="600"/>
              </a:spcAft>
              <a:buFont typeface="Arial" panose="020B0604020202020204" pitchFamily="34" charset="0"/>
              <a:buChar char="•"/>
            </a:pPr>
            <a:endParaRPr lang="en-US" sz="2000" dirty="0"/>
          </a:p>
          <a:p>
            <a:pPr marL="285750" indent="-228600">
              <a:lnSpc>
                <a:spcPct val="90000"/>
              </a:lnSpc>
              <a:spcAft>
                <a:spcPts val="600"/>
              </a:spcAft>
              <a:buFont typeface="Arial" panose="020B0604020202020204" pitchFamily="34" charset="0"/>
              <a:buChar char="•"/>
            </a:pPr>
            <a:endParaRPr lang="en-US" sz="2000" dirty="0"/>
          </a:p>
          <a:p>
            <a:pPr marL="285750" indent="-228600">
              <a:lnSpc>
                <a:spcPct val="90000"/>
              </a:lnSpc>
              <a:spcAft>
                <a:spcPts val="600"/>
              </a:spcAft>
              <a:buFont typeface="Arial" panose="020B0604020202020204" pitchFamily="34" charset="0"/>
              <a:buChar char="•"/>
            </a:pPr>
            <a:endParaRPr lang="en-US" sz="2000" dirty="0"/>
          </a:p>
        </p:txBody>
      </p:sp>
      <p:pic>
        <p:nvPicPr>
          <p:cNvPr id="3" name="Picture 2">
            <a:extLst>
              <a:ext uri="{FF2B5EF4-FFF2-40B4-BE49-F238E27FC236}">
                <a16:creationId xmlns:a16="http://schemas.microsoft.com/office/drawing/2014/main" id="{A24D557B-8ED1-14E9-70F9-7E4A828F1203}"/>
              </a:ext>
            </a:extLst>
          </p:cNvPr>
          <p:cNvPicPr>
            <a:picLocks noChangeAspect="1"/>
          </p:cNvPicPr>
          <p:nvPr/>
        </p:nvPicPr>
        <p:blipFill>
          <a:blip r:embed="rId3"/>
          <a:stretch>
            <a:fillRect/>
          </a:stretch>
        </p:blipFill>
        <p:spPr>
          <a:xfrm>
            <a:off x="6512442" y="1616306"/>
            <a:ext cx="5201023" cy="3211631"/>
          </a:xfrm>
          <a:prstGeom prst="rect">
            <a:avLst/>
          </a:prstGeom>
        </p:spPr>
      </p:pic>
      <p:sp>
        <p:nvSpPr>
          <p:cNvPr id="70" name="Rectangle 69">
            <a:extLst>
              <a:ext uri="{FF2B5EF4-FFF2-40B4-BE49-F238E27FC236}">
                <a16:creationId xmlns:a16="http://schemas.microsoft.com/office/drawing/2014/main" id="{EEBF1590-3B36-48EE-A89D-3B6F3CB256A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H="1">
            <a:off x="0" y="6400799"/>
            <a:ext cx="12192000" cy="456773"/>
          </a:xfrm>
          <a:prstGeom prst="rect">
            <a:avLst/>
          </a:prstGeom>
          <a:gradFill>
            <a:gsLst>
              <a:gs pos="0">
                <a:schemeClr val="accent1"/>
              </a:gs>
              <a:gs pos="78000">
                <a:srgbClr val="000000"/>
              </a:gs>
            </a:gsLst>
            <a:lin ang="2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1" name="Rectangle 70">
            <a:extLst>
              <a:ext uri="{FF2B5EF4-FFF2-40B4-BE49-F238E27FC236}">
                <a16:creationId xmlns:a16="http://schemas.microsoft.com/office/drawing/2014/main" id="{AC8F6C8C-AB5A-4548-942D-E3FD40ACBC4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4038600" y="6400799"/>
            <a:ext cx="8153398" cy="456772"/>
          </a:xfrm>
          <a:prstGeom prst="rect">
            <a:avLst/>
          </a:prstGeom>
          <a:gradFill>
            <a:gsLst>
              <a:gs pos="0">
                <a:srgbClr val="000000">
                  <a:alpha val="63000"/>
                </a:srgbClr>
              </a:gs>
              <a:gs pos="100000">
                <a:schemeClr val="accent1">
                  <a:lumMod val="75000"/>
                </a:schemeClr>
              </a:gs>
            </a:gsLst>
            <a:lin ang="13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AutoShape 6">
            <a:extLst>
              <a:ext uri="{FF2B5EF4-FFF2-40B4-BE49-F238E27FC236}">
                <a16:creationId xmlns:a16="http://schemas.microsoft.com/office/drawing/2014/main" id="{FC04A71C-13C3-1ED1-3F19-EC0848053E0E}"/>
              </a:ext>
            </a:extLst>
          </p:cNvPr>
          <p:cNvSpPr>
            <a:spLocks noChangeAspect="1" noChangeArrowheads="1"/>
          </p:cNvSpPr>
          <p:nvPr/>
        </p:nvSpPr>
        <p:spPr bwMode="auto">
          <a:xfrm>
            <a:off x="5943600" y="32766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Tree>
    <p:extLst>
      <p:ext uri="{BB962C8B-B14F-4D97-AF65-F5344CB8AC3E}">
        <p14:creationId xmlns:p14="http://schemas.microsoft.com/office/powerpoint/2010/main" val="3523640596"/>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55009658-624F-E327-B810-569E7FB09A6E}"/>
            </a:ext>
          </a:extLst>
        </p:cNvPr>
        <p:cNvGrpSpPr/>
        <p:nvPr/>
      </p:nvGrpSpPr>
      <p:grpSpPr>
        <a:xfrm>
          <a:off x="0" y="0"/>
          <a:ext cx="0" cy="0"/>
          <a:chOff x="0" y="0"/>
          <a:chExt cx="0" cy="0"/>
        </a:xfrm>
      </p:grpSpPr>
      <p:sp useBgFill="1">
        <p:nvSpPr>
          <p:cNvPr id="69" name="Rectangle 68">
            <a:extLst>
              <a:ext uri="{FF2B5EF4-FFF2-40B4-BE49-F238E27FC236}">
                <a16:creationId xmlns:a16="http://schemas.microsoft.com/office/drawing/2014/main" id="{979E27D9-03C7-44E2-9FF8-15D0C8506AF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577AD404-72ED-2D98-068C-3043C8EB023A}"/>
              </a:ext>
            </a:extLst>
          </p:cNvPr>
          <p:cNvSpPr>
            <a:spLocks noGrp="1"/>
          </p:cNvSpPr>
          <p:nvPr>
            <p:ph type="title"/>
          </p:nvPr>
        </p:nvSpPr>
        <p:spPr>
          <a:xfrm>
            <a:off x="1136397" y="502021"/>
            <a:ext cx="4959603" cy="1642969"/>
          </a:xfrm>
        </p:spPr>
        <p:txBody>
          <a:bodyPr vert="horz" lIns="91440" tIns="45720" rIns="91440" bIns="45720" rtlCol="0" anchor="b">
            <a:normAutofit/>
          </a:bodyPr>
          <a:lstStyle/>
          <a:p>
            <a:r>
              <a:rPr lang="en-US" sz="4000" kern="1200" dirty="0">
                <a:solidFill>
                  <a:schemeClr val="tx1"/>
                </a:solidFill>
                <a:latin typeface="+mj-lt"/>
                <a:ea typeface="+mj-ea"/>
                <a:cs typeface="+mj-cs"/>
              </a:rPr>
              <a:t>Marital Status</a:t>
            </a:r>
          </a:p>
        </p:txBody>
      </p:sp>
      <p:sp>
        <p:nvSpPr>
          <p:cNvPr id="8" name="TextBox 7">
            <a:extLst>
              <a:ext uri="{FF2B5EF4-FFF2-40B4-BE49-F238E27FC236}">
                <a16:creationId xmlns:a16="http://schemas.microsoft.com/office/drawing/2014/main" id="{BE52F051-EC26-266B-B45E-7F424984CFC3}"/>
              </a:ext>
            </a:extLst>
          </p:cNvPr>
          <p:cNvSpPr txBox="1"/>
          <p:nvPr/>
        </p:nvSpPr>
        <p:spPr>
          <a:xfrm>
            <a:off x="1136397" y="2418408"/>
            <a:ext cx="4959603" cy="3522569"/>
          </a:xfrm>
          <a:prstGeom prst="rect">
            <a:avLst/>
          </a:prstGeom>
        </p:spPr>
        <p:txBody>
          <a:bodyPr vert="horz" lIns="91440" tIns="45720" rIns="91440" bIns="45720" rtlCol="0" anchor="t">
            <a:normAutofit/>
          </a:bodyPr>
          <a:lstStyle/>
          <a:p>
            <a:pPr marL="285750" indent="-228600">
              <a:lnSpc>
                <a:spcPct val="90000"/>
              </a:lnSpc>
              <a:spcAft>
                <a:spcPts val="600"/>
              </a:spcAft>
              <a:buFont typeface="Arial" panose="020B0604020202020204" pitchFamily="34" charset="0"/>
              <a:buChar char="•"/>
            </a:pPr>
            <a:r>
              <a:rPr lang="en-US" sz="2000" dirty="0"/>
              <a:t>Marital status has 3 categories that show distinct attrition patterns</a:t>
            </a:r>
          </a:p>
          <a:p>
            <a:pPr marL="742950" lvl="1" indent="-228600">
              <a:lnSpc>
                <a:spcPct val="90000"/>
              </a:lnSpc>
              <a:spcAft>
                <a:spcPts val="600"/>
              </a:spcAft>
              <a:buFont typeface="Arial" panose="020B0604020202020204" pitchFamily="34" charset="0"/>
              <a:buChar char="•"/>
            </a:pPr>
            <a:r>
              <a:rPr lang="en-US" sz="2000" dirty="0"/>
              <a:t>Attrition occurs within married and single employees</a:t>
            </a:r>
          </a:p>
          <a:p>
            <a:pPr marL="1200150" lvl="2" indent="-228600">
              <a:lnSpc>
                <a:spcPct val="90000"/>
              </a:lnSpc>
              <a:spcAft>
                <a:spcPts val="600"/>
              </a:spcAft>
              <a:buFont typeface="Arial" panose="020B0604020202020204" pitchFamily="34" charset="0"/>
              <a:buChar char="•"/>
            </a:pPr>
            <a:r>
              <a:rPr lang="en-US" sz="2000" dirty="0"/>
              <a:t>Single employees having the highest attrition</a:t>
            </a:r>
          </a:p>
          <a:p>
            <a:pPr marL="742950" lvl="1" indent="-228600">
              <a:lnSpc>
                <a:spcPct val="90000"/>
              </a:lnSpc>
              <a:spcAft>
                <a:spcPts val="600"/>
              </a:spcAft>
              <a:buFont typeface="Arial" panose="020B0604020202020204" pitchFamily="34" charset="0"/>
              <a:buChar char="•"/>
            </a:pPr>
            <a:r>
              <a:rPr lang="en-US" sz="2000" dirty="0"/>
              <a:t>Divorced Employees show the lowest attrition rate</a:t>
            </a:r>
          </a:p>
          <a:p>
            <a:pPr marL="742950" lvl="1" indent="-228600">
              <a:lnSpc>
                <a:spcPct val="90000"/>
              </a:lnSpc>
              <a:spcAft>
                <a:spcPts val="600"/>
              </a:spcAft>
              <a:buFont typeface="Arial" panose="020B0604020202020204" pitchFamily="34" charset="0"/>
              <a:buChar char="•"/>
            </a:pPr>
            <a:r>
              <a:rPr lang="en-US" sz="2000" dirty="0"/>
              <a:t>Marital status can be used to determine attrition</a:t>
            </a:r>
          </a:p>
        </p:txBody>
      </p:sp>
      <p:pic>
        <p:nvPicPr>
          <p:cNvPr id="6" name="Picture 5">
            <a:extLst>
              <a:ext uri="{FF2B5EF4-FFF2-40B4-BE49-F238E27FC236}">
                <a16:creationId xmlns:a16="http://schemas.microsoft.com/office/drawing/2014/main" id="{ED70CD14-DAF3-47DF-8E1A-017F3EFCF3D8}"/>
              </a:ext>
            </a:extLst>
          </p:cNvPr>
          <p:cNvPicPr>
            <a:picLocks noChangeAspect="1"/>
          </p:cNvPicPr>
          <p:nvPr/>
        </p:nvPicPr>
        <p:blipFill>
          <a:blip r:embed="rId3"/>
          <a:stretch>
            <a:fillRect/>
          </a:stretch>
        </p:blipFill>
        <p:spPr>
          <a:xfrm>
            <a:off x="6512442" y="1616306"/>
            <a:ext cx="5201023" cy="3211631"/>
          </a:xfrm>
          <a:prstGeom prst="rect">
            <a:avLst/>
          </a:prstGeom>
        </p:spPr>
      </p:pic>
      <p:sp>
        <p:nvSpPr>
          <p:cNvPr id="71" name="Rectangle 70">
            <a:extLst>
              <a:ext uri="{FF2B5EF4-FFF2-40B4-BE49-F238E27FC236}">
                <a16:creationId xmlns:a16="http://schemas.microsoft.com/office/drawing/2014/main" id="{EEBF1590-3B36-48EE-A89D-3B6F3CB256A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H="1">
            <a:off x="0" y="6400799"/>
            <a:ext cx="12192000" cy="456773"/>
          </a:xfrm>
          <a:prstGeom prst="rect">
            <a:avLst/>
          </a:prstGeom>
          <a:gradFill>
            <a:gsLst>
              <a:gs pos="0">
                <a:schemeClr val="accent1"/>
              </a:gs>
              <a:gs pos="78000">
                <a:srgbClr val="000000"/>
              </a:gs>
            </a:gsLst>
            <a:lin ang="2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3" name="Rectangle 72">
            <a:extLst>
              <a:ext uri="{FF2B5EF4-FFF2-40B4-BE49-F238E27FC236}">
                <a16:creationId xmlns:a16="http://schemas.microsoft.com/office/drawing/2014/main" id="{AC8F6C8C-AB5A-4548-942D-E3FD40ACBC4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4038600" y="6400799"/>
            <a:ext cx="8153398" cy="456772"/>
          </a:xfrm>
          <a:prstGeom prst="rect">
            <a:avLst/>
          </a:prstGeom>
          <a:gradFill>
            <a:gsLst>
              <a:gs pos="0">
                <a:srgbClr val="000000">
                  <a:alpha val="63000"/>
                </a:srgbClr>
              </a:gs>
              <a:gs pos="100000">
                <a:schemeClr val="accent1">
                  <a:lumMod val="75000"/>
                </a:schemeClr>
              </a:gs>
            </a:gsLst>
            <a:lin ang="13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673091621"/>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FE160AC6-3164-8AF9-AAD1-1C46D8F5E2BF}"/>
            </a:ext>
          </a:extLst>
        </p:cNvPr>
        <p:cNvGrpSpPr/>
        <p:nvPr/>
      </p:nvGrpSpPr>
      <p:grpSpPr>
        <a:xfrm>
          <a:off x="0" y="0"/>
          <a:ext cx="0" cy="0"/>
          <a:chOff x="0" y="0"/>
          <a:chExt cx="0" cy="0"/>
        </a:xfrm>
      </p:grpSpPr>
      <p:sp useBgFill="1">
        <p:nvSpPr>
          <p:cNvPr id="78" name="Rectangle 77">
            <a:extLst>
              <a:ext uri="{FF2B5EF4-FFF2-40B4-BE49-F238E27FC236}">
                <a16:creationId xmlns:a16="http://schemas.microsoft.com/office/drawing/2014/main" id="{979E27D9-03C7-44E2-9FF8-15D0C8506AF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2E278CD3-FE8A-F75C-3996-F8C82C2F4B12}"/>
              </a:ext>
            </a:extLst>
          </p:cNvPr>
          <p:cNvSpPr>
            <a:spLocks noGrp="1"/>
          </p:cNvSpPr>
          <p:nvPr>
            <p:ph type="title"/>
          </p:nvPr>
        </p:nvSpPr>
        <p:spPr>
          <a:xfrm>
            <a:off x="1136397" y="502021"/>
            <a:ext cx="4959603" cy="1642969"/>
          </a:xfrm>
        </p:spPr>
        <p:txBody>
          <a:bodyPr vert="horz" lIns="91440" tIns="45720" rIns="91440" bIns="45720" rtlCol="0" anchor="b">
            <a:normAutofit/>
          </a:bodyPr>
          <a:lstStyle/>
          <a:p>
            <a:r>
              <a:rPr lang="en-US" sz="4000" dirty="0"/>
              <a:t>Job Level</a:t>
            </a:r>
            <a:endParaRPr lang="en-US" sz="4000" kern="1200" dirty="0">
              <a:solidFill>
                <a:schemeClr val="tx1"/>
              </a:solidFill>
              <a:latin typeface="+mj-lt"/>
              <a:ea typeface="+mj-ea"/>
              <a:cs typeface="+mj-cs"/>
            </a:endParaRPr>
          </a:p>
        </p:txBody>
      </p:sp>
      <p:sp>
        <p:nvSpPr>
          <p:cNvPr id="8" name="TextBox 7">
            <a:extLst>
              <a:ext uri="{FF2B5EF4-FFF2-40B4-BE49-F238E27FC236}">
                <a16:creationId xmlns:a16="http://schemas.microsoft.com/office/drawing/2014/main" id="{D1F371CE-CDAA-E371-F7CE-9C08399B5AE5}"/>
              </a:ext>
            </a:extLst>
          </p:cNvPr>
          <p:cNvSpPr txBox="1"/>
          <p:nvPr/>
        </p:nvSpPr>
        <p:spPr>
          <a:xfrm>
            <a:off x="1136397" y="2418408"/>
            <a:ext cx="4959603" cy="3522569"/>
          </a:xfrm>
          <a:prstGeom prst="rect">
            <a:avLst/>
          </a:prstGeom>
        </p:spPr>
        <p:txBody>
          <a:bodyPr vert="horz" lIns="91440" tIns="45720" rIns="91440" bIns="45720" rtlCol="0" anchor="t">
            <a:normAutofit/>
          </a:bodyPr>
          <a:lstStyle/>
          <a:p>
            <a:pPr marL="285750" indent="-228600">
              <a:lnSpc>
                <a:spcPct val="90000"/>
              </a:lnSpc>
              <a:spcAft>
                <a:spcPts val="600"/>
              </a:spcAft>
              <a:buFont typeface="Arial" panose="020B0604020202020204" pitchFamily="34" charset="0"/>
              <a:buChar char="•"/>
            </a:pPr>
            <a:r>
              <a:rPr lang="en-US" sz="2000" dirty="0"/>
              <a:t>Job level is another strong indicator</a:t>
            </a:r>
          </a:p>
          <a:p>
            <a:pPr marL="285750" indent="-228600">
              <a:lnSpc>
                <a:spcPct val="90000"/>
              </a:lnSpc>
              <a:spcAft>
                <a:spcPts val="600"/>
              </a:spcAft>
              <a:buFont typeface="Arial" panose="020B0604020202020204" pitchFamily="34" charset="0"/>
              <a:buChar char="•"/>
            </a:pPr>
            <a:r>
              <a:rPr lang="en-US" sz="2000" dirty="0"/>
              <a:t>Entry level employees account for 61.4% of all attrition</a:t>
            </a:r>
          </a:p>
          <a:p>
            <a:pPr marL="285750" indent="-228600">
              <a:lnSpc>
                <a:spcPct val="90000"/>
              </a:lnSpc>
              <a:spcAft>
                <a:spcPts val="600"/>
              </a:spcAft>
              <a:buFont typeface="Arial" panose="020B0604020202020204" pitchFamily="34" charset="0"/>
              <a:buChar char="•"/>
            </a:pPr>
            <a:r>
              <a:rPr lang="en-US" sz="2000" dirty="0"/>
              <a:t>Attrition drops sharply as employees advance to high level jobs</a:t>
            </a:r>
          </a:p>
        </p:txBody>
      </p:sp>
      <p:pic>
        <p:nvPicPr>
          <p:cNvPr id="4" name="Picture 3">
            <a:extLst>
              <a:ext uri="{FF2B5EF4-FFF2-40B4-BE49-F238E27FC236}">
                <a16:creationId xmlns:a16="http://schemas.microsoft.com/office/drawing/2014/main" id="{668F343C-D450-658E-A882-63DDA6140B64}"/>
              </a:ext>
            </a:extLst>
          </p:cNvPr>
          <p:cNvPicPr>
            <a:picLocks noChangeAspect="1"/>
          </p:cNvPicPr>
          <p:nvPr/>
        </p:nvPicPr>
        <p:blipFill>
          <a:blip r:embed="rId3"/>
          <a:stretch>
            <a:fillRect/>
          </a:stretch>
        </p:blipFill>
        <p:spPr>
          <a:xfrm>
            <a:off x="6512442" y="1616306"/>
            <a:ext cx="5201023" cy="3211631"/>
          </a:xfrm>
          <a:prstGeom prst="rect">
            <a:avLst/>
          </a:prstGeom>
        </p:spPr>
      </p:pic>
      <p:sp>
        <p:nvSpPr>
          <p:cNvPr id="80" name="Rectangle 79">
            <a:extLst>
              <a:ext uri="{FF2B5EF4-FFF2-40B4-BE49-F238E27FC236}">
                <a16:creationId xmlns:a16="http://schemas.microsoft.com/office/drawing/2014/main" id="{EEBF1590-3B36-48EE-A89D-3B6F3CB256A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H="1">
            <a:off x="0" y="6400799"/>
            <a:ext cx="12192000" cy="456773"/>
          </a:xfrm>
          <a:prstGeom prst="rect">
            <a:avLst/>
          </a:prstGeom>
          <a:gradFill>
            <a:gsLst>
              <a:gs pos="0">
                <a:schemeClr val="accent1"/>
              </a:gs>
              <a:gs pos="78000">
                <a:srgbClr val="000000"/>
              </a:gs>
            </a:gsLst>
            <a:lin ang="2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2" name="Rectangle 81">
            <a:extLst>
              <a:ext uri="{FF2B5EF4-FFF2-40B4-BE49-F238E27FC236}">
                <a16:creationId xmlns:a16="http://schemas.microsoft.com/office/drawing/2014/main" id="{AC8F6C8C-AB5A-4548-942D-E3FD40ACBC4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4038600" y="6400799"/>
            <a:ext cx="8153398" cy="456772"/>
          </a:xfrm>
          <a:prstGeom prst="rect">
            <a:avLst/>
          </a:prstGeom>
          <a:gradFill>
            <a:gsLst>
              <a:gs pos="0">
                <a:srgbClr val="000000">
                  <a:alpha val="63000"/>
                </a:srgbClr>
              </a:gs>
              <a:gs pos="100000">
                <a:schemeClr val="accent1">
                  <a:lumMod val="75000"/>
                </a:schemeClr>
              </a:gs>
            </a:gsLst>
            <a:lin ang="13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3106049181"/>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20628951-CCEB-B4A6-9BCA-75A70BD473F6}"/>
            </a:ext>
          </a:extLst>
        </p:cNvPr>
        <p:cNvGrpSpPr/>
        <p:nvPr/>
      </p:nvGrpSpPr>
      <p:grpSpPr>
        <a:xfrm>
          <a:off x="0" y="0"/>
          <a:ext cx="0" cy="0"/>
          <a:chOff x="0" y="0"/>
          <a:chExt cx="0" cy="0"/>
        </a:xfrm>
      </p:grpSpPr>
      <p:sp useBgFill="1">
        <p:nvSpPr>
          <p:cNvPr id="53" name="Rectangle 52">
            <a:extLst>
              <a:ext uri="{FF2B5EF4-FFF2-40B4-BE49-F238E27FC236}">
                <a16:creationId xmlns:a16="http://schemas.microsoft.com/office/drawing/2014/main" id="{979E27D9-03C7-44E2-9FF8-15D0C8506AF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2DE5B34B-98C5-D53D-D5A6-8F853EA26716}"/>
              </a:ext>
            </a:extLst>
          </p:cNvPr>
          <p:cNvSpPr>
            <a:spLocks noGrp="1"/>
          </p:cNvSpPr>
          <p:nvPr>
            <p:ph type="title"/>
          </p:nvPr>
        </p:nvSpPr>
        <p:spPr>
          <a:xfrm>
            <a:off x="1136397" y="502021"/>
            <a:ext cx="4959603" cy="1642969"/>
          </a:xfrm>
        </p:spPr>
        <p:txBody>
          <a:bodyPr vert="horz" lIns="91440" tIns="45720" rIns="91440" bIns="45720" rtlCol="0" anchor="b">
            <a:normAutofit/>
          </a:bodyPr>
          <a:lstStyle/>
          <a:p>
            <a:r>
              <a:rPr lang="en-US" sz="4000" kern="1200" dirty="0">
                <a:solidFill>
                  <a:schemeClr val="tx1"/>
                </a:solidFill>
                <a:latin typeface="+mj-lt"/>
                <a:ea typeface="+mj-ea"/>
                <a:cs typeface="+mj-cs"/>
              </a:rPr>
              <a:t>Total Years of Work Experience</a:t>
            </a:r>
          </a:p>
        </p:txBody>
      </p:sp>
      <p:sp>
        <p:nvSpPr>
          <p:cNvPr id="3" name="TextBox 2">
            <a:extLst>
              <a:ext uri="{FF2B5EF4-FFF2-40B4-BE49-F238E27FC236}">
                <a16:creationId xmlns:a16="http://schemas.microsoft.com/office/drawing/2014/main" id="{92BE9F89-FC1F-D5E6-1530-E39DCB9AE4E9}"/>
              </a:ext>
            </a:extLst>
          </p:cNvPr>
          <p:cNvSpPr txBox="1"/>
          <p:nvPr/>
        </p:nvSpPr>
        <p:spPr>
          <a:xfrm>
            <a:off x="1136397" y="2418408"/>
            <a:ext cx="4959603" cy="3522569"/>
          </a:xfrm>
          <a:prstGeom prst="rect">
            <a:avLst/>
          </a:prstGeom>
        </p:spPr>
        <p:txBody>
          <a:bodyPr vert="horz" lIns="91440" tIns="45720" rIns="91440" bIns="45720" rtlCol="0" anchor="t">
            <a:normAutofit/>
          </a:bodyPr>
          <a:lstStyle/>
          <a:p>
            <a:pPr marL="285750" indent="-228600">
              <a:lnSpc>
                <a:spcPct val="90000"/>
              </a:lnSpc>
              <a:spcAft>
                <a:spcPts val="600"/>
              </a:spcAft>
              <a:buFont typeface="Arial" panose="020B0604020202020204" pitchFamily="34" charset="0"/>
              <a:buChar char="•"/>
            </a:pPr>
            <a:r>
              <a:rPr lang="en-US" sz="2000" dirty="0"/>
              <a:t>Employees with fewer total working years are significantly more likely to quit</a:t>
            </a:r>
          </a:p>
          <a:p>
            <a:pPr marL="285750" indent="-228600">
              <a:lnSpc>
                <a:spcPct val="90000"/>
              </a:lnSpc>
              <a:spcAft>
                <a:spcPts val="600"/>
              </a:spcAft>
              <a:buFont typeface="Arial" panose="020B0604020202020204" pitchFamily="34" charset="0"/>
              <a:buChar char="•"/>
            </a:pPr>
            <a:r>
              <a:rPr lang="en-US" sz="2000" dirty="0"/>
              <a:t>This likely correlates with age, Younger employees naturally have fewer working years and also show higher attrition</a:t>
            </a:r>
          </a:p>
          <a:p>
            <a:pPr marL="285750" indent="-228600">
              <a:lnSpc>
                <a:spcPct val="90000"/>
              </a:lnSpc>
              <a:spcAft>
                <a:spcPts val="600"/>
              </a:spcAft>
              <a:buFont typeface="Arial" panose="020B0604020202020204" pitchFamily="34" charset="0"/>
              <a:buChar char="•"/>
            </a:pPr>
            <a:r>
              <a:rPr lang="en-US" sz="2000" dirty="0"/>
              <a:t>Employees who quit had an average experience of 7 years vs 10 years for those who stayed</a:t>
            </a:r>
          </a:p>
          <a:p>
            <a:pPr marL="285750" indent="-228600">
              <a:lnSpc>
                <a:spcPct val="90000"/>
              </a:lnSpc>
              <a:spcAft>
                <a:spcPts val="600"/>
              </a:spcAft>
              <a:buFont typeface="Arial" panose="020B0604020202020204" pitchFamily="34" charset="0"/>
              <a:buChar char="•"/>
            </a:pPr>
            <a:endParaRPr lang="en-US" sz="2000" dirty="0"/>
          </a:p>
          <a:p>
            <a:pPr indent="-228600">
              <a:lnSpc>
                <a:spcPct val="90000"/>
              </a:lnSpc>
              <a:spcAft>
                <a:spcPts val="600"/>
              </a:spcAft>
              <a:buFont typeface="Arial" panose="020B0604020202020204" pitchFamily="34" charset="0"/>
              <a:buChar char="•"/>
            </a:pPr>
            <a:endParaRPr lang="en-US" sz="2000" dirty="0"/>
          </a:p>
        </p:txBody>
      </p:sp>
      <p:pic>
        <p:nvPicPr>
          <p:cNvPr id="5" name="Picture 4">
            <a:extLst>
              <a:ext uri="{FF2B5EF4-FFF2-40B4-BE49-F238E27FC236}">
                <a16:creationId xmlns:a16="http://schemas.microsoft.com/office/drawing/2014/main" id="{D5655356-E183-2D04-9248-16813F781260}"/>
              </a:ext>
            </a:extLst>
          </p:cNvPr>
          <p:cNvPicPr>
            <a:picLocks noChangeAspect="1"/>
          </p:cNvPicPr>
          <p:nvPr/>
        </p:nvPicPr>
        <p:blipFill>
          <a:blip r:embed="rId3"/>
          <a:stretch>
            <a:fillRect/>
          </a:stretch>
        </p:blipFill>
        <p:spPr>
          <a:xfrm>
            <a:off x="6512442" y="1616306"/>
            <a:ext cx="5201023" cy="3211631"/>
          </a:xfrm>
          <a:prstGeom prst="rect">
            <a:avLst/>
          </a:prstGeom>
        </p:spPr>
      </p:pic>
      <p:sp>
        <p:nvSpPr>
          <p:cNvPr id="54" name="Rectangle 53">
            <a:extLst>
              <a:ext uri="{FF2B5EF4-FFF2-40B4-BE49-F238E27FC236}">
                <a16:creationId xmlns:a16="http://schemas.microsoft.com/office/drawing/2014/main" id="{EEBF1590-3B36-48EE-A89D-3B6F3CB256A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H="1">
            <a:off x="0" y="6400799"/>
            <a:ext cx="12192000" cy="456773"/>
          </a:xfrm>
          <a:prstGeom prst="rect">
            <a:avLst/>
          </a:prstGeom>
          <a:gradFill>
            <a:gsLst>
              <a:gs pos="0">
                <a:schemeClr val="accent1"/>
              </a:gs>
              <a:gs pos="78000">
                <a:srgbClr val="000000"/>
              </a:gs>
            </a:gsLst>
            <a:lin ang="2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5" name="Rectangle 54">
            <a:extLst>
              <a:ext uri="{FF2B5EF4-FFF2-40B4-BE49-F238E27FC236}">
                <a16:creationId xmlns:a16="http://schemas.microsoft.com/office/drawing/2014/main" id="{AC8F6C8C-AB5A-4548-942D-E3FD40ACBC4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4038600" y="6400799"/>
            <a:ext cx="8153398" cy="456772"/>
          </a:xfrm>
          <a:prstGeom prst="rect">
            <a:avLst/>
          </a:prstGeom>
          <a:gradFill>
            <a:gsLst>
              <a:gs pos="0">
                <a:srgbClr val="000000">
                  <a:alpha val="63000"/>
                </a:srgbClr>
              </a:gs>
              <a:gs pos="100000">
                <a:schemeClr val="accent1">
                  <a:lumMod val="75000"/>
                </a:schemeClr>
              </a:gs>
            </a:gsLst>
            <a:lin ang="13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856978690"/>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9C60355E-A5B9-B347-4377-BF60AE9AC8A8}"/>
            </a:ext>
          </a:extLst>
        </p:cNvPr>
        <p:cNvGrpSpPr/>
        <p:nvPr/>
      </p:nvGrpSpPr>
      <p:grpSpPr>
        <a:xfrm>
          <a:off x="0" y="0"/>
          <a:ext cx="0" cy="0"/>
          <a:chOff x="0" y="0"/>
          <a:chExt cx="0" cy="0"/>
        </a:xfrm>
      </p:grpSpPr>
      <p:sp useBgFill="1">
        <p:nvSpPr>
          <p:cNvPr id="39" name="Rectangle 38">
            <a:extLst>
              <a:ext uri="{FF2B5EF4-FFF2-40B4-BE49-F238E27FC236}">
                <a16:creationId xmlns:a16="http://schemas.microsoft.com/office/drawing/2014/main" id="{979E27D9-03C7-44E2-9FF8-15D0C8506AF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D3A4D754-5089-0C3E-972B-E268FC0E3CE1}"/>
              </a:ext>
            </a:extLst>
          </p:cNvPr>
          <p:cNvSpPr>
            <a:spLocks noGrp="1"/>
          </p:cNvSpPr>
          <p:nvPr>
            <p:ph type="title"/>
          </p:nvPr>
        </p:nvSpPr>
        <p:spPr>
          <a:xfrm>
            <a:off x="1136397" y="502021"/>
            <a:ext cx="4959603" cy="1642969"/>
          </a:xfrm>
        </p:spPr>
        <p:txBody>
          <a:bodyPr vert="horz" lIns="91440" tIns="45720" rIns="91440" bIns="45720" rtlCol="0" anchor="b">
            <a:normAutofit/>
          </a:bodyPr>
          <a:lstStyle/>
          <a:p>
            <a:r>
              <a:rPr lang="en-US" sz="4000" kern="1200">
                <a:solidFill>
                  <a:schemeClr val="tx1"/>
                </a:solidFill>
                <a:latin typeface="+mj-lt"/>
                <a:ea typeface="+mj-ea"/>
                <a:cs typeface="+mj-cs"/>
              </a:rPr>
              <a:t>Monthly Income</a:t>
            </a:r>
          </a:p>
        </p:txBody>
      </p:sp>
      <p:sp>
        <p:nvSpPr>
          <p:cNvPr id="8" name="TextBox 7">
            <a:extLst>
              <a:ext uri="{FF2B5EF4-FFF2-40B4-BE49-F238E27FC236}">
                <a16:creationId xmlns:a16="http://schemas.microsoft.com/office/drawing/2014/main" id="{1A06BA83-4F04-63DE-2C17-CE48FA113906}"/>
              </a:ext>
            </a:extLst>
          </p:cNvPr>
          <p:cNvSpPr txBox="1"/>
          <p:nvPr/>
        </p:nvSpPr>
        <p:spPr>
          <a:xfrm>
            <a:off x="1136397" y="2418408"/>
            <a:ext cx="4959603" cy="3522569"/>
          </a:xfrm>
          <a:prstGeom prst="rect">
            <a:avLst/>
          </a:prstGeom>
        </p:spPr>
        <p:txBody>
          <a:bodyPr vert="horz" lIns="91440" tIns="45720" rIns="91440" bIns="45720" rtlCol="0" anchor="t">
            <a:normAutofit/>
          </a:bodyPr>
          <a:lstStyle/>
          <a:p>
            <a:pPr marL="285750" indent="-228600">
              <a:lnSpc>
                <a:spcPct val="90000"/>
              </a:lnSpc>
              <a:spcAft>
                <a:spcPts val="600"/>
              </a:spcAft>
              <a:buFont typeface="Arial" panose="020B0604020202020204" pitchFamily="34" charset="0"/>
              <a:buChar char="•"/>
            </a:pPr>
            <a:r>
              <a:rPr lang="en-US" sz="2000" dirty="0"/>
              <a:t>Lower paid, entry-level employees show much higher attrition</a:t>
            </a:r>
          </a:p>
          <a:p>
            <a:pPr marL="285750" indent="-228600">
              <a:lnSpc>
                <a:spcPct val="90000"/>
              </a:lnSpc>
              <a:spcAft>
                <a:spcPts val="600"/>
              </a:spcAft>
              <a:buFont typeface="Arial" panose="020B0604020202020204" pitchFamily="34" charset="0"/>
              <a:buChar char="•"/>
            </a:pPr>
            <a:r>
              <a:rPr lang="en-US" sz="2000" dirty="0"/>
              <a:t>Money and career progression matters</a:t>
            </a:r>
          </a:p>
          <a:p>
            <a:pPr marL="285750" indent="-228600">
              <a:lnSpc>
                <a:spcPct val="90000"/>
              </a:lnSpc>
              <a:spcAft>
                <a:spcPts val="600"/>
              </a:spcAft>
              <a:buFont typeface="Arial" panose="020B0604020202020204" pitchFamily="34" charset="0"/>
              <a:buChar char="•"/>
            </a:pPr>
            <a:r>
              <a:rPr lang="en-US" sz="2000" dirty="0"/>
              <a:t>Employees who quit had an average monthly salary for $3,000 and those who stayed had a average monthly salary of $5,500</a:t>
            </a:r>
          </a:p>
        </p:txBody>
      </p:sp>
      <p:pic>
        <p:nvPicPr>
          <p:cNvPr id="3" name="Picture 2">
            <a:extLst>
              <a:ext uri="{FF2B5EF4-FFF2-40B4-BE49-F238E27FC236}">
                <a16:creationId xmlns:a16="http://schemas.microsoft.com/office/drawing/2014/main" id="{600A3E82-8062-40D9-4CFC-768822E11C12}"/>
              </a:ext>
            </a:extLst>
          </p:cNvPr>
          <p:cNvPicPr>
            <a:picLocks noChangeAspect="1"/>
          </p:cNvPicPr>
          <p:nvPr/>
        </p:nvPicPr>
        <p:blipFill>
          <a:blip r:embed="rId3"/>
          <a:stretch>
            <a:fillRect/>
          </a:stretch>
        </p:blipFill>
        <p:spPr>
          <a:xfrm>
            <a:off x="6512442" y="1362756"/>
            <a:ext cx="5201023" cy="3718730"/>
          </a:xfrm>
          <a:prstGeom prst="rect">
            <a:avLst/>
          </a:prstGeom>
        </p:spPr>
      </p:pic>
      <p:sp>
        <p:nvSpPr>
          <p:cNvPr id="41" name="Rectangle 40">
            <a:extLst>
              <a:ext uri="{FF2B5EF4-FFF2-40B4-BE49-F238E27FC236}">
                <a16:creationId xmlns:a16="http://schemas.microsoft.com/office/drawing/2014/main" id="{EEBF1590-3B36-48EE-A89D-3B6F3CB256A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H="1">
            <a:off x="0" y="6400799"/>
            <a:ext cx="12192000" cy="456773"/>
          </a:xfrm>
          <a:prstGeom prst="rect">
            <a:avLst/>
          </a:prstGeom>
          <a:gradFill>
            <a:gsLst>
              <a:gs pos="0">
                <a:schemeClr val="accent1"/>
              </a:gs>
              <a:gs pos="78000">
                <a:srgbClr val="000000"/>
              </a:gs>
            </a:gsLst>
            <a:lin ang="2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3" name="Rectangle 42">
            <a:extLst>
              <a:ext uri="{FF2B5EF4-FFF2-40B4-BE49-F238E27FC236}">
                <a16:creationId xmlns:a16="http://schemas.microsoft.com/office/drawing/2014/main" id="{AC8F6C8C-AB5A-4548-942D-E3FD40ACBC4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4038600" y="6400799"/>
            <a:ext cx="8153398" cy="456772"/>
          </a:xfrm>
          <a:prstGeom prst="rect">
            <a:avLst/>
          </a:prstGeom>
          <a:gradFill>
            <a:gsLst>
              <a:gs pos="0">
                <a:srgbClr val="000000">
                  <a:alpha val="63000"/>
                </a:srgbClr>
              </a:gs>
              <a:gs pos="100000">
                <a:schemeClr val="accent1">
                  <a:lumMod val="75000"/>
                </a:schemeClr>
              </a:gs>
            </a:gsLst>
            <a:lin ang="13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2092004145"/>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FFDE067D-57E5-4010-9CF7-8EC17E8FA4E8}"/>
            </a:ext>
          </a:extLst>
        </p:cNvPr>
        <p:cNvGrpSpPr/>
        <p:nvPr/>
      </p:nvGrpSpPr>
      <p:grpSpPr>
        <a:xfrm>
          <a:off x="0" y="0"/>
          <a:ext cx="0" cy="0"/>
          <a:chOff x="0" y="0"/>
          <a:chExt cx="0" cy="0"/>
        </a:xfrm>
      </p:grpSpPr>
      <p:sp useBgFill="1">
        <p:nvSpPr>
          <p:cNvPr id="45" name="Rectangle 44">
            <a:extLst>
              <a:ext uri="{FF2B5EF4-FFF2-40B4-BE49-F238E27FC236}">
                <a16:creationId xmlns:a16="http://schemas.microsoft.com/office/drawing/2014/main" id="{979E27D9-03C7-44E2-9FF8-15D0C8506AF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3691AFAE-29F5-F765-AD3A-ACC99CF05CA9}"/>
              </a:ext>
            </a:extLst>
          </p:cNvPr>
          <p:cNvSpPr>
            <a:spLocks noGrp="1"/>
          </p:cNvSpPr>
          <p:nvPr>
            <p:ph type="title"/>
          </p:nvPr>
        </p:nvSpPr>
        <p:spPr>
          <a:xfrm>
            <a:off x="1136397" y="502021"/>
            <a:ext cx="4959603" cy="1642969"/>
          </a:xfrm>
        </p:spPr>
        <p:txBody>
          <a:bodyPr vert="horz" lIns="91440" tIns="45720" rIns="91440" bIns="45720" rtlCol="0" anchor="b">
            <a:normAutofit/>
          </a:bodyPr>
          <a:lstStyle/>
          <a:p>
            <a:r>
              <a:rPr lang="en-US" sz="4000" kern="1200" dirty="0">
                <a:solidFill>
                  <a:schemeClr val="tx1"/>
                </a:solidFill>
                <a:latin typeface="+mj-lt"/>
                <a:ea typeface="+mj-ea"/>
                <a:cs typeface="+mj-cs"/>
              </a:rPr>
              <a:t>Years With Current Manager</a:t>
            </a:r>
          </a:p>
        </p:txBody>
      </p:sp>
      <p:sp>
        <p:nvSpPr>
          <p:cNvPr id="8" name="TextBox 7">
            <a:extLst>
              <a:ext uri="{FF2B5EF4-FFF2-40B4-BE49-F238E27FC236}">
                <a16:creationId xmlns:a16="http://schemas.microsoft.com/office/drawing/2014/main" id="{06BA1A88-FD29-5EFD-BB1D-6F6938165745}"/>
              </a:ext>
            </a:extLst>
          </p:cNvPr>
          <p:cNvSpPr txBox="1"/>
          <p:nvPr/>
        </p:nvSpPr>
        <p:spPr>
          <a:xfrm>
            <a:off x="1136397" y="2418408"/>
            <a:ext cx="4959603" cy="3522569"/>
          </a:xfrm>
          <a:prstGeom prst="rect">
            <a:avLst/>
          </a:prstGeom>
        </p:spPr>
        <p:txBody>
          <a:bodyPr vert="horz" lIns="91440" tIns="45720" rIns="91440" bIns="45720" rtlCol="0" anchor="t">
            <a:normAutofit/>
          </a:bodyPr>
          <a:lstStyle/>
          <a:p>
            <a:pPr marL="285750" indent="-228600">
              <a:lnSpc>
                <a:spcPct val="90000"/>
              </a:lnSpc>
              <a:spcAft>
                <a:spcPts val="600"/>
              </a:spcAft>
              <a:buFont typeface="Arial" panose="020B0604020202020204" pitchFamily="34" charset="0"/>
              <a:buChar char="•"/>
            </a:pPr>
            <a:r>
              <a:rPr lang="en-US" sz="2000" dirty="0"/>
              <a:t>Employees with less time under their current manager show higher attrition</a:t>
            </a:r>
          </a:p>
          <a:p>
            <a:pPr marL="285750" indent="-228600">
              <a:lnSpc>
                <a:spcPct val="90000"/>
              </a:lnSpc>
              <a:spcAft>
                <a:spcPts val="600"/>
              </a:spcAft>
              <a:buFont typeface="Arial" panose="020B0604020202020204" pitchFamily="34" charset="0"/>
              <a:buChar char="•"/>
            </a:pPr>
            <a:r>
              <a:rPr lang="en-US" sz="2000" dirty="0"/>
              <a:t>Longer tenure with a manger is associated with higher retention</a:t>
            </a:r>
          </a:p>
          <a:p>
            <a:pPr marL="285750" indent="-228600">
              <a:lnSpc>
                <a:spcPct val="90000"/>
              </a:lnSpc>
              <a:spcAft>
                <a:spcPts val="600"/>
              </a:spcAft>
              <a:buFont typeface="Arial" panose="020B0604020202020204" pitchFamily="34" charset="0"/>
              <a:buChar char="•"/>
            </a:pPr>
            <a:r>
              <a:rPr lang="en-US" sz="2000" dirty="0"/>
              <a:t>Employees who quit had an average of 2 years with their manager</a:t>
            </a:r>
          </a:p>
          <a:p>
            <a:pPr marL="285750" indent="-228600">
              <a:lnSpc>
                <a:spcPct val="90000"/>
              </a:lnSpc>
              <a:spcAft>
                <a:spcPts val="600"/>
              </a:spcAft>
              <a:buFont typeface="Arial" panose="020B0604020202020204" pitchFamily="34" charset="0"/>
              <a:buChar char="•"/>
            </a:pPr>
            <a:r>
              <a:rPr lang="en-US" sz="2000" dirty="0"/>
              <a:t>Employees who stayed had an average of 3 years with their manager</a:t>
            </a:r>
          </a:p>
        </p:txBody>
      </p:sp>
      <p:pic>
        <p:nvPicPr>
          <p:cNvPr id="3" name="Picture 2">
            <a:extLst>
              <a:ext uri="{FF2B5EF4-FFF2-40B4-BE49-F238E27FC236}">
                <a16:creationId xmlns:a16="http://schemas.microsoft.com/office/drawing/2014/main" id="{3C557E35-3495-6A24-9666-5CACCD069AA1}"/>
              </a:ext>
            </a:extLst>
          </p:cNvPr>
          <p:cNvPicPr>
            <a:picLocks noChangeAspect="1"/>
          </p:cNvPicPr>
          <p:nvPr/>
        </p:nvPicPr>
        <p:blipFill>
          <a:blip r:embed="rId3"/>
          <a:stretch>
            <a:fillRect/>
          </a:stretch>
        </p:blipFill>
        <p:spPr>
          <a:xfrm>
            <a:off x="6512442" y="1362756"/>
            <a:ext cx="5201023" cy="3718730"/>
          </a:xfrm>
          <a:prstGeom prst="rect">
            <a:avLst/>
          </a:prstGeom>
        </p:spPr>
      </p:pic>
      <p:sp>
        <p:nvSpPr>
          <p:cNvPr id="46" name="Rectangle 45">
            <a:extLst>
              <a:ext uri="{FF2B5EF4-FFF2-40B4-BE49-F238E27FC236}">
                <a16:creationId xmlns:a16="http://schemas.microsoft.com/office/drawing/2014/main" id="{EEBF1590-3B36-48EE-A89D-3B6F3CB256A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H="1">
            <a:off x="0" y="6400799"/>
            <a:ext cx="12192000" cy="456773"/>
          </a:xfrm>
          <a:prstGeom prst="rect">
            <a:avLst/>
          </a:prstGeom>
          <a:gradFill>
            <a:gsLst>
              <a:gs pos="0">
                <a:schemeClr val="accent1"/>
              </a:gs>
              <a:gs pos="78000">
                <a:srgbClr val="000000"/>
              </a:gs>
            </a:gsLst>
            <a:lin ang="2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7" name="Rectangle 46">
            <a:extLst>
              <a:ext uri="{FF2B5EF4-FFF2-40B4-BE49-F238E27FC236}">
                <a16:creationId xmlns:a16="http://schemas.microsoft.com/office/drawing/2014/main" id="{AC8F6C8C-AB5A-4548-942D-E3FD40ACBC4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4038600" y="6400799"/>
            <a:ext cx="8153398" cy="456772"/>
          </a:xfrm>
          <a:prstGeom prst="rect">
            <a:avLst/>
          </a:prstGeom>
          <a:gradFill>
            <a:gsLst>
              <a:gs pos="0">
                <a:srgbClr val="000000">
                  <a:alpha val="63000"/>
                </a:srgbClr>
              </a:gs>
              <a:gs pos="100000">
                <a:schemeClr val="accent1">
                  <a:lumMod val="75000"/>
                </a:schemeClr>
              </a:gs>
            </a:gsLst>
            <a:lin ang="13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1709949671"/>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42" name="Rectangle 41">
            <a:extLst>
              <a:ext uri="{FF2B5EF4-FFF2-40B4-BE49-F238E27FC236}">
                <a16:creationId xmlns:a16="http://schemas.microsoft.com/office/drawing/2014/main" id="{979E27D9-03C7-44E2-9FF8-15D0C8506AF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17A75AB6-97D5-FD52-3DDE-53864949BE72}"/>
              </a:ext>
            </a:extLst>
          </p:cNvPr>
          <p:cNvSpPr>
            <a:spLocks noGrp="1"/>
          </p:cNvSpPr>
          <p:nvPr>
            <p:ph type="title"/>
          </p:nvPr>
        </p:nvSpPr>
        <p:spPr>
          <a:xfrm>
            <a:off x="1136397" y="502021"/>
            <a:ext cx="4959603" cy="1642969"/>
          </a:xfrm>
        </p:spPr>
        <p:txBody>
          <a:bodyPr vert="horz" lIns="91440" tIns="45720" rIns="91440" bIns="45720" rtlCol="0" anchor="b">
            <a:normAutofit/>
          </a:bodyPr>
          <a:lstStyle/>
          <a:p>
            <a:r>
              <a:rPr lang="en-US" sz="4000" kern="1200">
                <a:solidFill>
                  <a:schemeClr val="tx1"/>
                </a:solidFill>
                <a:latin typeface="+mj-lt"/>
                <a:ea typeface="+mj-ea"/>
                <a:cs typeface="+mj-cs"/>
              </a:rPr>
              <a:t>Overtime</a:t>
            </a:r>
          </a:p>
        </p:txBody>
      </p:sp>
      <p:sp>
        <p:nvSpPr>
          <p:cNvPr id="8" name="TextBox 7">
            <a:extLst>
              <a:ext uri="{FF2B5EF4-FFF2-40B4-BE49-F238E27FC236}">
                <a16:creationId xmlns:a16="http://schemas.microsoft.com/office/drawing/2014/main" id="{8A527CC4-7877-30B9-8C1B-A9FB044E3A6E}"/>
              </a:ext>
            </a:extLst>
          </p:cNvPr>
          <p:cNvSpPr txBox="1"/>
          <p:nvPr/>
        </p:nvSpPr>
        <p:spPr>
          <a:xfrm>
            <a:off x="1136397" y="2418408"/>
            <a:ext cx="4959603" cy="3522569"/>
          </a:xfrm>
          <a:prstGeom prst="rect">
            <a:avLst/>
          </a:prstGeom>
        </p:spPr>
        <p:txBody>
          <a:bodyPr vert="horz" lIns="91440" tIns="45720" rIns="91440" bIns="45720" rtlCol="0" anchor="t">
            <a:normAutofit/>
          </a:bodyPr>
          <a:lstStyle/>
          <a:p>
            <a:pPr marL="285750" indent="-228600">
              <a:lnSpc>
                <a:spcPct val="90000"/>
              </a:lnSpc>
              <a:spcAft>
                <a:spcPts val="600"/>
              </a:spcAft>
              <a:buFont typeface="Arial" panose="020B0604020202020204" pitchFamily="34" charset="0"/>
              <a:buChar char="•"/>
            </a:pPr>
            <a:r>
              <a:rPr lang="en-US" sz="2000" dirty="0"/>
              <a:t>Employees that are working overtime are more likely to quit</a:t>
            </a:r>
          </a:p>
          <a:p>
            <a:pPr marL="285750" indent="-228600">
              <a:lnSpc>
                <a:spcPct val="90000"/>
              </a:lnSpc>
              <a:spcAft>
                <a:spcPts val="600"/>
              </a:spcAft>
              <a:buFont typeface="Arial" panose="020B0604020202020204" pitchFamily="34" charset="0"/>
              <a:buChar char="•"/>
            </a:pPr>
            <a:r>
              <a:rPr lang="en-US" sz="2000" dirty="0"/>
              <a:t>This seems to be a strong indicator as those that do over time are quitting more than those that don’t</a:t>
            </a:r>
          </a:p>
          <a:p>
            <a:pPr marL="285750" indent="-228600">
              <a:lnSpc>
                <a:spcPct val="90000"/>
              </a:lnSpc>
              <a:spcAft>
                <a:spcPts val="600"/>
              </a:spcAft>
              <a:buFont typeface="Arial" panose="020B0604020202020204" pitchFamily="34" charset="0"/>
              <a:buChar char="•"/>
            </a:pPr>
            <a:r>
              <a:rPr lang="en-US" sz="2000" dirty="0"/>
              <a:t>Indicating that employees are burnt out and leave</a:t>
            </a:r>
          </a:p>
        </p:txBody>
      </p:sp>
      <p:pic>
        <p:nvPicPr>
          <p:cNvPr id="3" name="Picture 2">
            <a:extLst>
              <a:ext uri="{FF2B5EF4-FFF2-40B4-BE49-F238E27FC236}">
                <a16:creationId xmlns:a16="http://schemas.microsoft.com/office/drawing/2014/main" id="{08D5AB6A-1DF2-803F-4E96-B9281126DB54}"/>
              </a:ext>
            </a:extLst>
          </p:cNvPr>
          <p:cNvPicPr>
            <a:picLocks noChangeAspect="1"/>
          </p:cNvPicPr>
          <p:nvPr/>
        </p:nvPicPr>
        <p:blipFill>
          <a:blip r:embed="rId3"/>
          <a:stretch>
            <a:fillRect/>
          </a:stretch>
        </p:blipFill>
        <p:spPr>
          <a:xfrm>
            <a:off x="6512442" y="621610"/>
            <a:ext cx="5201023" cy="5201023"/>
          </a:xfrm>
          <a:prstGeom prst="rect">
            <a:avLst/>
          </a:prstGeom>
        </p:spPr>
      </p:pic>
      <p:sp>
        <p:nvSpPr>
          <p:cNvPr id="44" name="Rectangle 43">
            <a:extLst>
              <a:ext uri="{FF2B5EF4-FFF2-40B4-BE49-F238E27FC236}">
                <a16:creationId xmlns:a16="http://schemas.microsoft.com/office/drawing/2014/main" id="{EEBF1590-3B36-48EE-A89D-3B6F3CB256A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H="1">
            <a:off x="0" y="6400799"/>
            <a:ext cx="12192000" cy="456773"/>
          </a:xfrm>
          <a:prstGeom prst="rect">
            <a:avLst/>
          </a:prstGeom>
          <a:gradFill>
            <a:gsLst>
              <a:gs pos="0">
                <a:schemeClr val="accent1"/>
              </a:gs>
              <a:gs pos="78000">
                <a:srgbClr val="000000"/>
              </a:gs>
            </a:gsLst>
            <a:lin ang="2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6" name="Rectangle 45">
            <a:extLst>
              <a:ext uri="{FF2B5EF4-FFF2-40B4-BE49-F238E27FC236}">
                <a16:creationId xmlns:a16="http://schemas.microsoft.com/office/drawing/2014/main" id="{AC8F6C8C-AB5A-4548-942D-E3FD40ACBC4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4038600" y="6400799"/>
            <a:ext cx="8153398" cy="456772"/>
          </a:xfrm>
          <a:prstGeom prst="rect">
            <a:avLst/>
          </a:prstGeom>
          <a:gradFill>
            <a:gsLst>
              <a:gs pos="0">
                <a:srgbClr val="000000">
                  <a:alpha val="63000"/>
                </a:srgbClr>
              </a:gs>
              <a:gs pos="100000">
                <a:schemeClr val="accent1">
                  <a:lumMod val="75000"/>
                </a:schemeClr>
              </a:gs>
            </a:gsLst>
            <a:lin ang="13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297342904"/>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5A81E826-A700-307B-01D8-A851A3DF97F3}"/>
            </a:ext>
          </a:extLst>
        </p:cNvPr>
        <p:cNvGrpSpPr/>
        <p:nvPr/>
      </p:nvGrpSpPr>
      <p:grpSpPr>
        <a:xfrm>
          <a:off x="0" y="0"/>
          <a:ext cx="0" cy="0"/>
          <a:chOff x="0" y="0"/>
          <a:chExt cx="0" cy="0"/>
        </a:xfrm>
      </p:grpSpPr>
      <p:sp useBgFill="1">
        <p:nvSpPr>
          <p:cNvPr id="85" name="Rectangle 84">
            <a:extLst>
              <a:ext uri="{FF2B5EF4-FFF2-40B4-BE49-F238E27FC236}">
                <a16:creationId xmlns:a16="http://schemas.microsoft.com/office/drawing/2014/main" id="{F0A604E4-7307-451C-93BE-F1F7E1BF3BF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2" y="0"/>
            <a:ext cx="12192004"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7" name="Rectangle 86">
            <a:extLst>
              <a:ext uri="{FF2B5EF4-FFF2-40B4-BE49-F238E27FC236}">
                <a16:creationId xmlns:a16="http://schemas.microsoft.com/office/drawing/2014/main" id="{F7F3A0AA-35E5-4085-942B-73783903060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1" y="5282344"/>
            <a:ext cx="12191998" cy="1590742"/>
          </a:xfrm>
          <a:prstGeom prst="rect">
            <a:avLst/>
          </a:prstGeom>
          <a:gradFill>
            <a:gsLst>
              <a:gs pos="34000">
                <a:srgbClr val="000000">
                  <a:alpha val="96000"/>
                </a:srgbClr>
              </a:gs>
              <a:gs pos="100000">
                <a:schemeClr val="accent1"/>
              </a:gs>
            </a:gsLst>
            <a:lin ang="8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9" name="Rectangle 88">
            <a:extLst>
              <a:ext uri="{FF2B5EF4-FFF2-40B4-BE49-F238E27FC236}">
                <a16:creationId xmlns:a16="http://schemas.microsoft.com/office/drawing/2014/main" id="{402F5C38-C747-4173-ABBF-656E39E8213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4" y="5282344"/>
            <a:ext cx="8115300" cy="1590742"/>
          </a:xfrm>
          <a:prstGeom prst="rect">
            <a:avLst/>
          </a:prstGeom>
          <a:gradFill>
            <a:gsLst>
              <a:gs pos="28000">
                <a:schemeClr val="accent1">
                  <a:lumMod val="75000"/>
                  <a:alpha val="59000"/>
                </a:schemeClr>
              </a:gs>
              <a:gs pos="100000">
                <a:srgbClr val="000000">
                  <a:alpha val="70000"/>
                </a:srgbClr>
              </a:gs>
            </a:gsLst>
            <a:lin ang="11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1" name="Rectangle 90">
            <a:extLst>
              <a:ext uri="{FF2B5EF4-FFF2-40B4-BE49-F238E27FC236}">
                <a16:creationId xmlns:a16="http://schemas.microsoft.com/office/drawing/2014/main" id="{E37EECFC-A684-4391-AE85-4CDAF5565F6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4" y="5282344"/>
            <a:ext cx="12191998" cy="1590742"/>
          </a:xfrm>
          <a:prstGeom prst="rect">
            <a:avLst/>
          </a:prstGeom>
          <a:gradFill>
            <a:gsLst>
              <a:gs pos="0">
                <a:srgbClr val="000000">
                  <a:alpha val="71765"/>
                </a:srgbClr>
              </a:gs>
              <a:gs pos="100000">
                <a:schemeClr val="accent1">
                  <a:alpha val="0"/>
                </a:schemeClr>
              </a:gs>
            </a:gsLst>
            <a:lin ang="156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5E10C2DF-CBED-B35A-9C88-3B38C54E49FA}"/>
              </a:ext>
            </a:extLst>
          </p:cNvPr>
          <p:cNvSpPr>
            <a:spLocks noGrp="1"/>
          </p:cNvSpPr>
          <p:nvPr>
            <p:ph type="title"/>
          </p:nvPr>
        </p:nvSpPr>
        <p:spPr>
          <a:xfrm>
            <a:off x="8281046" y="5498115"/>
            <a:ext cx="6962072" cy="1159200"/>
          </a:xfrm>
        </p:spPr>
        <p:txBody>
          <a:bodyPr vert="horz" lIns="91440" tIns="45720" rIns="91440" bIns="45720" rtlCol="0" anchor="ctr">
            <a:normAutofit/>
          </a:bodyPr>
          <a:lstStyle/>
          <a:p>
            <a:r>
              <a:rPr lang="en-US" sz="4000" kern="1200" dirty="0">
                <a:solidFill>
                  <a:srgbClr val="FFFFFF"/>
                </a:solidFill>
                <a:latin typeface="+mj-lt"/>
                <a:ea typeface="+mj-ea"/>
                <a:cs typeface="+mj-cs"/>
              </a:rPr>
              <a:t>Job Role</a:t>
            </a:r>
          </a:p>
        </p:txBody>
      </p:sp>
      <p:sp>
        <p:nvSpPr>
          <p:cNvPr id="8" name="TextBox 7">
            <a:extLst>
              <a:ext uri="{FF2B5EF4-FFF2-40B4-BE49-F238E27FC236}">
                <a16:creationId xmlns:a16="http://schemas.microsoft.com/office/drawing/2014/main" id="{F5A4283E-A313-7D54-E33E-EC1C9D697342}"/>
              </a:ext>
            </a:extLst>
          </p:cNvPr>
          <p:cNvSpPr txBox="1"/>
          <p:nvPr/>
        </p:nvSpPr>
        <p:spPr>
          <a:xfrm>
            <a:off x="184464" y="5474415"/>
            <a:ext cx="7840419" cy="1206599"/>
          </a:xfrm>
          <a:prstGeom prst="rect">
            <a:avLst/>
          </a:prstGeom>
        </p:spPr>
        <p:txBody>
          <a:bodyPr vert="horz" lIns="91440" tIns="45720" rIns="91440" bIns="45720" rtlCol="0" anchor="ctr">
            <a:normAutofit/>
          </a:bodyPr>
          <a:lstStyle/>
          <a:p>
            <a:pPr>
              <a:lnSpc>
                <a:spcPct val="90000"/>
              </a:lnSpc>
              <a:spcBef>
                <a:spcPts val="1000"/>
              </a:spcBef>
              <a:spcAft>
                <a:spcPts val="600"/>
              </a:spcAft>
            </a:pPr>
            <a:r>
              <a:rPr lang="en-US" sz="2000" kern="1200" dirty="0">
                <a:solidFill>
                  <a:srgbClr val="FFFFFF"/>
                </a:solidFill>
                <a:latin typeface="+mn-lt"/>
                <a:ea typeface="+mn-ea"/>
                <a:cs typeface="+mn-cs"/>
              </a:rPr>
              <a:t>Sales Department, Research Scientist and Lab Technician have the highest turn over</a:t>
            </a:r>
          </a:p>
        </p:txBody>
      </p:sp>
      <p:pic>
        <p:nvPicPr>
          <p:cNvPr id="13" name="Picture 12">
            <a:extLst>
              <a:ext uri="{FF2B5EF4-FFF2-40B4-BE49-F238E27FC236}">
                <a16:creationId xmlns:a16="http://schemas.microsoft.com/office/drawing/2014/main" id="{B812568C-CBAF-B100-5767-93AE01472A83}"/>
              </a:ext>
            </a:extLst>
          </p:cNvPr>
          <p:cNvPicPr>
            <a:picLocks noChangeAspect="1"/>
          </p:cNvPicPr>
          <p:nvPr/>
        </p:nvPicPr>
        <p:blipFill>
          <a:blip r:embed="rId3"/>
          <a:stretch>
            <a:fillRect/>
          </a:stretch>
        </p:blipFill>
        <p:spPr>
          <a:xfrm>
            <a:off x="1858790" y="390832"/>
            <a:ext cx="8567039" cy="4519114"/>
          </a:xfrm>
          <a:prstGeom prst="rect">
            <a:avLst/>
          </a:prstGeom>
        </p:spPr>
      </p:pic>
    </p:spTree>
    <p:extLst>
      <p:ext uri="{BB962C8B-B14F-4D97-AF65-F5344CB8AC3E}">
        <p14:creationId xmlns:p14="http://schemas.microsoft.com/office/powerpoint/2010/main" val="522298433"/>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F13B8305-5896-4B3F-8C36-6C4E3D28F05F}"/>
            </a:ext>
          </a:extLst>
        </p:cNvPr>
        <p:cNvGrpSpPr/>
        <p:nvPr/>
      </p:nvGrpSpPr>
      <p:grpSpPr>
        <a:xfrm>
          <a:off x="0" y="0"/>
          <a:ext cx="0" cy="0"/>
          <a:chOff x="0" y="0"/>
          <a:chExt cx="0" cy="0"/>
        </a:xfrm>
      </p:grpSpPr>
      <p:sp useBgFill="1">
        <p:nvSpPr>
          <p:cNvPr id="99" name="Rectangle 98">
            <a:extLst>
              <a:ext uri="{FF2B5EF4-FFF2-40B4-BE49-F238E27FC236}">
                <a16:creationId xmlns:a16="http://schemas.microsoft.com/office/drawing/2014/main" id="{2151139A-886F-4B97-8815-729AD3831BB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000"/>
          </a:p>
        </p:txBody>
      </p:sp>
      <p:sp>
        <p:nvSpPr>
          <p:cNvPr id="101" name="Rectangle 100">
            <a:extLst>
              <a:ext uri="{FF2B5EF4-FFF2-40B4-BE49-F238E27FC236}">
                <a16:creationId xmlns:a16="http://schemas.microsoft.com/office/drawing/2014/main" id="{AB5E08C4-8CDD-4623-A5B8-E998C6DEE3B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2" y="492"/>
            <a:ext cx="12191998" cy="1575955"/>
          </a:xfrm>
          <a:prstGeom prst="rect">
            <a:avLst/>
          </a:prstGeom>
          <a:gradFill>
            <a:gsLst>
              <a:gs pos="0">
                <a:schemeClr val="accent1">
                  <a:lumMod val="50000"/>
                </a:schemeClr>
              </a:gs>
              <a:gs pos="100000">
                <a:schemeClr val="accent1">
                  <a:lumMod val="75000"/>
                </a:schemeClr>
              </a:gs>
            </a:gsLst>
            <a:lin ang="8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3" name="Rectangle 102">
            <a:extLst>
              <a:ext uri="{FF2B5EF4-FFF2-40B4-BE49-F238E27FC236}">
                <a16:creationId xmlns:a16="http://schemas.microsoft.com/office/drawing/2014/main" id="{15F33878-D502-4FFA-8ACE-F2AECDB2A23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H="1">
            <a:off x="8128857" y="35"/>
            <a:ext cx="4063143" cy="1576412"/>
          </a:xfrm>
          <a:prstGeom prst="rect">
            <a:avLst/>
          </a:prstGeom>
          <a:gradFill>
            <a:gsLst>
              <a:gs pos="19000">
                <a:schemeClr val="accent1">
                  <a:lumMod val="50000"/>
                  <a:alpha val="68000"/>
                </a:schemeClr>
              </a:gs>
              <a:gs pos="100000">
                <a:schemeClr val="accent1">
                  <a:alpha val="79000"/>
                </a:schemeClr>
              </a:gs>
            </a:gsLst>
            <a:lin ang="19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5" name="Rectangle 104">
            <a:extLst>
              <a:ext uri="{FF2B5EF4-FFF2-40B4-BE49-F238E27FC236}">
                <a16:creationId xmlns:a16="http://schemas.microsoft.com/office/drawing/2014/main" id="{D3539FEE-81D3-4406-802E-60B20B16F4F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5307778" y="-5307777"/>
            <a:ext cx="1576446" cy="12192001"/>
          </a:xfrm>
          <a:prstGeom prst="rect">
            <a:avLst/>
          </a:prstGeom>
          <a:gradFill>
            <a:gsLst>
              <a:gs pos="16000">
                <a:srgbClr val="000000">
                  <a:alpha val="0"/>
                </a:srgbClr>
              </a:gs>
              <a:gs pos="99000">
                <a:srgbClr val="000000">
                  <a:alpha val="87000"/>
                </a:srgbClr>
              </a:gs>
            </a:gsLst>
            <a:lin ang="11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07" name="Rectangle 106">
            <a:extLst>
              <a:ext uri="{FF2B5EF4-FFF2-40B4-BE49-F238E27FC236}">
                <a16:creationId xmlns:a16="http://schemas.microsoft.com/office/drawing/2014/main" id="{DC701763-729E-462F-A5A8-E0DEFEB1E2E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825434" y="986"/>
            <a:ext cx="4303422" cy="1575461"/>
          </a:xfrm>
          <a:prstGeom prst="rect">
            <a:avLst/>
          </a:prstGeom>
          <a:gradFill>
            <a:gsLst>
              <a:gs pos="0">
                <a:schemeClr val="accent1">
                  <a:alpha val="17000"/>
                </a:schemeClr>
              </a:gs>
              <a:gs pos="74000">
                <a:schemeClr val="accent1">
                  <a:lumMod val="50000"/>
                  <a:alpha val="0"/>
                </a:schemeClr>
              </a:gs>
            </a:gsLst>
            <a:lin ang="14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48ECC345-AD27-4C9E-5BA2-C0DC2065716E}"/>
              </a:ext>
            </a:extLst>
          </p:cNvPr>
          <p:cNvSpPr>
            <a:spLocks noGrp="1"/>
          </p:cNvSpPr>
          <p:nvPr>
            <p:ph type="title"/>
          </p:nvPr>
        </p:nvSpPr>
        <p:spPr>
          <a:xfrm>
            <a:off x="8646348" y="319181"/>
            <a:ext cx="7091300" cy="898581"/>
          </a:xfrm>
        </p:spPr>
        <p:txBody>
          <a:bodyPr vert="horz" lIns="91440" tIns="45720" rIns="91440" bIns="45720" rtlCol="0" anchor="ctr">
            <a:normAutofit/>
          </a:bodyPr>
          <a:lstStyle/>
          <a:p>
            <a:r>
              <a:rPr lang="en-US" sz="4000" dirty="0">
                <a:solidFill>
                  <a:srgbClr val="FFFFFF"/>
                </a:solidFill>
              </a:rPr>
              <a:t>Job Role</a:t>
            </a:r>
          </a:p>
        </p:txBody>
      </p:sp>
      <p:sp>
        <p:nvSpPr>
          <p:cNvPr id="8" name="TextBox 7">
            <a:extLst>
              <a:ext uri="{FF2B5EF4-FFF2-40B4-BE49-F238E27FC236}">
                <a16:creationId xmlns:a16="http://schemas.microsoft.com/office/drawing/2014/main" id="{C49E3221-E617-D9CF-37E0-4A606B96468F}"/>
              </a:ext>
            </a:extLst>
          </p:cNvPr>
          <p:cNvSpPr txBox="1"/>
          <p:nvPr/>
        </p:nvSpPr>
        <p:spPr>
          <a:xfrm>
            <a:off x="167486" y="122318"/>
            <a:ext cx="7830102" cy="1249282"/>
          </a:xfrm>
          <a:prstGeom prst="rect">
            <a:avLst/>
          </a:prstGeom>
        </p:spPr>
        <p:txBody>
          <a:bodyPr vert="horz" lIns="91440" tIns="45720" rIns="91440" bIns="45720" rtlCol="0" anchor="ctr">
            <a:normAutofit/>
          </a:bodyPr>
          <a:lstStyle/>
          <a:p>
            <a:pPr marL="285750" indent="-285750">
              <a:lnSpc>
                <a:spcPct val="90000"/>
              </a:lnSpc>
              <a:spcBef>
                <a:spcPts val="1000"/>
              </a:spcBef>
              <a:spcAft>
                <a:spcPts val="600"/>
              </a:spcAft>
              <a:buFont typeface="Arial" panose="020B0604020202020204" pitchFamily="34" charset="0"/>
              <a:buChar char="•"/>
            </a:pPr>
            <a:r>
              <a:rPr lang="en-US" sz="1600" dirty="0">
                <a:solidFill>
                  <a:srgbClr val="FFFFFF"/>
                </a:solidFill>
              </a:rPr>
              <a:t>Sales Representative has the highest attrition rate at 45.3%, followed by Laboratory Technician (19.6%) and Research Scientist (18.6%)</a:t>
            </a:r>
          </a:p>
          <a:p>
            <a:pPr marL="285750" indent="-285750">
              <a:lnSpc>
                <a:spcPct val="90000"/>
              </a:lnSpc>
              <a:spcBef>
                <a:spcPts val="1000"/>
              </a:spcBef>
              <a:spcAft>
                <a:spcPts val="600"/>
              </a:spcAft>
              <a:buFont typeface="Arial" panose="020B0604020202020204" pitchFamily="34" charset="0"/>
              <a:buChar char="•"/>
            </a:pPr>
            <a:r>
              <a:rPr lang="en-US" sz="1600" dirty="0">
                <a:solidFill>
                  <a:srgbClr val="FFFFFF"/>
                </a:solidFill>
              </a:rPr>
              <a:t>Jobs in the left chart are high risk group worth targeting retention efforts</a:t>
            </a:r>
          </a:p>
        </p:txBody>
      </p:sp>
      <p:pic>
        <p:nvPicPr>
          <p:cNvPr id="3" name="Picture 2">
            <a:extLst>
              <a:ext uri="{FF2B5EF4-FFF2-40B4-BE49-F238E27FC236}">
                <a16:creationId xmlns:a16="http://schemas.microsoft.com/office/drawing/2014/main" id="{D9A8F2DA-B2F1-36CE-9FB4-48C2270E1F2D}"/>
              </a:ext>
            </a:extLst>
          </p:cNvPr>
          <p:cNvPicPr>
            <a:picLocks noChangeAspect="1"/>
          </p:cNvPicPr>
          <p:nvPr/>
        </p:nvPicPr>
        <p:blipFill>
          <a:blip r:embed="rId3"/>
          <a:stretch>
            <a:fillRect/>
          </a:stretch>
        </p:blipFill>
        <p:spPr>
          <a:xfrm>
            <a:off x="771346" y="1748866"/>
            <a:ext cx="4984484" cy="4984484"/>
          </a:xfrm>
          <a:prstGeom prst="rect">
            <a:avLst/>
          </a:prstGeom>
        </p:spPr>
      </p:pic>
      <p:pic>
        <p:nvPicPr>
          <p:cNvPr id="4" name="Picture 3">
            <a:extLst>
              <a:ext uri="{FF2B5EF4-FFF2-40B4-BE49-F238E27FC236}">
                <a16:creationId xmlns:a16="http://schemas.microsoft.com/office/drawing/2014/main" id="{61A57C6C-6708-BE9A-A989-2A3D2A119D4D}"/>
              </a:ext>
            </a:extLst>
          </p:cNvPr>
          <p:cNvPicPr>
            <a:picLocks noChangeAspect="1"/>
          </p:cNvPicPr>
          <p:nvPr/>
        </p:nvPicPr>
        <p:blipFill>
          <a:blip r:embed="rId4"/>
          <a:stretch>
            <a:fillRect/>
          </a:stretch>
        </p:blipFill>
        <p:spPr>
          <a:xfrm>
            <a:off x="6527175" y="1748866"/>
            <a:ext cx="4984484" cy="4984482"/>
          </a:xfrm>
          <a:prstGeom prst="rect">
            <a:avLst/>
          </a:prstGeom>
        </p:spPr>
      </p:pic>
    </p:spTree>
    <p:extLst>
      <p:ext uri="{BB962C8B-B14F-4D97-AF65-F5344CB8AC3E}">
        <p14:creationId xmlns:p14="http://schemas.microsoft.com/office/powerpoint/2010/main" val="1536469443"/>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E05ABE41-90C0-50C9-C445-4222A866B113}"/>
            </a:ext>
          </a:extLst>
        </p:cNvPr>
        <p:cNvGrpSpPr/>
        <p:nvPr/>
      </p:nvGrpSpPr>
      <p:grpSpPr>
        <a:xfrm>
          <a:off x="0" y="0"/>
          <a:ext cx="0" cy="0"/>
          <a:chOff x="0" y="0"/>
          <a:chExt cx="0" cy="0"/>
        </a:xfrm>
      </p:grpSpPr>
      <p:sp useBgFill="1">
        <p:nvSpPr>
          <p:cNvPr id="129" name="Rectangle 128">
            <a:extLst>
              <a:ext uri="{FF2B5EF4-FFF2-40B4-BE49-F238E27FC236}">
                <a16:creationId xmlns:a16="http://schemas.microsoft.com/office/drawing/2014/main" id="{DEE2AD96-B495-4E06-9291-B71706F728C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1" name="Rectangle 130">
            <a:extLst>
              <a:ext uri="{FF2B5EF4-FFF2-40B4-BE49-F238E27FC236}">
                <a16:creationId xmlns:a16="http://schemas.microsoft.com/office/drawing/2014/main" id="{53CF6D67-C5A8-4ADD-9E8E-1E38CA1D316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638515" y="639280"/>
            <a:ext cx="6858000" cy="5579440"/>
          </a:xfrm>
          <a:prstGeom prst="rect">
            <a:avLst/>
          </a:prstGeom>
          <a:gradFill>
            <a:gsLst>
              <a:gs pos="8000">
                <a:srgbClr val="000000"/>
              </a:gs>
              <a:gs pos="100000">
                <a:schemeClr val="accent1">
                  <a:lumMod val="75000"/>
                </a:schemeClr>
              </a:gs>
            </a:gsLst>
            <a:lin ang="3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3" name="Rectangle 132">
            <a:extLst>
              <a:ext uri="{FF2B5EF4-FFF2-40B4-BE49-F238E27FC236}">
                <a16:creationId xmlns:a16="http://schemas.microsoft.com/office/drawing/2014/main" id="{86909FA0-B515-4681-B7A8-FA281D133B9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393206" y="395206"/>
            <a:ext cx="6346209" cy="5576080"/>
          </a:xfrm>
          <a:prstGeom prst="rect">
            <a:avLst/>
          </a:prstGeom>
          <a:gradFill>
            <a:gsLst>
              <a:gs pos="0">
                <a:srgbClr val="000000">
                  <a:alpha val="0"/>
                </a:srgbClr>
              </a:gs>
              <a:gs pos="99000">
                <a:schemeClr val="accent1">
                  <a:alpha val="0"/>
                </a:schemeClr>
              </a:gs>
            </a:gsLst>
            <a:lin ang="1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5" name="Rectangle 134">
            <a:extLst>
              <a:ext uri="{FF2B5EF4-FFF2-40B4-BE49-F238E27FC236}">
                <a16:creationId xmlns:a16="http://schemas.microsoft.com/office/drawing/2014/main" id="{21C9FE86-FCC3-4A31-AA1C-C882262B7FE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1528907" y="2818967"/>
            <a:ext cx="2501979" cy="5576080"/>
          </a:xfrm>
          <a:prstGeom prst="rect">
            <a:avLst/>
          </a:prstGeom>
          <a:gradFill>
            <a:gsLst>
              <a:gs pos="2000">
                <a:schemeClr val="accent1">
                  <a:alpha val="29000"/>
                </a:schemeClr>
              </a:gs>
              <a:gs pos="100000">
                <a:srgbClr val="000000">
                  <a:alpha val="30000"/>
                </a:srgbClr>
              </a:gs>
            </a:gsLst>
            <a:lin ang="7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37" name="Rectangle 136">
            <a:extLst>
              <a:ext uri="{FF2B5EF4-FFF2-40B4-BE49-F238E27FC236}">
                <a16:creationId xmlns:a16="http://schemas.microsoft.com/office/drawing/2014/main" id="{7D96243B-ECED-4B71-8E06-AE9A285EAD2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425002" y="852793"/>
            <a:ext cx="6858001" cy="5152412"/>
          </a:xfrm>
          <a:prstGeom prst="rect">
            <a:avLst/>
          </a:prstGeom>
          <a:gradFill>
            <a:gsLst>
              <a:gs pos="0">
                <a:srgbClr val="000000">
                  <a:alpha val="0"/>
                </a:srgbClr>
              </a:gs>
              <a:gs pos="99000">
                <a:schemeClr val="accent1">
                  <a:alpha val="11000"/>
                </a:schemeClr>
              </a:gs>
            </a:gsLst>
            <a:lin ang="7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9" name="Oval 138">
            <a:extLst>
              <a:ext uri="{FF2B5EF4-FFF2-40B4-BE49-F238E27FC236}">
                <a16:creationId xmlns:a16="http://schemas.microsoft.com/office/drawing/2014/main" id="{A09989E4-EFDC-4A90-A633-E0525FB4139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6097846">
            <a:off x="818753" y="1128497"/>
            <a:ext cx="4318303" cy="4318303"/>
          </a:xfrm>
          <a:prstGeom prst="ellipse">
            <a:avLst/>
          </a:prstGeom>
          <a:gradFill>
            <a:gsLst>
              <a:gs pos="39000">
                <a:schemeClr val="accent1">
                  <a:alpha val="0"/>
                </a:schemeClr>
              </a:gs>
              <a:gs pos="100000">
                <a:schemeClr val="accent1">
                  <a:lumMod val="60000"/>
                  <a:lumOff val="40000"/>
                  <a:alpha val="15000"/>
                </a:schemeClr>
              </a:gs>
            </a:gsLst>
            <a:lin ang="17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itle 1">
            <a:extLst>
              <a:ext uri="{FF2B5EF4-FFF2-40B4-BE49-F238E27FC236}">
                <a16:creationId xmlns:a16="http://schemas.microsoft.com/office/drawing/2014/main" id="{CA101D52-A0CC-F80A-1F80-7C7C58DE9677}"/>
              </a:ext>
            </a:extLst>
          </p:cNvPr>
          <p:cNvSpPr>
            <a:spLocks noGrp="1"/>
          </p:cNvSpPr>
          <p:nvPr>
            <p:ph type="title"/>
          </p:nvPr>
        </p:nvSpPr>
        <p:spPr>
          <a:xfrm>
            <a:off x="826396" y="586855"/>
            <a:ext cx="4230100" cy="3387497"/>
          </a:xfrm>
        </p:spPr>
        <p:txBody>
          <a:bodyPr vert="horz" lIns="91440" tIns="45720" rIns="91440" bIns="45720" rtlCol="0" anchor="b">
            <a:normAutofit/>
          </a:bodyPr>
          <a:lstStyle/>
          <a:p>
            <a:pPr algn="r"/>
            <a:r>
              <a:rPr lang="en-US" sz="4000" kern="1200" dirty="0">
                <a:solidFill>
                  <a:srgbClr val="FFFFFF"/>
                </a:solidFill>
                <a:latin typeface="+mj-lt"/>
                <a:ea typeface="+mj-ea"/>
                <a:cs typeface="+mj-cs"/>
              </a:rPr>
              <a:t>Key Takeaways</a:t>
            </a:r>
          </a:p>
        </p:txBody>
      </p:sp>
      <p:sp>
        <p:nvSpPr>
          <p:cNvPr id="8" name="TextBox 7">
            <a:extLst>
              <a:ext uri="{FF2B5EF4-FFF2-40B4-BE49-F238E27FC236}">
                <a16:creationId xmlns:a16="http://schemas.microsoft.com/office/drawing/2014/main" id="{87B0CE6E-11DD-9C76-2F4A-8F984AE5E38C}"/>
              </a:ext>
            </a:extLst>
          </p:cNvPr>
          <p:cNvSpPr txBox="1"/>
          <p:nvPr/>
        </p:nvSpPr>
        <p:spPr>
          <a:xfrm>
            <a:off x="6503158" y="649480"/>
            <a:ext cx="4862447" cy="5546047"/>
          </a:xfrm>
          <a:prstGeom prst="rect">
            <a:avLst/>
          </a:prstGeom>
        </p:spPr>
        <p:txBody>
          <a:bodyPr vert="horz" lIns="91440" tIns="45720" rIns="91440" bIns="45720" rtlCol="0" anchor="ctr">
            <a:normAutofit/>
          </a:bodyPr>
          <a:lstStyle/>
          <a:p>
            <a:pPr indent="-228600">
              <a:lnSpc>
                <a:spcPct val="90000"/>
              </a:lnSpc>
              <a:spcBef>
                <a:spcPts val="1000"/>
              </a:spcBef>
              <a:spcAft>
                <a:spcPts val="600"/>
              </a:spcAft>
              <a:buFont typeface="Arial" panose="020B0604020202020204" pitchFamily="34" charset="0"/>
              <a:buChar char="•"/>
            </a:pPr>
            <a:r>
              <a:rPr lang="en-US" sz="2000" b="1" dirty="0"/>
              <a:t>3 Major Factors for Attrition</a:t>
            </a:r>
          </a:p>
          <a:p>
            <a:pPr lvl="1" indent="-228600">
              <a:lnSpc>
                <a:spcPct val="90000"/>
              </a:lnSpc>
              <a:spcBef>
                <a:spcPts val="1000"/>
              </a:spcBef>
              <a:spcAft>
                <a:spcPts val="600"/>
              </a:spcAft>
              <a:buFont typeface="Arial" panose="020B0604020202020204" pitchFamily="34" charset="0"/>
              <a:buChar char="•"/>
            </a:pPr>
            <a:r>
              <a:rPr lang="en-US" sz="2000" dirty="0"/>
              <a:t>Overtime</a:t>
            </a:r>
          </a:p>
          <a:p>
            <a:pPr lvl="1" indent="-228600">
              <a:lnSpc>
                <a:spcPct val="90000"/>
              </a:lnSpc>
              <a:spcBef>
                <a:spcPts val="1000"/>
              </a:spcBef>
              <a:spcAft>
                <a:spcPts val="600"/>
              </a:spcAft>
              <a:buFont typeface="Arial" panose="020B0604020202020204" pitchFamily="34" charset="0"/>
              <a:buChar char="•"/>
            </a:pPr>
            <a:r>
              <a:rPr lang="en-US" sz="2000" dirty="0"/>
              <a:t>Monthly Income</a:t>
            </a:r>
          </a:p>
          <a:p>
            <a:pPr lvl="1" indent="-228600">
              <a:lnSpc>
                <a:spcPct val="90000"/>
              </a:lnSpc>
              <a:spcBef>
                <a:spcPts val="1000"/>
              </a:spcBef>
              <a:spcAft>
                <a:spcPts val="600"/>
              </a:spcAft>
              <a:buFont typeface="Arial" panose="020B0604020202020204" pitchFamily="34" charset="0"/>
              <a:buChar char="•"/>
            </a:pPr>
            <a:r>
              <a:rPr lang="en-US" sz="2000" dirty="0"/>
              <a:t>Marital Status</a:t>
            </a:r>
          </a:p>
          <a:p>
            <a:pPr indent="-228600">
              <a:lnSpc>
                <a:spcPct val="90000"/>
              </a:lnSpc>
              <a:spcBef>
                <a:spcPts val="1000"/>
              </a:spcBef>
              <a:spcAft>
                <a:spcPts val="600"/>
              </a:spcAft>
              <a:buFont typeface="Arial" panose="020B0604020202020204" pitchFamily="34" charset="0"/>
              <a:buChar char="•"/>
            </a:pPr>
            <a:r>
              <a:rPr lang="en-US" sz="2000" b="1" dirty="0"/>
              <a:t>Other Helping </a:t>
            </a:r>
            <a:r>
              <a:rPr lang="en-US" sz="2000" b="1" dirty="0" err="1"/>
              <a:t>Indetifiers</a:t>
            </a:r>
            <a:endParaRPr lang="en-US" sz="2000" b="1" dirty="0"/>
          </a:p>
          <a:p>
            <a:pPr lvl="1" indent="-228600">
              <a:lnSpc>
                <a:spcPct val="90000"/>
              </a:lnSpc>
              <a:spcBef>
                <a:spcPts val="1000"/>
              </a:spcBef>
              <a:spcAft>
                <a:spcPts val="600"/>
              </a:spcAft>
              <a:buFont typeface="Arial" panose="020B0604020202020204" pitchFamily="34" charset="0"/>
              <a:buChar char="•"/>
            </a:pPr>
            <a:r>
              <a:rPr lang="en-US" sz="2000" dirty="0"/>
              <a:t>Age</a:t>
            </a:r>
          </a:p>
          <a:p>
            <a:pPr lvl="1" indent="-228600">
              <a:lnSpc>
                <a:spcPct val="90000"/>
              </a:lnSpc>
              <a:spcBef>
                <a:spcPts val="1000"/>
              </a:spcBef>
              <a:spcAft>
                <a:spcPts val="600"/>
              </a:spcAft>
              <a:buFont typeface="Arial" panose="020B0604020202020204" pitchFamily="34" charset="0"/>
              <a:buChar char="•"/>
            </a:pPr>
            <a:r>
              <a:rPr lang="en-US" sz="2000" dirty="0"/>
              <a:t>Job level</a:t>
            </a:r>
          </a:p>
          <a:p>
            <a:pPr lvl="1" indent="-228600">
              <a:lnSpc>
                <a:spcPct val="90000"/>
              </a:lnSpc>
              <a:spcBef>
                <a:spcPts val="1000"/>
              </a:spcBef>
              <a:spcAft>
                <a:spcPts val="600"/>
              </a:spcAft>
              <a:buFont typeface="Arial" panose="020B0604020202020204" pitchFamily="34" charset="0"/>
              <a:buChar char="•"/>
            </a:pPr>
            <a:r>
              <a:rPr lang="en-US" sz="2000" dirty="0"/>
              <a:t>Total Years of Work Experience</a:t>
            </a:r>
          </a:p>
          <a:p>
            <a:pPr lvl="1" indent="-228600">
              <a:lnSpc>
                <a:spcPct val="90000"/>
              </a:lnSpc>
              <a:spcBef>
                <a:spcPts val="1000"/>
              </a:spcBef>
              <a:spcAft>
                <a:spcPts val="600"/>
              </a:spcAft>
              <a:buFont typeface="Arial" panose="020B0604020202020204" pitchFamily="34" charset="0"/>
              <a:buChar char="•"/>
            </a:pPr>
            <a:r>
              <a:rPr lang="en-US" sz="2000" dirty="0"/>
              <a:t>Years with their current manager</a:t>
            </a:r>
          </a:p>
          <a:p>
            <a:pPr lvl="1" indent="-228600">
              <a:lnSpc>
                <a:spcPct val="90000"/>
              </a:lnSpc>
              <a:spcBef>
                <a:spcPts val="1000"/>
              </a:spcBef>
              <a:spcAft>
                <a:spcPts val="600"/>
              </a:spcAft>
              <a:buFont typeface="Arial" panose="020B0604020202020204" pitchFamily="34" charset="0"/>
              <a:buChar char="•"/>
            </a:pPr>
            <a:r>
              <a:rPr lang="en-US" sz="2000" dirty="0"/>
              <a:t>Job Role</a:t>
            </a:r>
          </a:p>
          <a:p>
            <a:pPr lvl="1" indent="-228600">
              <a:lnSpc>
                <a:spcPct val="90000"/>
              </a:lnSpc>
              <a:spcBef>
                <a:spcPts val="1000"/>
              </a:spcBef>
              <a:spcAft>
                <a:spcPts val="600"/>
              </a:spcAft>
              <a:buFont typeface="Arial" panose="020B0604020202020204" pitchFamily="34" charset="0"/>
              <a:buChar char="•"/>
            </a:pPr>
            <a:endParaRPr lang="en-US" sz="2000" dirty="0"/>
          </a:p>
          <a:p>
            <a:pPr lvl="1" indent="-228600">
              <a:lnSpc>
                <a:spcPct val="90000"/>
              </a:lnSpc>
              <a:spcBef>
                <a:spcPts val="1000"/>
              </a:spcBef>
              <a:spcAft>
                <a:spcPts val="600"/>
              </a:spcAft>
              <a:buFont typeface="Arial" panose="020B0604020202020204" pitchFamily="34" charset="0"/>
              <a:buChar char="•"/>
            </a:pPr>
            <a:endParaRPr lang="en-US" sz="2000" dirty="0"/>
          </a:p>
        </p:txBody>
      </p:sp>
    </p:spTree>
    <p:extLst>
      <p:ext uri="{BB962C8B-B14F-4D97-AF65-F5344CB8AC3E}">
        <p14:creationId xmlns:p14="http://schemas.microsoft.com/office/powerpoint/2010/main" val="51694942"/>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0E30439A-8A5B-46EC-8283-9B6B031D40D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ectangle 9">
            <a:extLst>
              <a:ext uri="{FF2B5EF4-FFF2-40B4-BE49-F238E27FC236}">
                <a16:creationId xmlns:a16="http://schemas.microsoft.com/office/drawing/2014/main" id="{5CEAD642-85CF-4750-8432-7C80C901F00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427"/>
            <a:ext cx="12192001" cy="6858000"/>
          </a:xfrm>
          <a:prstGeom prst="rect">
            <a:avLst/>
          </a:prstGeom>
          <a:gradFill>
            <a:gsLst>
              <a:gs pos="0">
                <a:srgbClr val="000000"/>
              </a:gs>
              <a:gs pos="100000">
                <a:schemeClr val="accent1">
                  <a:lumMod val="75000"/>
                </a:schemeClr>
              </a:gs>
            </a:gsLst>
            <a:lin ang="15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id="{FA33EEAE-15D5-4119-8C1E-89D943F911E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H="1">
            <a:off x="455521" y="-1720"/>
            <a:ext cx="11750040" cy="6840685"/>
          </a:xfrm>
          <a:prstGeom prst="rect">
            <a:avLst/>
          </a:prstGeom>
          <a:gradFill>
            <a:gsLst>
              <a:gs pos="21000">
                <a:schemeClr val="accent1">
                  <a:lumMod val="50000"/>
                  <a:alpha val="61000"/>
                </a:schemeClr>
              </a:gs>
              <a:gs pos="100000">
                <a:schemeClr val="accent1">
                  <a:alpha val="0"/>
                </a:schemeClr>
              </a:gs>
            </a:gsLst>
            <a:lin ang="21594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Rectangle 13">
            <a:extLst>
              <a:ext uri="{FF2B5EF4-FFF2-40B4-BE49-F238E27FC236}">
                <a16:creationId xmlns:a16="http://schemas.microsoft.com/office/drawing/2014/main" id="{730D8B3B-9B80-4025-B934-26DC7D7CD23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8606054" y="-1291"/>
            <a:ext cx="3608179" cy="6858864"/>
          </a:xfrm>
          <a:prstGeom prst="rect">
            <a:avLst/>
          </a:prstGeom>
          <a:gradFill>
            <a:gsLst>
              <a:gs pos="0">
                <a:schemeClr val="accent1">
                  <a:lumMod val="75000"/>
                  <a:alpha val="0"/>
                </a:schemeClr>
              </a:gs>
              <a:gs pos="99000">
                <a:srgbClr val="000000">
                  <a:alpha val="41000"/>
                </a:srgbClr>
              </a:gs>
            </a:gsLst>
            <a:lin ang="16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Oval 15">
            <a:extLst>
              <a:ext uri="{FF2B5EF4-FFF2-40B4-BE49-F238E27FC236}">
                <a16:creationId xmlns:a16="http://schemas.microsoft.com/office/drawing/2014/main" id="{B5A1B09C-1565-46F8-B70F-621C5EB48A0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5274173">
            <a:off x="6059728" y="779270"/>
            <a:ext cx="4967533" cy="4988390"/>
          </a:xfrm>
          <a:prstGeom prst="ellipse">
            <a:avLst/>
          </a:prstGeom>
          <a:gradFill>
            <a:gsLst>
              <a:gs pos="0">
                <a:schemeClr val="accent1">
                  <a:alpha val="24000"/>
                </a:schemeClr>
              </a:gs>
              <a:gs pos="79000">
                <a:schemeClr val="accent1">
                  <a:lumMod val="60000"/>
                  <a:lumOff val="40000"/>
                  <a:alpha val="0"/>
                </a:schemeClr>
              </a:gs>
            </a:gsLst>
            <a:lin ang="14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itle 1">
            <a:extLst>
              <a:ext uri="{FF2B5EF4-FFF2-40B4-BE49-F238E27FC236}">
                <a16:creationId xmlns:a16="http://schemas.microsoft.com/office/drawing/2014/main" id="{21936C5C-7B07-878F-F163-99B86A4C938D}"/>
              </a:ext>
            </a:extLst>
          </p:cNvPr>
          <p:cNvSpPr>
            <a:spLocks noGrp="1"/>
          </p:cNvSpPr>
          <p:nvPr>
            <p:ph type="title"/>
          </p:nvPr>
        </p:nvSpPr>
        <p:spPr>
          <a:xfrm>
            <a:off x="1386865" y="818984"/>
            <a:ext cx="6596245" cy="3268520"/>
          </a:xfrm>
        </p:spPr>
        <p:txBody>
          <a:bodyPr vert="horz" lIns="91440" tIns="45720" rIns="91440" bIns="45720" rtlCol="0" anchor="b">
            <a:normAutofit/>
          </a:bodyPr>
          <a:lstStyle/>
          <a:p>
            <a:pPr algn="r"/>
            <a:r>
              <a:rPr lang="en-US" sz="4800" kern="1200" dirty="0">
                <a:solidFill>
                  <a:srgbClr val="FFFFFF"/>
                </a:solidFill>
                <a:latin typeface="+mj-lt"/>
                <a:ea typeface="+mj-ea"/>
                <a:cs typeface="+mj-cs"/>
              </a:rPr>
              <a:t>Prevention and Cost</a:t>
            </a:r>
          </a:p>
        </p:txBody>
      </p:sp>
      <p:sp>
        <p:nvSpPr>
          <p:cNvPr id="18" name="Rectangle 17">
            <a:extLst>
              <a:ext uri="{FF2B5EF4-FFF2-40B4-BE49-F238E27FC236}">
                <a16:creationId xmlns:a16="http://schemas.microsoft.com/office/drawing/2014/main" id="{8C516CC8-80AC-446C-A56E-9F54B721040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H="1">
            <a:off x="6314" y="4480038"/>
            <a:ext cx="12179371" cy="2377962"/>
          </a:xfrm>
          <a:prstGeom prst="rect">
            <a:avLst/>
          </a:prstGeom>
          <a:gradFill>
            <a:gsLst>
              <a:gs pos="0">
                <a:schemeClr val="accent1">
                  <a:lumMod val="75000"/>
                  <a:alpha val="50000"/>
                </a:schemeClr>
              </a:gs>
              <a:gs pos="99000">
                <a:srgbClr val="000000">
                  <a:alpha val="34000"/>
                </a:srgbClr>
              </a:gs>
            </a:gsLst>
            <a:lin ang="17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 name="Rectangle 19">
            <a:extLst>
              <a:ext uri="{FF2B5EF4-FFF2-40B4-BE49-F238E27FC236}">
                <a16:creationId xmlns:a16="http://schemas.microsoft.com/office/drawing/2014/main" id="{53947E58-F088-49F1-A3D1-DEA690192E8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6200000" flipH="1">
            <a:off x="6967085" y="1632660"/>
            <a:ext cx="6857572" cy="3592258"/>
          </a:xfrm>
          <a:prstGeom prst="rect">
            <a:avLst/>
          </a:prstGeom>
          <a:gradFill>
            <a:gsLst>
              <a:gs pos="0">
                <a:schemeClr val="accent1">
                  <a:lumMod val="75000"/>
                  <a:alpha val="50000"/>
                </a:schemeClr>
              </a:gs>
              <a:gs pos="99000">
                <a:srgbClr val="000000">
                  <a:alpha val="0"/>
                </a:srgbClr>
              </a:gs>
            </a:gsLst>
            <a:lin ang="156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1061346991"/>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8" name="Rectangle 87">
            <a:extLst>
              <a:ext uri="{FF2B5EF4-FFF2-40B4-BE49-F238E27FC236}">
                <a16:creationId xmlns:a16="http://schemas.microsoft.com/office/drawing/2014/main" id="{BACC6370-2D7E-4714-9D71-7542949D7D5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0" name="Rectangle 89">
            <a:extLst>
              <a:ext uri="{FF2B5EF4-FFF2-40B4-BE49-F238E27FC236}">
                <a16:creationId xmlns:a16="http://schemas.microsoft.com/office/drawing/2014/main" id="{F68B3F68-107C-434F-AA38-110D5EA91B8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2" y="0"/>
            <a:ext cx="12191998" cy="1575955"/>
          </a:xfrm>
          <a:prstGeom prst="rect">
            <a:avLst/>
          </a:prstGeom>
          <a:gradFill>
            <a:gsLst>
              <a:gs pos="0">
                <a:srgbClr val="000000">
                  <a:alpha val="96000"/>
                </a:srgbClr>
              </a:gs>
              <a:gs pos="100000">
                <a:schemeClr val="accent1">
                  <a:lumMod val="75000"/>
                </a:schemeClr>
              </a:gs>
            </a:gsLst>
            <a:lin ang="8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2" name="Rectangle 91">
            <a:extLst>
              <a:ext uri="{FF2B5EF4-FFF2-40B4-BE49-F238E27FC236}">
                <a16:creationId xmlns:a16="http://schemas.microsoft.com/office/drawing/2014/main" id="{AAD0DBB9-1A4B-4391-81D4-CB19F9AB918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H="1">
            <a:off x="8128857" y="0"/>
            <a:ext cx="4063143" cy="1576412"/>
          </a:xfrm>
          <a:prstGeom prst="rect">
            <a:avLst/>
          </a:prstGeom>
          <a:gradFill>
            <a:gsLst>
              <a:gs pos="19000">
                <a:schemeClr val="accent1">
                  <a:lumMod val="50000"/>
                  <a:alpha val="68000"/>
                </a:schemeClr>
              </a:gs>
              <a:gs pos="100000">
                <a:schemeClr val="accent1">
                  <a:alpha val="79000"/>
                </a:schemeClr>
              </a:gs>
            </a:gsLst>
            <a:lin ang="19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4" name="Rectangle 93">
            <a:extLst>
              <a:ext uri="{FF2B5EF4-FFF2-40B4-BE49-F238E27FC236}">
                <a16:creationId xmlns:a16="http://schemas.microsoft.com/office/drawing/2014/main" id="{063BBA22-50EA-4C4D-BE05-F1CE4E63AA5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5307777" y="-5307778"/>
            <a:ext cx="1576446" cy="12192002"/>
          </a:xfrm>
          <a:prstGeom prst="rect">
            <a:avLst/>
          </a:prstGeom>
          <a:gradFill>
            <a:gsLst>
              <a:gs pos="23000">
                <a:schemeClr val="accent1">
                  <a:alpha val="0"/>
                </a:schemeClr>
              </a:gs>
              <a:gs pos="99000">
                <a:srgbClr val="000000">
                  <a:alpha val="74000"/>
                </a:srgbClr>
              </a:gs>
            </a:gsLst>
            <a:lin ang="20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itle 1">
            <a:extLst>
              <a:ext uri="{FF2B5EF4-FFF2-40B4-BE49-F238E27FC236}">
                <a16:creationId xmlns:a16="http://schemas.microsoft.com/office/drawing/2014/main" id="{5F0547A5-2E28-185F-0280-8EB4BA27793F}"/>
              </a:ext>
            </a:extLst>
          </p:cNvPr>
          <p:cNvSpPr>
            <a:spLocks noGrp="1"/>
          </p:cNvSpPr>
          <p:nvPr>
            <p:ph type="title"/>
          </p:nvPr>
        </p:nvSpPr>
        <p:spPr>
          <a:xfrm>
            <a:off x="1371597" y="348865"/>
            <a:ext cx="10044023" cy="877729"/>
          </a:xfrm>
        </p:spPr>
        <p:txBody>
          <a:bodyPr anchor="ctr">
            <a:normAutofit/>
          </a:bodyPr>
          <a:lstStyle/>
          <a:p>
            <a:r>
              <a:rPr lang="en-US" sz="4000" dirty="0">
                <a:solidFill>
                  <a:srgbClr val="FFFFFF"/>
                </a:solidFill>
              </a:rPr>
              <a:t>Cost breakdown</a:t>
            </a:r>
          </a:p>
        </p:txBody>
      </p:sp>
      <p:graphicFrame>
        <p:nvGraphicFramePr>
          <p:cNvPr id="61" name="Content Placeholder 2">
            <a:extLst>
              <a:ext uri="{FF2B5EF4-FFF2-40B4-BE49-F238E27FC236}">
                <a16:creationId xmlns:a16="http://schemas.microsoft.com/office/drawing/2014/main" id="{540BD669-CC07-DCD1-4259-880A6DEA096C}"/>
              </a:ext>
            </a:extLst>
          </p:cNvPr>
          <p:cNvGraphicFramePr>
            <a:graphicFrameLocks noGrp="1"/>
          </p:cNvGraphicFramePr>
          <p:nvPr>
            <p:ph idx="1"/>
            <p:extLst>
              <p:ext uri="{D42A27DB-BD31-4B8C-83A1-F6EECF244321}">
                <p14:modId xmlns:p14="http://schemas.microsoft.com/office/powerpoint/2010/main" val="2040593582"/>
              </p:ext>
            </p:extLst>
          </p:nvPr>
        </p:nvGraphicFramePr>
        <p:xfrm>
          <a:off x="644056" y="2112579"/>
          <a:ext cx="10927829" cy="4192805"/>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extLst>
      <p:ext uri="{BB962C8B-B14F-4D97-AF65-F5344CB8AC3E}">
        <p14:creationId xmlns:p14="http://schemas.microsoft.com/office/powerpoint/2010/main" val="185445568"/>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63" name="Rectangle 62">
            <a:extLst>
              <a:ext uri="{FF2B5EF4-FFF2-40B4-BE49-F238E27FC236}">
                <a16:creationId xmlns:a16="http://schemas.microsoft.com/office/drawing/2014/main" id="{979E27D9-03C7-44E2-9FF8-15D0C8506AF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7E598707-A3D7-C765-A7B0-3C6130988041}"/>
              </a:ext>
            </a:extLst>
          </p:cNvPr>
          <p:cNvSpPr>
            <a:spLocks noGrp="1"/>
          </p:cNvSpPr>
          <p:nvPr>
            <p:ph type="title"/>
          </p:nvPr>
        </p:nvSpPr>
        <p:spPr>
          <a:xfrm>
            <a:off x="1136397" y="502021"/>
            <a:ext cx="4959603" cy="1642969"/>
          </a:xfrm>
        </p:spPr>
        <p:txBody>
          <a:bodyPr anchor="b">
            <a:normAutofit/>
          </a:bodyPr>
          <a:lstStyle/>
          <a:p>
            <a:r>
              <a:rPr lang="en-US" sz="4000" dirty="0"/>
              <a:t>Employee Turnover with KNN Model</a:t>
            </a:r>
          </a:p>
        </p:txBody>
      </p:sp>
      <p:sp>
        <p:nvSpPr>
          <p:cNvPr id="9" name="Content Placeholder 8">
            <a:extLst>
              <a:ext uri="{FF2B5EF4-FFF2-40B4-BE49-F238E27FC236}">
                <a16:creationId xmlns:a16="http://schemas.microsoft.com/office/drawing/2014/main" id="{90457C15-49C9-585A-0A98-7C2075B1C905}"/>
              </a:ext>
            </a:extLst>
          </p:cNvPr>
          <p:cNvSpPr>
            <a:spLocks noGrp="1"/>
          </p:cNvSpPr>
          <p:nvPr>
            <p:ph idx="1"/>
          </p:nvPr>
        </p:nvSpPr>
        <p:spPr>
          <a:xfrm>
            <a:off x="1136397" y="2418408"/>
            <a:ext cx="4959603" cy="3522569"/>
          </a:xfrm>
        </p:spPr>
        <p:txBody>
          <a:bodyPr anchor="t">
            <a:normAutofit lnSpcReduction="10000"/>
          </a:bodyPr>
          <a:lstStyle/>
          <a:p>
            <a:endParaRPr lang="en-US" sz="1600" dirty="0"/>
          </a:p>
          <a:p>
            <a:r>
              <a:rPr lang="en-US" sz="1600" dirty="0"/>
              <a:t>With this model we use the 5 most similar employees to determine attrition</a:t>
            </a:r>
          </a:p>
          <a:p>
            <a:r>
              <a:rPr lang="en-US" sz="1600" dirty="0"/>
              <a:t>We were able to correctly identify 35% sensitivity of those that would quit</a:t>
            </a:r>
          </a:p>
          <a:p>
            <a:pPr lvl="1"/>
            <a:r>
              <a:rPr lang="en-US" sz="1600" dirty="0"/>
              <a:t>Correctly predicted 14 turnovers</a:t>
            </a:r>
          </a:p>
          <a:p>
            <a:pPr lvl="1"/>
            <a:r>
              <a:rPr lang="en-US" sz="1600" dirty="0"/>
              <a:t>Missed 26 turnovers</a:t>
            </a:r>
          </a:p>
          <a:p>
            <a:r>
              <a:rPr lang="en-US" sz="1600" dirty="0"/>
              <a:t>We were also able to predict 95% specificity of those that didn’t quit</a:t>
            </a:r>
          </a:p>
          <a:p>
            <a:pPr lvl="1"/>
            <a:r>
              <a:rPr lang="en-US" sz="1600" dirty="0"/>
              <a:t>Correctly predicted 211 employees not quitting</a:t>
            </a:r>
          </a:p>
          <a:p>
            <a:pPr lvl="1"/>
            <a:r>
              <a:rPr lang="en-US" sz="1600" dirty="0"/>
              <a:t>Flagged 10 employees as flight risks who actually stayed, false alarms</a:t>
            </a:r>
          </a:p>
        </p:txBody>
      </p:sp>
      <p:pic>
        <p:nvPicPr>
          <p:cNvPr id="5" name="Picture 4">
            <a:extLst>
              <a:ext uri="{FF2B5EF4-FFF2-40B4-BE49-F238E27FC236}">
                <a16:creationId xmlns:a16="http://schemas.microsoft.com/office/drawing/2014/main" id="{27BCCE7A-16EA-E03A-4B70-66A50F52FBFF}"/>
              </a:ext>
            </a:extLst>
          </p:cNvPr>
          <p:cNvPicPr>
            <a:picLocks noChangeAspect="1"/>
          </p:cNvPicPr>
          <p:nvPr/>
        </p:nvPicPr>
        <p:blipFill>
          <a:blip r:embed="rId3"/>
          <a:stretch>
            <a:fillRect/>
          </a:stretch>
        </p:blipFill>
        <p:spPr>
          <a:xfrm>
            <a:off x="6512442" y="1616306"/>
            <a:ext cx="5201023" cy="3211631"/>
          </a:xfrm>
          <a:prstGeom prst="rect">
            <a:avLst/>
          </a:prstGeom>
        </p:spPr>
      </p:pic>
      <p:sp>
        <p:nvSpPr>
          <p:cNvPr id="65" name="Rectangle 64">
            <a:extLst>
              <a:ext uri="{FF2B5EF4-FFF2-40B4-BE49-F238E27FC236}">
                <a16:creationId xmlns:a16="http://schemas.microsoft.com/office/drawing/2014/main" id="{EEBF1590-3B36-48EE-A89D-3B6F3CB256A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H="1">
            <a:off x="0" y="6400799"/>
            <a:ext cx="12192000" cy="456773"/>
          </a:xfrm>
          <a:prstGeom prst="rect">
            <a:avLst/>
          </a:prstGeom>
          <a:gradFill>
            <a:gsLst>
              <a:gs pos="0">
                <a:schemeClr val="accent1"/>
              </a:gs>
              <a:gs pos="78000">
                <a:srgbClr val="000000"/>
              </a:gs>
            </a:gsLst>
            <a:lin ang="2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7" name="Rectangle 66">
            <a:extLst>
              <a:ext uri="{FF2B5EF4-FFF2-40B4-BE49-F238E27FC236}">
                <a16:creationId xmlns:a16="http://schemas.microsoft.com/office/drawing/2014/main" id="{AC8F6C8C-AB5A-4548-942D-E3FD40ACBC4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4038600" y="6400799"/>
            <a:ext cx="8153398" cy="456772"/>
          </a:xfrm>
          <a:prstGeom prst="rect">
            <a:avLst/>
          </a:prstGeom>
          <a:gradFill>
            <a:gsLst>
              <a:gs pos="0">
                <a:srgbClr val="000000">
                  <a:alpha val="63000"/>
                </a:srgbClr>
              </a:gs>
              <a:gs pos="100000">
                <a:schemeClr val="accent1">
                  <a:lumMod val="75000"/>
                </a:schemeClr>
              </a:gs>
            </a:gsLst>
            <a:lin ang="13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3174009140"/>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36" name="Rectangle 35">
            <a:extLst>
              <a:ext uri="{FF2B5EF4-FFF2-40B4-BE49-F238E27FC236}">
                <a16:creationId xmlns:a16="http://schemas.microsoft.com/office/drawing/2014/main" id="{12609869-9E80-471B-A487-A53288E0E79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0D23F299-2293-E842-CA4D-9A325794CC5E}"/>
              </a:ext>
            </a:extLst>
          </p:cNvPr>
          <p:cNvSpPr>
            <a:spLocks noGrp="1"/>
          </p:cNvSpPr>
          <p:nvPr>
            <p:ph type="title"/>
          </p:nvPr>
        </p:nvSpPr>
        <p:spPr>
          <a:xfrm>
            <a:off x="1136397" y="502020"/>
            <a:ext cx="5323715" cy="1642970"/>
          </a:xfrm>
        </p:spPr>
        <p:txBody>
          <a:bodyPr anchor="b">
            <a:normAutofit/>
          </a:bodyPr>
          <a:lstStyle/>
          <a:p>
            <a:r>
              <a:rPr lang="en-US" sz="4000" dirty="0"/>
              <a:t>Cost using this KNN to prevent turnover</a:t>
            </a:r>
          </a:p>
        </p:txBody>
      </p:sp>
      <p:sp>
        <p:nvSpPr>
          <p:cNvPr id="3" name="Content Placeholder 2">
            <a:extLst>
              <a:ext uri="{FF2B5EF4-FFF2-40B4-BE49-F238E27FC236}">
                <a16:creationId xmlns:a16="http://schemas.microsoft.com/office/drawing/2014/main" id="{B403C33E-F449-D102-C394-A66A4C8383C6}"/>
              </a:ext>
            </a:extLst>
          </p:cNvPr>
          <p:cNvSpPr>
            <a:spLocks noGrp="1"/>
          </p:cNvSpPr>
          <p:nvPr>
            <p:ph idx="1"/>
          </p:nvPr>
        </p:nvSpPr>
        <p:spPr>
          <a:xfrm>
            <a:off x="1144923" y="2405894"/>
            <a:ext cx="5315189" cy="3535083"/>
          </a:xfrm>
        </p:spPr>
        <p:txBody>
          <a:bodyPr anchor="t">
            <a:normAutofit/>
          </a:bodyPr>
          <a:lstStyle/>
          <a:p>
            <a:r>
              <a:rPr lang="en-US" sz="2000" dirty="0"/>
              <a:t>(14 true positives + 10 false alarms) * $200 = $4,800</a:t>
            </a:r>
          </a:p>
          <a:p>
            <a:r>
              <a:rPr lang="en-US" sz="2000" dirty="0"/>
              <a:t>26 missed * $49,728 avg salary * 200% replacement cost = $ 2,585,856 </a:t>
            </a:r>
          </a:p>
          <a:p>
            <a:r>
              <a:rPr lang="en-US" sz="2000" dirty="0"/>
              <a:t>Total cost = $ 2,590,656</a:t>
            </a:r>
          </a:p>
        </p:txBody>
      </p:sp>
      <p:sp>
        <p:nvSpPr>
          <p:cNvPr id="37" name="Rectangle 36">
            <a:extLst>
              <a:ext uri="{FF2B5EF4-FFF2-40B4-BE49-F238E27FC236}">
                <a16:creationId xmlns:a16="http://schemas.microsoft.com/office/drawing/2014/main" id="{7004738A-9D34-43E8-97D2-CA0EED4F8BE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H="1">
            <a:off x="8123333" y="-5"/>
            <a:ext cx="4092521" cy="6858000"/>
          </a:xfrm>
          <a:prstGeom prst="rect">
            <a:avLst/>
          </a:prstGeom>
          <a:gradFill>
            <a:gsLst>
              <a:gs pos="8000">
                <a:srgbClr val="000000">
                  <a:alpha val="94000"/>
                </a:srgbClr>
              </a:gs>
              <a:gs pos="100000">
                <a:schemeClr val="accent1"/>
              </a:gs>
            </a:gsLst>
            <a:lin ang="2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8" name="Rectangle 37">
            <a:extLst>
              <a:ext uri="{FF2B5EF4-FFF2-40B4-BE49-F238E27FC236}">
                <a16:creationId xmlns:a16="http://schemas.microsoft.com/office/drawing/2014/main" id="{B8B8D07F-F13E-443E-BA68-2D26672D76B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H="1">
            <a:off x="8123333" y="-2"/>
            <a:ext cx="4092521" cy="6400369"/>
          </a:xfrm>
          <a:prstGeom prst="rect">
            <a:avLst/>
          </a:prstGeom>
          <a:gradFill>
            <a:gsLst>
              <a:gs pos="31000">
                <a:schemeClr val="accent1">
                  <a:lumMod val="50000"/>
                  <a:alpha val="0"/>
                </a:schemeClr>
              </a:gs>
              <a:gs pos="100000">
                <a:schemeClr val="accent1">
                  <a:lumMod val="50000"/>
                  <a:alpha val="26000"/>
                </a:schemeClr>
              </a:gs>
            </a:gsLst>
            <a:lin ang="18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39" name="Rectangle 38">
            <a:extLst>
              <a:ext uri="{FF2B5EF4-FFF2-40B4-BE49-F238E27FC236}">
                <a16:creationId xmlns:a16="http://schemas.microsoft.com/office/drawing/2014/main" id="{2813A4FA-24A5-41ED-A534-3807D1B2F34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H="1">
            <a:off x="8123333" y="-22"/>
            <a:ext cx="4068667" cy="6400389"/>
          </a:xfrm>
          <a:prstGeom prst="rect">
            <a:avLst/>
          </a:prstGeom>
          <a:gradFill>
            <a:gsLst>
              <a:gs pos="0">
                <a:schemeClr val="accent1">
                  <a:alpha val="0"/>
                </a:schemeClr>
              </a:gs>
              <a:gs pos="72000">
                <a:srgbClr val="000000">
                  <a:alpha val="21000"/>
                </a:srgbClr>
              </a:gs>
            </a:gsLst>
            <a:lin ang="3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40" name="Rectangle 39">
            <a:extLst>
              <a:ext uri="{FF2B5EF4-FFF2-40B4-BE49-F238E27FC236}">
                <a16:creationId xmlns:a16="http://schemas.microsoft.com/office/drawing/2014/main" id="{C3944F27-CA70-4E84-A51A-E6BF8955897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H="1">
            <a:off x="8123333" y="-10"/>
            <a:ext cx="3611467" cy="6857997"/>
          </a:xfrm>
          <a:prstGeom prst="rect">
            <a:avLst/>
          </a:prstGeom>
          <a:gradFill>
            <a:gsLst>
              <a:gs pos="0">
                <a:schemeClr val="accent1">
                  <a:alpha val="0"/>
                </a:schemeClr>
              </a:gs>
              <a:gs pos="93000">
                <a:srgbClr val="000000">
                  <a:alpha val="29000"/>
                </a:srgbClr>
              </a:gs>
            </a:gsLst>
            <a:lin ang="5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pic>
        <p:nvPicPr>
          <p:cNvPr id="5" name="Picture 4">
            <a:extLst>
              <a:ext uri="{FF2B5EF4-FFF2-40B4-BE49-F238E27FC236}">
                <a16:creationId xmlns:a16="http://schemas.microsoft.com/office/drawing/2014/main" id="{F5EE6BF3-1A6D-4C54-B1DA-4984158CC45D}"/>
              </a:ext>
            </a:extLst>
          </p:cNvPr>
          <p:cNvPicPr>
            <a:picLocks noChangeAspect="1"/>
          </p:cNvPicPr>
          <p:nvPr/>
        </p:nvPicPr>
        <p:blipFill>
          <a:blip r:embed="rId3"/>
          <a:stretch>
            <a:fillRect/>
          </a:stretch>
        </p:blipFill>
        <p:spPr>
          <a:xfrm>
            <a:off x="6512442" y="1616306"/>
            <a:ext cx="5201023" cy="3211631"/>
          </a:xfrm>
          <a:prstGeom prst="rect">
            <a:avLst/>
          </a:prstGeom>
        </p:spPr>
      </p:pic>
    </p:spTree>
    <p:extLst>
      <p:ext uri="{BB962C8B-B14F-4D97-AF65-F5344CB8AC3E}">
        <p14:creationId xmlns:p14="http://schemas.microsoft.com/office/powerpoint/2010/main" val="3661367881"/>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6AFC9741-D177-F469-8083-3C20BE0B144F}"/>
            </a:ext>
          </a:extLst>
        </p:cNvPr>
        <p:cNvGrpSpPr/>
        <p:nvPr/>
      </p:nvGrpSpPr>
      <p:grpSpPr>
        <a:xfrm>
          <a:off x="0" y="0"/>
          <a:ext cx="0" cy="0"/>
          <a:chOff x="0" y="0"/>
          <a:chExt cx="0" cy="0"/>
        </a:xfrm>
      </p:grpSpPr>
      <p:sp useBgFill="1">
        <p:nvSpPr>
          <p:cNvPr id="63" name="Rectangle 62">
            <a:extLst>
              <a:ext uri="{FF2B5EF4-FFF2-40B4-BE49-F238E27FC236}">
                <a16:creationId xmlns:a16="http://schemas.microsoft.com/office/drawing/2014/main" id="{979E27D9-03C7-44E2-9FF8-15D0C8506AF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FEFB2997-41AE-38A7-B76E-422184FB9FF4}"/>
              </a:ext>
            </a:extLst>
          </p:cNvPr>
          <p:cNvSpPr>
            <a:spLocks noGrp="1"/>
          </p:cNvSpPr>
          <p:nvPr>
            <p:ph type="title"/>
          </p:nvPr>
        </p:nvSpPr>
        <p:spPr>
          <a:xfrm>
            <a:off x="1136397" y="502021"/>
            <a:ext cx="4959603" cy="1642969"/>
          </a:xfrm>
        </p:spPr>
        <p:txBody>
          <a:bodyPr anchor="b">
            <a:normAutofit/>
          </a:bodyPr>
          <a:lstStyle/>
          <a:p>
            <a:r>
              <a:rPr lang="en-US" sz="4000" dirty="0"/>
              <a:t>KNN Model with lowered threshold</a:t>
            </a:r>
          </a:p>
        </p:txBody>
      </p:sp>
      <p:sp>
        <p:nvSpPr>
          <p:cNvPr id="9" name="Content Placeholder 8">
            <a:extLst>
              <a:ext uri="{FF2B5EF4-FFF2-40B4-BE49-F238E27FC236}">
                <a16:creationId xmlns:a16="http://schemas.microsoft.com/office/drawing/2014/main" id="{8C1EA583-6D17-5D20-0A28-B4500A5208DB}"/>
              </a:ext>
            </a:extLst>
          </p:cNvPr>
          <p:cNvSpPr>
            <a:spLocks noGrp="1"/>
          </p:cNvSpPr>
          <p:nvPr>
            <p:ph idx="1"/>
          </p:nvPr>
        </p:nvSpPr>
        <p:spPr>
          <a:xfrm>
            <a:off x="1136397" y="2418408"/>
            <a:ext cx="4959603" cy="3522569"/>
          </a:xfrm>
        </p:spPr>
        <p:txBody>
          <a:bodyPr anchor="t">
            <a:normAutofit/>
          </a:bodyPr>
          <a:lstStyle/>
          <a:p>
            <a:r>
              <a:rPr lang="en-US" sz="1600" dirty="0"/>
              <a:t>Lowering the threshold, we can predict more possible turnovers</a:t>
            </a:r>
          </a:p>
          <a:p>
            <a:r>
              <a:rPr lang="en-US" sz="1600" dirty="0"/>
              <a:t>Predicting with the same number of employees with most similar qualities (5)</a:t>
            </a:r>
          </a:p>
          <a:p>
            <a:r>
              <a:rPr lang="en-US" sz="1600" dirty="0"/>
              <a:t>With this model, we achieved 65% sensitivity</a:t>
            </a:r>
          </a:p>
          <a:p>
            <a:pPr lvl="1"/>
            <a:r>
              <a:rPr lang="en-US" sz="1600" dirty="0"/>
              <a:t>Correctly predicted 26 turnovers</a:t>
            </a:r>
          </a:p>
          <a:p>
            <a:pPr lvl="1"/>
            <a:r>
              <a:rPr lang="en-US" sz="1600" dirty="0"/>
              <a:t>Missed 14 turnovers</a:t>
            </a:r>
          </a:p>
          <a:p>
            <a:r>
              <a:rPr lang="en-US" sz="1600" dirty="0"/>
              <a:t>We also achieved 67% specificity </a:t>
            </a:r>
          </a:p>
          <a:p>
            <a:pPr lvl="1"/>
            <a:r>
              <a:rPr lang="en-US" sz="1600" dirty="0"/>
              <a:t>Correctly predicted 149 employees not quitting</a:t>
            </a:r>
          </a:p>
          <a:p>
            <a:pPr lvl="1"/>
            <a:r>
              <a:rPr lang="en-US" sz="1600" dirty="0"/>
              <a:t>Incorrectly predicted 72 false alarms</a:t>
            </a:r>
          </a:p>
        </p:txBody>
      </p:sp>
      <p:pic>
        <p:nvPicPr>
          <p:cNvPr id="4" name="Picture 3">
            <a:extLst>
              <a:ext uri="{FF2B5EF4-FFF2-40B4-BE49-F238E27FC236}">
                <a16:creationId xmlns:a16="http://schemas.microsoft.com/office/drawing/2014/main" id="{D6AF971C-9227-502F-4A7B-4E0273660A31}"/>
              </a:ext>
            </a:extLst>
          </p:cNvPr>
          <p:cNvPicPr>
            <a:picLocks noChangeAspect="1"/>
          </p:cNvPicPr>
          <p:nvPr/>
        </p:nvPicPr>
        <p:blipFill>
          <a:blip r:embed="rId3"/>
          <a:stretch>
            <a:fillRect/>
          </a:stretch>
        </p:blipFill>
        <p:spPr>
          <a:xfrm>
            <a:off x="6512442" y="1616306"/>
            <a:ext cx="5201023" cy="3211631"/>
          </a:xfrm>
          <a:prstGeom prst="rect">
            <a:avLst/>
          </a:prstGeom>
        </p:spPr>
      </p:pic>
      <p:sp>
        <p:nvSpPr>
          <p:cNvPr id="65" name="Rectangle 64">
            <a:extLst>
              <a:ext uri="{FF2B5EF4-FFF2-40B4-BE49-F238E27FC236}">
                <a16:creationId xmlns:a16="http://schemas.microsoft.com/office/drawing/2014/main" id="{EEBF1590-3B36-48EE-A89D-3B6F3CB256A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H="1">
            <a:off x="0" y="6400799"/>
            <a:ext cx="12192000" cy="456773"/>
          </a:xfrm>
          <a:prstGeom prst="rect">
            <a:avLst/>
          </a:prstGeom>
          <a:gradFill>
            <a:gsLst>
              <a:gs pos="0">
                <a:schemeClr val="accent1"/>
              </a:gs>
              <a:gs pos="78000">
                <a:srgbClr val="000000"/>
              </a:gs>
            </a:gsLst>
            <a:lin ang="2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7" name="Rectangle 66">
            <a:extLst>
              <a:ext uri="{FF2B5EF4-FFF2-40B4-BE49-F238E27FC236}">
                <a16:creationId xmlns:a16="http://schemas.microsoft.com/office/drawing/2014/main" id="{AC8F6C8C-AB5A-4548-942D-E3FD40ACBC4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4038600" y="6400799"/>
            <a:ext cx="8153398" cy="456772"/>
          </a:xfrm>
          <a:prstGeom prst="rect">
            <a:avLst/>
          </a:prstGeom>
          <a:gradFill>
            <a:gsLst>
              <a:gs pos="0">
                <a:srgbClr val="000000">
                  <a:alpha val="63000"/>
                </a:srgbClr>
              </a:gs>
              <a:gs pos="100000">
                <a:schemeClr val="accent1">
                  <a:lumMod val="75000"/>
                </a:schemeClr>
              </a:gs>
            </a:gsLst>
            <a:lin ang="13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2832012162"/>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31" name="Rectangle 30">
            <a:extLst>
              <a:ext uri="{FF2B5EF4-FFF2-40B4-BE49-F238E27FC236}">
                <a16:creationId xmlns:a16="http://schemas.microsoft.com/office/drawing/2014/main" id="{12609869-9E80-471B-A487-A53288E0E79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D01E59F5-32E9-3500-0235-6482899527A4}"/>
              </a:ext>
            </a:extLst>
          </p:cNvPr>
          <p:cNvSpPr>
            <a:spLocks noGrp="1"/>
          </p:cNvSpPr>
          <p:nvPr>
            <p:ph type="title"/>
          </p:nvPr>
        </p:nvSpPr>
        <p:spPr>
          <a:xfrm>
            <a:off x="1136397" y="502020"/>
            <a:ext cx="5323715" cy="1642970"/>
          </a:xfrm>
        </p:spPr>
        <p:txBody>
          <a:bodyPr anchor="b">
            <a:normAutofit/>
          </a:bodyPr>
          <a:lstStyle/>
          <a:p>
            <a:r>
              <a:rPr lang="en-US" sz="4000" dirty="0"/>
              <a:t>New Cost for lowering threshold</a:t>
            </a:r>
          </a:p>
        </p:txBody>
      </p:sp>
      <p:sp>
        <p:nvSpPr>
          <p:cNvPr id="3" name="Content Placeholder 2">
            <a:extLst>
              <a:ext uri="{FF2B5EF4-FFF2-40B4-BE49-F238E27FC236}">
                <a16:creationId xmlns:a16="http://schemas.microsoft.com/office/drawing/2014/main" id="{D18BC46C-E466-C8EE-5554-A466532E9B91}"/>
              </a:ext>
            </a:extLst>
          </p:cNvPr>
          <p:cNvSpPr>
            <a:spLocks noGrp="1"/>
          </p:cNvSpPr>
          <p:nvPr>
            <p:ph idx="1"/>
          </p:nvPr>
        </p:nvSpPr>
        <p:spPr>
          <a:xfrm>
            <a:off x="1144923" y="2405894"/>
            <a:ext cx="5315189" cy="3535083"/>
          </a:xfrm>
        </p:spPr>
        <p:txBody>
          <a:bodyPr anchor="t">
            <a:normAutofit lnSpcReduction="10000"/>
          </a:bodyPr>
          <a:lstStyle/>
          <a:p>
            <a:r>
              <a:rPr lang="en-US" sz="2000" dirty="0"/>
              <a:t>(26 true positives + 72 false alarms) * $200 = $ 19,600 </a:t>
            </a:r>
          </a:p>
          <a:p>
            <a:r>
              <a:rPr lang="en-US" sz="2000" dirty="0"/>
              <a:t>14 missed * $49,728 avg salary * 200% replacement cost = $1,392,384</a:t>
            </a:r>
          </a:p>
          <a:p>
            <a:r>
              <a:rPr lang="en-US" sz="2000" dirty="0"/>
              <a:t>Total cost = $1,411,984</a:t>
            </a:r>
          </a:p>
          <a:p>
            <a:r>
              <a:rPr lang="en-US" sz="2000" dirty="0"/>
              <a:t>Cost difference between KNN Model 1 and KNN Model 2</a:t>
            </a:r>
          </a:p>
          <a:p>
            <a:pPr lvl="1"/>
            <a:r>
              <a:rPr lang="en-US" sz="1800" dirty="0"/>
              <a:t>$2,590,656 - $1,411,984 =  </a:t>
            </a:r>
          </a:p>
          <a:p>
            <a:pPr lvl="1"/>
            <a:r>
              <a:rPr lang="en-US" sz="1800" dirty="0"/>
              <a:t>Savings $1,178,672</a:t>
            </a:r>
          </a:p>
          <a:p>
            <a:r>
              <a:rPr lang="en-US" sz="2000" dirty="0"/>
              <a:t>Threshold tuning save $1,178,672 compared to the baseline KNN model</a:t>
            </a:r>
          </a:p>
          <a:p>
            <a:endParaRPr lang="en-US" sz="2200" dirty="0"/>
          </a:p>
          <a:p>
            <a:pPr lvl="1"/>
            <a:endParaRPr lang="en-US" sz="2000" dirty="0"/>
          </a:p>
          <a:p>
            <a:endParaRPr lang="en-US" sz="2000" dirty="0"/>
          </a:p>
        </p:txBody>
      </p:sp>
      <p:sp>
        <p:nvSpPr>
          <p:cNvPr id="33" name="Rectangle 32">
            <a:extLst>
              <a:ext uri="{FF2B5EF4-FFF2-40B4-BE49-F238E27FC236}">
                <a16:creationId xmlns:a16="http://schemas.microsoft.com/office/drawing/2014/main" id="{7004738A-9D34-43E8-97D2-CA0EED4F8BE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H="1">
            <a:off x="8123333" y="-5"/>
            <a:ext cx="4092521" cy="6858000"/>
          </a:xfrm>
          <a:prstGeom prst="rect">
            <a:avLst/>
          </a:prstGeom>
          <a:gradFill>
            <a:gsLst>
              <a:gs pos="8000">
                <a:srgbClr val="000000">
                  <a:alpha val="94000"/>
                </a:srgbClr>
              </a:gs>
              <a:gs pos="100000">
                <a:schemeClr val="accent1"/>
              </a:gs>
            </a:gsLst>
            <a:lin ang="2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5" name="Rectangle 34">
            <a:extLst>
              <a:ext uri="{FF2B5EF4-FFF2-40B4-BE49-F238E27FC236}">
                <a16:creationId xmlns:a16="http://schemas.microsoft.com/office/drawing/2014/main" id="{B8B8D07F-F13E-443E-BA68-2D26672D76B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H="1">
            <a:off x="8123333" y="-2"/>
            <a:ext cx="4092521" cy="6400369"/>
          </a:xfrm>
          <a:prstGeom prst="rect">
            <a:avLst/>
          </a:prstGeom>
          <a:gradFill>
            <a:gsLst>
              <a:gs pos="31000">
                <a:schemeClr val="accent1">
                  <a:lumMod val="50000"/>
                  <a:alpha val="0"/>
                </a:schemeClr>
              </a:gs>
              <a:gs pos="100000">
                <a:schemeClr val="accent1">
                  <a:lumMod val="50000"/>
                  <a:alpha val="26000"/>
                </a:schemeClr>
              </a:gs>
            </a:gsLst>
            <a:lin ang="18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37" name="Rectangle 36">
            <a:extLst>
              <a:ext uri="{FF2B5EF4-FFF2-40B4-BE49-F238E27FC236}">
                <a16:creationId xmlns:a16="http://schemas.microsoft.com/office/drawing/2014/main" id="{2813A4FA-24A5-41ED-A534-3807D1B2F34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H="1">
            <a:off x="8123333" y="-22"/>
            <a:ext cx="4068667" cy="6400389"/>
          </a:xfrm>
          <a:prstGeom prst="rect">
            <a:avLst/>
          </a:prstGeom>
          <a:gradFill>
            <a:gsLst>
              <a:gs pos="0">
                <a:schemeClr val="accent1">
                  <a:alpha val="0"/>
                </a:schemeClr>
              </a:gs>
              <a:gs pos="72000">
                <a:srgbClr val="000000">
                  <a:alpha val="21000"/>
                </a:srgbClr>
              </a:gs>
            </a:gsLst>
            <a:lin ang="3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39" name="Rectangle 38">
            <a:extLst>
              <a:ext uri="{FF2B5EF4-FFF2-40B4-BE49-F238E27FC236}">
                <a16:creationId xmlns:a16="http://schemas.microsoft.com/office/drawing/2014/main" id="{C3944F27-CA70-4E84-A51A-E6BF8955897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H="1">
            <a:off x="8123333" y="-10"/>
            <a:ext cx="3611467" cy="6857997"/>
          </a:xfrm>
          <a:prstGeom prst="rect">
            <a:avLst/>
          </a:prstGeom>
          <a:gradFill>
            <a:gsLst>
              <a:gs pos="0">
                <a:schemeClr val="accent1">
                  <a:alpha val="0"/>
                </a:schemeClr>
              </a:gs>
              <a:gs pos="93000">
                <a:srgbClr val="000000">
                  <a:alpha val="29000"/>
                </a:srgbClr>
              </a:gs>
            </a:gsLst>
            <a:lin ang="5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pic>
        <p:nvPicPr>
          <p:cNvPr id="5" name="Picture 4">
            <a:extLst>
              <a:ext uri="{FF2B5EF4-FFF2-40B4-BE49-F238E27FC236}">
                <a16:creationId xmlns:a16="http://schemas.microsoft.com/office/drawing/2014/main" id="{A6771ED9-10B9-AC67-6A6C-D4861CC836B5}"/>
              </a:ext>
            </a:extLst>
          </p:cNvPr>
          <p:cNvPicPr>
            <a:picLocks noChangeAspect="1"/>
          </p:cNvPicPr>
          <p:nvPr/>
        </p:nvPicPr>
        <p:blipFill>
          <a:blip r:embed="rId3"/>
          <a:stretch>
            <a:fillRect/>
          </a:stretch>
        </p:blipFill>
        <p:spPr>
          <a:xfrm>
            <a:off x="6512442" y="1616306"/>
            <a:ext cx="5201023" cy="3211631"/>
          </a:xfrm>
          <a:prstGeom prst="rect">
            <a:avLst/>
          </a:prstGeom>
        </p:spPr>
      </p:pic>
    </p:spTree>
    <p:extLst>
      <p:ext uri="{BB962C8B-B14F-4D97-AF65-F5344CB8AC3E}">
        <p14:creationId xmlns:p14="http://schemas.microsoft.com/office/powerpoint/2010/main" val="282198456"/>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33" name="Rectangle 32">
            <a:extLst>
              <a:ext uri="{FF2B5EF4-FFF2-40B4-BE49-F238E27FC236}">
                <a16:creationId xmlns:a16="http://schemas.microsoft.com/office/drawing/2014/main" id="{979E27D9-03C7-44E2-9FF8-15D0C8506AF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7F17ACD6-E94D-05A3-B086-1FE0CB278594}"/>
              </a:ext>
            </a:extLst>
          </p:cNvPr>
          <p:cNvSpPr>
            <a:spLocks noGrp="1"/>
          </p:cNvSpPr>
          <p:nvPr>
            <p:ph type="title"/>
          </p:nvPr>
        </p:nvSpPr>
        <p:spPr>
          <a:xfrm>
            <a:off x="1136397" y="502021"/>
            <a:ext cx="4959603" cy="1642969"/>
          </a:xfrm>
        </p:spPr>
        <p:txBody>
          <a:bodyPr anchor="b">
            <a:normAutofit/>
          </a:bodyPr>
          <a:lstStyle/>
          <a:p>
            <a:r>
              <a:rPr lang="en-US" sz="3700" dirty="0"/>
              <a:t>Employee Turnover with Naïve Bayes</a:t>
            </a:r>
          </a:p>
        </p:txBody>
      </p:sp>
      <p:sp>
        <p:nvSpPr>
          <p:cNvPr id="4" name="AutoShape 2">
            <a:extLst>
              <a:ext uri="{FF2B5EF4-FFF2-40B4-BE49-F238E27FC236}">
                <a16:creationId xmlns:a16="http://schemas.microsoft.com/office/drawing/2014/main" id="{21E7520C-98D7-D35B-5EE6-1007F41DAB09}"/>
              </a:ext>
            </a:extLst>
          </p:cNvPr>
          <p:cNvSpPr>
            <a:spLocks noGrp="1" noChangeAspect="1" noChangeArrowheads="1"/>
          </p:cNvSpPr>
          <p:nvPr>
            <p:ph idx="1"/>
          </p:nvPr>
        </p:nvSpPr>
        <p:spPr bwMode="auto">
          <a:xfrm>
            <a:off x="1136397" y="2418408"/>
            <a:ext cx="4959603" cy="3522569"/>
          </a:xfrm>
          <a:prstGeom prst="rect">
            <a:avLst/>
          </a:prstGeom>
          <a:extLst>
            <a:ext uri="{909E8E84-426E-40DD-AFC4-6F175D3DCCD1}">
              <a14:hiddenFill xmlns:a14="http://schemas.microsoft.com/office/drawing/2010/main">
                <a:solidFill>
                  <a:srgbClr val="FFFFFF"/>
                </a:solidFill>
              </a14:hiddenFill>
            </a:ext>
          </a:extLst>
        </p:spPr>
        <p:txBody>
          <a:bodyPr vert="horz" lIns="91440" tIns="45720" rIns="91440" bIns="45720" numCol="1" anchor="t" anchorCtr="0" compatLnSpc="1">
            <a:prstTxWarp prst="textNoShape">
              <a:avLst/>
            </a:prstTxWarp>
            <a:normAutofit lnSpcReduction="10000"/>
          </a:bodyPr>
          <a:lstStyle/>
          <a:p>
            <a:r>
              <a:rPr lang="en-US" sz="2000" dirty="0"/>
              <a:t>Naïve Bayes model calculates probability based on each factor independently then combines them to make a prediction</a:t>
            </a:r>
          </a:p>
          <a:p>
            <a:r>
              <a:rPr lang="en-US" sz="2000" dirty="0"/>
              <a:t>With Naïve Bayes model we achieved 60% sensitivity</a:t>
            </a:r>
          </a:p>
          <a:p>
            <a:pPr lvl="1"/>
            <a:r>
              <a:rPr lang="en-US" sz="2000" dirty="0"/>
              <a:t>Correctly predicted 24 turnovers</a:t>
            </a:r>
          </a:p>
          <a:p>
            <a:pPr lvl="1"/>
            <a:r>
              <a:rPr lang="en-US" sz="2000" dirty="0"/>
              <a:t>Missed 16 turnovers</a:t>
            </a:r>
          </a:p>
          <a:p>
            <a:r>
              <a:rPr lang="en-US" sz="2000" dirty="0"/>
              <a:t>We also achieved 68.8% specificity</a:t>
            </a:r>
          </a:p>
          <a:p>
            <a:pPr lvl="1"/>
            <a:r>
              <a:rPr lang="en-US" sz="2000" dirty="0"/>
              <a:t>Correctly predicted 152 employees not quitting</a:t>
            </a:r>
          </a:p>
          <a:p>
            <a:pPr lvl="1"/>
            <a:r>
              <a:rPr lang="en-US" sz="2000" dirty="0"/>
              <a:t>Incorrectly predicted 69 false alarms</a:t>
            </a:r>
          </a:p>
        </p:txBody>
      </p:sp>
      <p:pic>
        <p:nvPicPr>
          <p:cNvPr id="5" name="Picture 4">
            <a:extLst>
              <a:ext uri="{FF2B5EF4-FFF2-40B4-BE49-F238E27FC236}">
                <a16:creationId xmlns:a16="http://schemas.microsoft.com/office/drawing/2014/main" id="{3DC8B22A-449C-1875-E57F-9D940BFFE5B3}"/>
              </a:ext>
            </a:extLst>
          </p:cNvPr>
          <p:cNvPicPr>
            <a:picLocks noChangeAspect="1"/>
          </p:cNvPicPr>
          <p:nvPr/>
        </p:nvPicPr>
        <p:blipFill>
          <a:blip r:embed="rId3"/>
          <a:stretch>
            <a:fillRect/>
          </a:stretch>
        </p:blipFill>
        <p:spPr>
          <a:xfrm>
            <a:off x="6512442" y="1616306"/>
            <a:ext cx="5201023" cy="3211631"/>
          </a:xfrm>
          <a:prstGeom prst="rect">
            <a:avLst/>
          </a:prstGeom>
        </p:spPr>
      </p:pic>
      <p:sp>
        <p:nvSpPr>
          <p:cNvPr id="35" name="Rectangle 34">
            <a:extLst>
              <a:ext uri="{FF2B5EF4-FFF2-40B4-BE49-F238E27FC236}">
                <a16:creationId xmlns:a16="http://schemas.microsoft.com/office/drawing/2014/main" id="{EEBF1590-3B36-48EE-A89D-3B6F3CB256A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H="1">
            <a:off x="0" y="6400799"/>
            <a:ext cx="12192000" cy="456773"/>
          </a:xfrm>
          <a:prstGeom prst="rect">
            <a:avLst/>
          </a:prstGeom>
          <a:gradFill>
            <a:gsLst>
              <a:gs pos="0">
                <a:schemeClr val="accent1"/>
              </a:gs>
              <a:gs pos="78000">
                <a:srgbClr val="000000"/>
              </a:gs>
            </a:gsLst>
            <a:lin ang="2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7" name="Rectangle 36">
            <a:extLst>
              <a:ext uri="{FF2B5EF4-FFF2-40B4-BE49-F238E27FC236}">
                <a16:creationId xmlns:a16="http://schemas.microsoft.com/office/drawing/2014/main" id="{AC8F6C8C-AB5A-4548-942D-E3FD40ACBC4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4038600" y="6400799"/>
            <a:ext cx="8153398" cy="456772"/>
          </a:xfrm>
          <a:prstGeom prst="rect">
            <a:avLst/>
          </a:prstGeom>
          <a:gradFill>
            <a:gsLst>
              <a:gs pos="0">
                <a:srgbClr val="000000">
                  <a:alpha val="63000"/>
                </a:srgbClr>
              </a:gs>
              <a:gs pos="100000">
                <a:schemeClr val="accent1">
                  <a:lumMod val="75000"/>
                </a:schemeClr>
              </a:gs>
            </a:gsLst>
            <a:lin ang="13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3137820207"/>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BB94408C-EA57-AB72-3EC5-B4DB171B573D}"/>
            </a:ext>
          </a:extLst>
        </p:cNvPr>
        <p:cNvGrpSpPr/>
        <p:nvPr/>
      </p:nvGrpSpPr>
      <p:grpSpPr>
        <a:xfrm>
          <a:off x="0" y="0"/>
          <a:ext cx="0" cy="0"/>
          <a:chOff x="0" y="0"/>
          <a:chExt cx="0" cy="0"/>
        </a:xfrm>
      </p:grpSpPr>
      <p:sp useBgFill="1">
        <p:nvSpPr>
          <p:cNvPr id="33" name="Rectangle 32">
            <a:extLst>
              <a:ext uri="{FF2B5EF4-FFF2-40B4-BE49-F238E27FC236}">
                <a16:creationId xmlns:a16="http://schemas.microsoft.com/office/drawing/2014/main" id="{12609869-9E80-471B-A487-A53288E0E79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84D28263-A0C7-9020-326C-218D325E41CB}"/>
              </a:ext>
            </a:extLst>
          </p:cNvPr>
          <p:cNvSpPr>
            <a:spLocks noGrp="1"/>
          </p:cNvSpPr>
          <p:nvPr>
            <p:ph type="title"/>
          </p:nvPr>
        </p:nvSpPr>
        <p:spPr>
          <a:xfrm>
            <a:off x="1136397" y="502020"/>
            <a:ext cx="5323715" cy="1642970"/>
          </a:xfrm>
        </p:spPr>
        <p:txBody>
          <a:bodyPr anchor="b">
            <a:normAutofit/>
          </a:bodyPr>
          <a:lstStyle/>
          <a:p>
            <a:r>
              <a:rPr lang="en-US" sz="3700"/>
              <a:t>Cost for using Naïve Bayes Model to prevent turnover</a:t>
            </a:r>
          </a:p>
        </p:txBody>
      </p:sp>
      <p:sp>
        <p:nvSpPr>
          <p:cNvPr id="4" name="AutoShape 2">
            <a:extLst>
              <a:ext uri="{FF2B5EF4-FFF2-40B4-BE49-F238E27FC236}">
                <a16:creationId xmlns:a16="http://schemas.microsoft.com/office/drawing/2014/main" id="{B3791654-4B2A-A676-792E-CE3817A3C2A6}"/>
              </a:ext>
            </a:extLst>
          </p:cNvPr>
          <p:cNvSpPr>
            <a:spLocks noGrp="1" noChangeAspect="1" noChangeArrowheads="1"/>
          </p:cNvSpPr>
          <p:nvPr>
            <p:ph idx="1"/>
          </p:nvPr>
        </p:nvSpPr>
        <p:spPr bwMode="auto">
          <a:xfrm>
            <a:off x="1144923" y="2405894"/>
            <a:ext cx="5315189" cy="3535083"/>
          </a:xfrm>
          <a:prstGeom prst="rect">
            <a:avLst/>
          </a:prstGeom>
          <a:extLst>
            <a:ext uri="{909E8E84-426E-40DD-AFC4-6F175D3DCCD1}">
              <a14:hiddenFill xmlns:a14="http://schemas.microsoft.com/office/drawing/2010/main">
                <a:solidFill>
                  <a:srgbClr val="FFFFFF"/>
                </a:solidFill>
              </a14:hiddenFill>
            </a:ext>
          </a:extLst>
        </p:spPr>
        <p:txBody>
          <a:bodyPr vert="horz" lIns="91440" tIns="45720" rIns="91440" bIns="45720" numCol="1" anchor="t" anchorCtr="0" compatLnSpc="1">
            <a:prstTxWarp prst="textNoShape">
              <a:avLst/>
            </a:prstTxWarp>
            <a:normAutofit/>
          </a:bodyPr>
          <a:lstStyle/>
          <a:p>
            <a:r>
              <a:rPr lang="en-US" sz="2000" dirty="0"/>
              <a:t>(24 true positive + 69 false alarms) * $200 = $18,600</a:t>
            </a:r>
          </a:p>
          <a:p>
            <a:r>
              <a:rPr lang="en-US" sz="2000" dirty="0"/>
              <a:t>16 missed * $49,728 average salary * 200% replacement cost  = $1,591,296</a:t>
            </a:r>
          </a:p>
          <a:p>
            <a:r>
              <a:rPr lang="en-US" sz="2000" dirty="0"/>
              <a:t>Total cost = $1,609,896</a:t>
            </a:r>
          </a:p>
        </p:txBody>
      </p:sp>
      <p:sp>
        <p:nvSpPr>
          <p:cNvPr id="35" name="Rectangle 34">
            <a:extLst>
              <a:ext uri="{FF2B5EF4-FFF2-40B4-BE49-F238E27FC236}">
                <a16:creationId xmlns:a16="http://schemas.microsoft.com/office/drawing/2014/main" id="{7004738A-9D34-43E8-97D2-CA0EED4F8BE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H="1">
            <a:off x="8123333" y="-5"/>
            <a:ext cx="4092521" cy="6858000"/>
          </a:xfrm>
          <a:prstGeom prst="rect">
            <a:avLst/>
          </a:prstGeom>
          <a:gradFill>
            <a:gsLst>
              <a:gs pos="8000">
                <a:srgbClr val="000000">
                  <a:alpha val="94000"/>
                </a:srgbClr>
              </a:gs>
              <a:gs pos="100000">
                <a:schemeClr val="accent1"/>
              </a:gs>
            </a:gsLst>
            <a:lin ang="2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7" name="Rectangle 36">
            <a:extLst>
              <a:ext uri="{FF2B5EF4-FFF2-40B4-BE49-F238E27FC236}">
                <a16:creationId xmlns:a16="http://schemas.microsoft.com/office/drawing/2014/main" id="{B8B8D07F-F13E-443E-BA68-2D26672D76B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H="1">
            <a:off x="8123333" y="-2"/>
            <a:ext cx="4092521" cy="6400369"/>
          </a:xfrm>
          <a:prstGeom prst="rect">
            <a:avLst/>
          </a:prstGeom>
          <a:gradFill>
            <a:gsLst>
              <a:gs pos="31000">
                <a:schemeClr val="accent1">
                  <a:lumMod val="50000"/>
                  <a:alpha val="0"/>
                </a:schemeClr>
              </a:gs>
              <a:gs pos="100000">
                <a:schemeClr val="accent1">
                  <a:lumMod val="50000"/>
                  <a:alpha val="26000"/>
                </a:schemeClr>
              </a:gs>
            </a:gsLst>
            <a:lin ang="18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39" name="Rectangle 38">
            <a:extLst>
              <a:ext uri="{FF2B5EF4-FFF2-40B4-BE49-F238E27FC236}">
                <a16:creationId xmlns:a16="http://schemas.microsoft.com/office/drawing/2014/main" id="{2813A4FA-24A5-41ED-A534-3807D1B2F34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H="1">
            <a:off x="8123333" y="-22"/>
            <a:ext cx="4068667" cy="6400389"/>
          </a:xfrm>
          <a:prstGeom prst="rect">
            <a:avLst/>
          </a:prstGeom>
          <a:gradFill>
            <a:gsLst>
              <a:gs pos="0">
                <a:schemeClr val="accent1">
                  <a:alpha val="0"/>
                </a:schemeClr>
              </a:gs>
              <a:gs pos="72000">
                <a:srgbClr val="000000">
                  <a:alpha val="21000"/>
                </a:srgbClr>
              </a:gs>
            </a:gsLst>
            <a:lin ang="3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41" name="Rectangle 40">
            <a:extLst>
              <a:ext uri="{FF2B5EF4-FFF2-40B4-BE49-F238E27FC236}">
                <a16:creationId xmlns:a16="http://schemas.microsoft.com/office/drawing/2014/main" id="{C3944F27-CA70-4E84-A51A-E6BF8955897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H="1">
            <a:off x="8123333" y="-10"/>
            <a:ext cx="3611467" cy="6857997"/>
          </a:xfrm>
          <a:prstGeom prst="rect">
            <a:avLst/>
          </a:prstGeom>
          <a:gradFill>
            <a:gsLst>
              <a:gs pos="0">
                <a:schemeClr val="accent1">
                  <a:alpha val="0"/>
                </a:schemeClr>
              </a:gs>
              <a:gs pos="93000">
                <a:srgbClr val="000000">
                  <a:alpha val="29000"/>
                </a:srgbClr>
              </a:gs>
            </a:gsLst>
            <a:lin ang="5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pic>
        <p:nvPicPr>
          <p:cNvPr id="5" name="Picture 4">
            <a:extLst>
              <a:ext uri="{FF2B5EF4-FFF2-40B4-BE49-F238E27FC236}">
                <a16:creationId xmlns:a16="http://schemas.microsoft.com/office/drawing/2014/main" id="{48F7588C-D7FA-B8C2-D271-56C9E62E2CC9}"/>
              </a:ext>
            </a:extLst>
          </p:cNvPr>
          <p:cNvPicPr>
            <a:picLocks noChangeAspect="1"/>
          </p:cNvPicPr>
          <p:nvPr/>
        </p:nvPicPr>
        <p:blipFill>
          <a:blip r:embed="rId3"/>
          <a:stretch>
            <a:fillRect/>
          </a:stretch>
        </p:blipFill>
        <p:spPr>
          <a:xfrm>
            <a:off x="6512442" y="1616306"/>
            <a:ext cx="5201023" cy="3211631"/>
          </a:xfrm>
          <a:prstGeom prst="rect">
            <a:avLst/>
          </a:prstGeom>
        </p:spPr>
      </p:pic>
    </p:spTree>
    <p:extLst>
      <p:ext uri="{BB962C8B-B14F-4D97-AF65-F5344CB8AC3E}">
        <p14:creationId xmlns:p14="http://schemas.microsoft.com/office/powerpoint/2010/main" val="3038070712"/>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84EC9973-DDFE-3C11-6C90-EAF60CF4BA7B}"/>
            </a:ext>
          </a:extLst>
        </p:cNvPr>
        <p:cNvGrpSpPr/>
        <p:nvPr/>
      </p:nvGrpSpPr>
      <p:grpSpPr>
        <a:xfrm>
          <a:off x="0" y="0"/>
          <a:ext cx="0" cy="0"/>
          <a:chOff x="0" y="0"/>
          <a:chExt cx="0" cy="0"/>
        </a:xfrm>
      </p:grpSpPr>
      <p:sp useBgFill="1">
        <p:nvSpPr>
          <p:cNvPr id="42" name="Rectangle 41">
            <a:extLst>
              <a:ext uri="{FF2B5EF4-FFF2-40B4-BE49-F238E27FC236}">
                <a16:creationId xmlns:a16="http://schemas.microsoft.com/office/drawing/2014/main" id="{979E27D9-03C7-44E2-9FF8-15D0C8506AF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512F7A8B-3281-BACF-85D6-3101FFEA406F}"/>
              </a:ext>
            </a:extLst>
          </p:cNvPr>
          <p:cNvSpPr>
            <a:spLocks noGrp="1"/>
          </p:cNvSpPr>
          <p:nvPr>
            <p:ph type="title"/>
          </p:nvPr>
        </p:nvSpPr>
        <p:spPr>
          <a:xfrm>
            <a:off x="1136397" y="502021"/>
            <a:ext cx="4959603" cy="1642969"/>
          </a:xfrm>
        </p:spPr>
        <p:txBody>
          <a:bodyPr anchor="b">
            <a:normAutofit/>
          </a:bodyPr>
          <a:lstStyle/>
          <a:p>
            <a:r>
              <a:rPr lang="en-US" sz="4000" dirty="0"/>
              <a:t>Naïve Bayes with Lowered threshold</a:t>
            </a:r>
          </a:p>
        </p:txBody>
      </p:sp>
      <p:sp>
        <p:nvSpPr>
          <p:cNvPr id="4" name="AutoShape 2">
            <a:extLst>
              <a:ext uri="{FF2B5EF4-FFF2-40B4-BE49-F238E27FC236}">
                <a16:creationId xmlns:a16="http://schemas.microsoft.com/office/drawing/2014/main" id="{978578F9-CD5E-B254-9DB2-6AD10CAD2BE6}"/>
              </a:ext>
            </a:extLst>
          </p:cNvPr>
          <p:cNvSpPr>
            <a:spLocks noGrp="1" noChangeAspect="1" noChangeArrowheads="1"/>
          </p:cNvSpPr>
          <p:nvPr>
            <p:ph idx="1"/>
          </p:nvPr>
        </p:nvSpPr>
        <p:spPr bwMode="auto">
          <a:xfrm>
            <a:off x="1136397" y="2418408"/>
            <a:ext cx="4959603" cy="3522569"/>
          </a:xfrm>
          <a:prstGeom prst="rect">
            <a:avLst/>
          </a:prstGeom>
          <a:extLst>
            <a:ext uri="{909E8E84-426E-40DD-AFC4-6F175D3DCCD1}">
              <a14:hiddenFill xmlns:a14="http://schemas.microsoft.com/office/drawing/2010/main">
                <a:solidFill>
                  <a:srgbClr val="FFFFFF"/>
                </a:solidFill>
              </a14:hiddenFill>
            </a:ext>
          </a:extLst>
        </p:spPr>
        <p:txBody>
          <a:bodyPr vert="horz" lIns="91440" tIns="45720" rIns="91440" bIns="45720" numCol="1" anchor="t" anchorCtr="0" compatLnSpc="1">
            <a:prstTxWarp prst="textNoShape">
              <a:avLst/>
            </a:prstTxWarp>
            <a:normAutofit/>
          </a:bodyPr>
          <a:lstStyle/>
          <a:p>
            <a:r>
              <a:rPr lang="en-US" sz="2000" dirty="0"/>
              <a:t>Lowering threshold allows the model to flag more potential quitters</a:t>
            </a:r>
          </a:p>
          <a:p>
            <a:r>
              <a:rPr lang="en-US" sz="2000" dirty="0"/>
              <a:t>With Naïve Bayes model we achieved 68% sensitivity</a:t>
            </a:r>
          </a:p>
          <a:p>
            <a:pPr lvl="1"/>
            <a:r>
              <a:rPr lang="en-US" sz="2000" dirty="0"/>
              <a:t>Correctly predicted 27 turnovers</a:t>
            </a:r>
          </a:p>
          <a:p>
            <a:pPr lvl="1"/>
            <a:r>
              <a:rPr lang="en-US" sz="2000" dirty="0"/>
              <a:t>Missed 13 turnovers</a:t>
            </a:r>
          </a:p>
          <a:p>
            <a:r>
              <a:rPr lang="en-US" sz="2000" dirty="0"/>
              <a:t>We also achieved 61% specificity</a:t>
            </a:r>
          </a:p>
          <a:p>
            <a:pPr lvl="1"/>
            <a:r>
              <a:rPr lang="en-US" sz="2000" dirty="0"/>
              <a:t>Correctly predicted 134 employees not quitting</a:t>
            </a:r>
          </a:p>
          <a:p>
            <a:pPr lvl="1"/>
            <a:r>
              <a:rPr lang="en-US" sz="2000" dirty="0"/>
              <a:t>Incorrectly predicted 87 false alarms</a:t>
            </a:r>
          </a:p>
          <a:p>
            <a:pPr lvl="1"/>
            <a:endParaRPr lang="en-US" sz="2000" dirty="0"/>
          </a:p>
        </p:txBody>
      </p:sp>
      <p:pic>
        <p:nvPicPr>
          <p:cNvPr id="6" name="Picture 5">
            <a:extLst>
              <a:ext uri="{FF2B5EF4-FFF2-40B4-BE49-F238E27FC236}">
                <a16:creationId xmlns:a16="http://schemas.microsoft.com/office/drawing/2014/main" id="{F7B17B3E-B654-C075-8925-32353E19F901}"/>
              </a:ext>
            </a:extLst>
          </p:cNvPr>
          <p:cNvPicPr>
            <a:picLocks noChangeAspect="1"/>
          </p:cNvPicPr>
          <p:nvPr/>
        </p:nvPicPr>
        <p:blipFill>
          <a:blip r:embed="rId3"/>
          <a:stretch>
            <a:fillRect/>
          </a:stretch>
        </p:blipFill>
        <p:spPr>
          <a:xfrm>
            <a:off x="6512442" y="1616306"/>
            <a:ext cx="5201023" cy="3211631"/>
          </a:xfrm>
          <a:prstGeom prst="rect">
            <a:avLst/>
          </a:prstGeom>
        </p:spPr>
      </p:pic>
      <p:sp>
        <p:nvSpPr>
          <p:cNvPr id="44" name="Rectangle 43">
            <a:extLst>
              <a:ext uri="{FF2B5EF4-FFF2-40B4-BE49-F238E27FC236}">
                <a16:creationId xmlns:a16="http://schemas.microsoft.com/office/drawing/2014/main" id="{EEBF1590-3B36-48EE-A89D-3B6F3CB256A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H="1">
            <a:off x="0" y="6400799"/>
            <a:ext cx="12192000" cy="456773"/>
          </a:xfrm>
          <a:prstGeom prst="rect">
            <a:avLst/>
          </a:prstGeom>
          <a:gradFill>
            <a:gsLst>
              <a:gs pos="0">
                <a:schemeClr val="accent1"/>
              </a:gs>
              <a:gs pos="78000">
                <a:srgbClr val="000000"/>
              </a:gs>
            </a:gsLst>
            <a:lin ang="2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6" name="Rectangle 45">
            <a:extLst>
              <a:ext uri="{FF2B5EF4-FFF2-40B4-BE49-F238E27FC236}">
                <a16:creationId xmlns:a16="http://schemas.microsoft.com/office/drawing/2014/main" id="{AC8F6C8C-AB5A-4548-942D-E3FD40ACBC4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4038600" y="6400799"/>
            <a:ext cx="8153398" cy="456772"/>
          </a:xfrm>
          <a:prstGeom prst="rect">
            <a:avLst/>
          </a:prstGeom>
          <a:gradFill>
            <a:gsLst>
              <a:gs pos="0">
                <a:srgbClr val="000000">
                  <a:alpha val="63000"/>
                </a:srgbClr>
              </a:gs>
              <a:gs pos="100000">
                <a:schemeClr val="accent1">
                  <a:lumMod val="75000"/>
                </a:schemeClr>
              </a:gs>
            </a:gsLst>
            <a:lin ang="13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2250746290"/>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9E072061-F3CF-E59E-DE44-67783C3CB669}"/>
            </a:ext>
          </a:extLst>
        </p:cNvPr>
        <p:cNvGrpSpPr/>
        <p:nvPr/>
      </p:nvGrpSpPr>
      <p:grpSpPr>
        <a:xfrm>
          <a:off x="0" y="0"/>
          <a:ext cx="0" cy="0"/>
          <a:chOff x="0" y="0"/>
          <a:chExt cx="0" cy="0"/>
        </a:xfrm>
      </p:grpSpPr>
      <p:sp useBgFill="1">
        <p:nvSpPr>
          <p:cNvPr id="42" name="Rectangle 41">
            <a:extLst>
              <a:ext uri="{FF2B5EF4-FFF2-40B4-BE49-F238E27FC236}">
                <a16:creationId xmlns:a16="http://schemas.microsoft.com/office/drawing/2014/main" id="{12609869-9E80-471B-A487-A53288E0E79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8B0FD828-40F3-64B5-D05E-E311F7D16E34}"/>
              </a:ext>
            </a:extLst>
          </p:cNvPr>
          <p:cNvSpPr>
            <a:spLocks noGrp="1"/>
          </p:cNvSpPr>
          <p:nvPr>
            <p:ph type="title"/>
          </p:nvPr>
        </p:nvSpPr>
        <p:spPr>
          <a:xfrm>
            <a:off x="1136397" y="502020"/>
            <a:ext cx="5323715" cy="1642970"/>
          </a:xfrm>
        </p:spPr>
        <p:txBody>
          <a:bodyPr anchor="b">
            <a:normAutofit/>
          </a:bodyPr>
          <a:lstStyle/>
          <a:p>
            <a:r>
              <a:rPr lang="en-US" sz="4000" dirty="0"/>
              <a:t>Naïve Bayes Model with Lower Threshold </a:t>
            </a:r>
          </a:p>
        </p:txBody>
      </p:sp>
      <p:sp>
        <p:nvSpPr>
          <p:cNvPr id="4" name="AutoShape 2">
            <a:extLst>
              <a:ext uri="{FF2B5EF4-FFF2-40B4-BE49-F238E27FC236}">
                <a16:creationId xmlns:a16="http://schemas.microsoft.com/office/drawing/2014/main" id="{656A6F0C-240D-1C8A-2C38-11CDBEC067E0}"/>
              </a:ext>
            </a:extLst>
          </p:cNvPr>
          <p:cNvSpPr>
            <a:spLocks noGrp="1" noChangeAspect="1" noChangeArrowheads="1"/>
          </p:cNvSpPr>
          <p:nvPr>
            <p:ph idx="1"/>
          </p:nvPr>
        </p:nvSpPr>
        <p:spPr bwMode="auto">
          <a:xfrm>
            <a:off x="1144923" y="2405894"/>
            <a:ext cx="5315189" cy="3535083"/>
          </a:xfrm>
          <a:prstGeom prst="rect">
            <a:avLst/>
          </a:prstGeom>
          <a:extLst>
            <a:ext uri="{909E8E84-426E-40DD-AFC4-6F175D3DCCD1}">
              <a14:hiddenFill xmlns:a14="http://schemas.microsoft.com/office/drawing/2010/main">
                <a:solidFill>
                  <a:srgbClr val="FFFFFF"/>
                </a:solidFill>
              </a14:hiddenFill>
            </a:ext>
          </a:extLst>
        </p:spPr>
        <p:txBody>
          <a:bodyPr vert="horz" lIns="91440" tIns="45720" rIns="91440" bIns="45720" numCol="1" anchor="t" anchorCtr="0" compatLnSpc="1">
            <a:prstTxWarp prst="textNoShape">
              <a:avLst/>
            </a:prstTxWarp>
            <a:normAutofit lnSpcReduction="10000"/>
          </a:bodyPr>
          <a:lstStyle/>
          <a:p>
            <a:r>
              <a:rPr lang="en-US" sz="2000" dirty="0"/>
              <a:t>(27 true positives + 87 false alarms) * $200 = $22,800</a:t>
            </a:r>
          </a:p>
          <a:p>
            <a:r>
              <a:rPr lang="en-US" sz="2000" dirty="0"/>
              <a:t>13 missed * $49,728 average salary * 200% replacement cost = $1,292,928</a:t>
            </a:r>
          </a:p>
          <a:p>
            <a:r>
              <a:rPr lang="en-US" sz="2000" dirty="0"/>
              <a:t>Total cost = $1,315,728</a:t>
            </a:r>
          </a:p>
          <a:p>
            <a:r>
              <a:rPr lang="en-US" sz="2000" dirty="0"/>
              <a:t>Comparison: KNN vs Naïve Bayes (both with lowered threshold)</a:t>
            </a:r>
          </a:p>
          <a:p>
            <a:pPr lvl="1"/>
            <a:r>
              <a:rPr lang="en-US" sz="1600" dirty="0"/>
              <a:t>KNN lower = $1,411,984 </a:t>
            </a:r>
          </a:p>
          <a:p>
            <a:pPr lvl="1"/>
            <a:r>
              <a:rPr lang="en-US" sz="1600" dirty="0"/>
              <a:t>Naïve Bayes lower  = $1,315,728</a:t>
            </a:r>
          </a:p>
          <a:p>
            <a:pPr lvl="1"/>
            <a:r>
              <a:rPr lang="en-US" sz="1600" dirty="0"/>
              <a:t>Savings = $96,256</a:t>
            </a:r>
          </a:p>
          <a:p>
            <a:r>
              <a:rPr lang="en-US" sz="2000" dirty="0"/>
              <a:t>Savings using Naïve Bayes model is $96,256</a:t>
            </a:r>
          </a:p>
          <a:p>
            <a:endParaRPr lang="en-US" sz="2000" dirty="0"/>
          </a:p>
        </p:txBody>
      </p:sp>
      <p:sp>
        <p:nvSpPr>
          <p:cNvPr id="44" name="Rectangle 43">
            <a:extLst>
              <a:ext uri="{FF2B5EF4-FFF2-40B4-BE49-F238E27FC236}">
                <a16:creationId xmlns:a16="http://schemas.microsoft.com/office/drawing/2014/main" id="{7004738A-9D34-43E8-97D2-CA0EED4F8BE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H="1">
            <a:off x="8123333" y="-5"/>
            <a:ext cx="4092521" cy="6858000"/>
          </a:xfrm>
          <a:prstGeom prst="rect">
            <a:avLst/>
          </a:prstGeom>
          <a:gradFill>
            <a:gsLst>
              <a:gs pos="8000">
                <a:srgbClr val="000000">
                  <a:alpha val="94000"/>
                </a:srgbClr>
              </a:gs>
              <a:gs pos="100000">
                <a:schemeClr val="accent1"/>
              </a:gs>
            </a:gsLst>
            <a:lin ang="2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6" name="Rectangle 45">
            <a:extLst>
              <a:ext uri="{FF2B5EF4-FFF2-40B4-BE49-F238E27FC236}">
                <a16:creationId xmlns:a16="http://schemas.microsoft.com/office/drawing/2014/main" id="{B8B8D07F-F13E-443E-BA68-2D26672D76B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H="1">
            <a:off x="8123333" y="-2"/>
            <a:ext cx="4092521" cy="6400369"/>
          </a:xfrm>
          <a:prstGeom prst="rect">
            <a:avLst/>
          </a:prstGeom>
          <a:gradFill>
            <a:gsLst>
              <a:gs pos="31000">
                <a:schemeClr val="accent1">
                  <a:lumMod val="50000"/>
                  <a:alpha val="0"/>
                </a:schemeClr>
              </a:gs>
              <a:gs pos="100000">
                <a:schemeClr val="accent1">
                  <a:lumMod val="50000"/>
                  <a:alpha val="26000"/>
                </a:schemeClr>
              </a:gs>
            </a:gsLst>
            <a:lin ang="18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48" name="Rectangle 47">
            <a:extLst>
              <a:ext uri="{FF2B5EF4-FFF2-40B4-BE49-F238E27FC236}">
                <a16:creationId xmlns:a16="http://schemas.microsoft.com/office/drawing/2014/main" id="{2813A4FA-24A5-41ED-A534-3807D1B2F34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H="1">
            <a:off x="8123333" y="-22"/>
            <a:ext cx="4068667" cy="6400389"/>
          </a:xfrm>
          <a:prstGeom prst="rect">
            <a:avLst/>
          </a:prstGeom>
          <a:gradFill>
            <a:gsLst>
              <a:gs pos="0">
                <a:schemeClr val="accent1">
                  <a:alpha val="0"/>
                </a:schemeClr>
              </a:gs>
              <a:gs pos="72000">
                <a:srgbClr val="000000">
                  <a:alpha val="21000"/>
                </a:srgbClr>
              </a:gs>
            </a:gsLst>
            <a:lin ang="3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50" name="Rectangle 49">
            <a:extLst>
              <a:ext uri="{FF2B5EF4-FFF2-40B4-BE49-F238E27FC236}">
                <a16:creationId xmlns:a16="http://schemas.microsoft.com/office/drawing/2014/main" id="{C3944F27-CA70-4E84-A51A-E6BF8955897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H="1">
            <a:off x="8123333" y="-10"/>
            <a:ext cx="3611467" cy="6857997"/>
          </a:xfrm>
          <a:prstGeom prst="rect">
            <a:avLst/>
          </a:prstGeom>
          <a:gradFill>
            <a:gsLst>
              <a:gs pos="0">
                <a:schemeClr val="accent1">
                  <a:alpha val="0"/>
                </a:schemeClr>
              </a:gs>
              <a:gs pos="93000">
                <a:srgbClr val="000000">
                  <a:alpha val="29000"/>
                </a:srgbClr>
              </a:gs>
            </a:gsLst>
            <a:lin ang="5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pic>
        <p:nvPicPr>
          <p:cNvPr id="6" name="Picture 5">
            <a:extLst>
              <a:ext uri="{FF2B5EF4-FFF2-40B4-BE49-F238E27FC236}">
                <a16:creationId xmlns:a16="http://schemas.microsoft.com/office/drawing/2014/main" id="{4E2E4106-4D8D-B7AD-222A-2F54CC2AD5A5}"/>
              </a:ext>
            </a:extLst>
          </p:cNvPr>
          <p:cNvPicPr>
            <a:picLocks noChangeAspect="1"/>
          </p:cNvPicPr>
          <p:nvPr/>
        </p:nvPicPr>
        <p:blipFill>
          <a:blip r:embed="rId3"/>
          <a:stretch>
            <a:fillRect/>
          </a:stretch>
        </p:blipFill>
        <p:spPr>
          <a:xfrm>
            <a:off x="6512442" y="1616306"/>
            <a:ext cx="5201023" cy="3211631"/>
          </a:xfrm>
          <a:prstGeom prst="rect">
            <a:avLst/>
          </a:prstGeom>
        </p:spPr>
      </p:pic>
    </p:spTree>
    <p:extLst>
      <p:ext uri="{BB962C8B-B14F-4D97-AF65-F5344CB8AC3E}">
        <p14:creationId xmlns:p14="http://schemas.microsoft.com/office/powerpoint/2010/main" val="1826670720"/>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73E7F673-DD86-C1AA-3FFA-2146B3D6FE0A}"/>
            </a:ext>
          </a:extLst>
        </p:cNvPr>
        <p:cNvGrpSpPr/>
        <p:nvPr/>
      </p:nvGrpSpPr>
      <p:grpSpPr>
        <a:xfrm>
          <a:off x="0" y="0"/>
          <a:ext cx="0" cy="0"/>
          <a:chOff x="0" y="0"/>
          <a:chExt cx="0" cy="0"/>
        </a:xfrm>
      </p:grpSpPr>
      <p:sp useBgFill="1">
        <p:nvSpPr>
          <p:cNvPr id="7" name="Rectangle 6">
            <a:extLst>
              <a:ext uri="{FF2B5EF4-FFF2-40B4-BE49-F238E27FC236}">
                <a16:creationId xmlns:a16="http://schemas.microsoft.com/office/drawing/2014/main" id="{0E30439A-8A5B-46EC-8283-9B6B031D40D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Rectangle 8">
            <a:extLst>
              <a:ext uri="{FF2B5EF4-FFF2-40B4-BE49-F238E27FC236}">
                <a16:creationId xmlns:a16="http://schemas.microsoft.com/office/drawing/2014/main" id="{5CEAD642-85CF-4750-8432-7C80C901F00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427"/>
            <a:ext cx="12192001" cy="6858000"/>
          </a:xfrm>
          <a:prstGeom prst="rect">
            <a:avLst/>
          </a:prstGeom>
          <a:gradFill>
            <a:gsLst>
              <a:gs pos="0">
                <a:srgbClr val="000000"/>
              </a:gs>
              <a:gs pos="100000">
                <a:schemeClr val="accent1">
                  <a:lumMod val="75000"/>
                </a:schemeClr>
              </a:gs>
            </a:gsLst>
            <a:lin ang="15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Rectangle 10">
            <a:extLst>
              <a:ext uri="{FF2B5EF4-FFF2-40B4-BE49-F238E27FC236}">
                <a16:creationId xmlns:a16="http://schemas.microsoft.com/office/drawing/2014/main" id="{FA33EEAE-15D5-4119-8C1E-89D943F911E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H="1">
            <a:off x="455521" y="-1720"/>
            <a:ext cx="11750040" cy="6840685"/>
          </a:xfrm>
          <a:prstGeom prst="rect">
            <a:avLst/>
          </a:prstGeom>
          <a:gradFill>
            <a:gsLst>
              <a:gs pos="21000">
                <a:schemeClr val="accent1">
                  <a:lumMod val="50000"/>
                  <a:alpha val="61000"/>
                </a:schemeClr>
              </a:gs>
              <a:gs pos="100000">
                <a:schemeClr val="accent1">
                  <a:alpha val="0"/>
                </a:schemeClr>
              </a:gs>
            </a:gsLst>
            <a:lin ang="21594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Rectangle 12">
            <a:extLst>
              <a:ext uri="{FF2B5EF4-FFF2-40B4-BE49-F238E27FC236}">
                <a16:creationId xmlns:a16="http://schemas.microsoft.com/office/drawing/2014/main" id="{730D8B3B-9B80-4025-B934-26DC7D7CD23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8606054" y="-1291"/>
            <a:ext cx="3608179" cy="6858864"/>
          </a:xfrm>
          <a:prstGeom prst="rect">
            <a:avLst/>
          </a:prstGeom>
          <a:gradFill>
            <a:gsLst>
              <a:gs pos="0">
                <a:schemeClr val="accent1">
                  <a:lumMod val="75000"/>
                  <a:alpha val="0"/>
                </a:schemeClr>
              </a:gs>
              <a:gs pos="99000">
                <a:srgbClr val="000000">
                  <a:alpha val="41000"/>
                </a:srgbClr>
              </a:gs>
            </a:gsLst>
            <a:lin ang="16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Oval 14">
            <a:extLst>
              <a:ext uri="{FF2B5EF4-FFF2-40B4-BE49-F238E27FC236}">
                <a16:creationId xmlns:a16="http://schemas.microsoft.com/office/drawing/2014/main" id="{B5A1B09C-1565-46F8-B70F-621C5EB48A0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5274173">
            <a:off x="6059728" y="779270"/>
            <a:ext cx="4967533" cy="4988390"/>
          </a:xfrm>
          <a:prstGeom prst="ellipse">
            <a:avLst/>
          </a:prstGeom>
          <a:gradFill>
            <a:gsLst>
              <a:gs pos="0">
                <a:schemeClr val="accent1">
                  <a:alpha val="24000"/>
                </a:schemeClr>
              </a:gs>
              <a:gs pos="79000">
                <a:schemeClr val="accent1">
                  <a:lumMod val="60000"/>
                  <a:lumOff val="40000"/>
                  <a:alpha val="0"/>
                </a:schemeClr>
              </a:gs>
            </a:gsLst>
            <a:lin ang="14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itle 1">
            <a:extLst>
              <a:ext uri="{FF2B5EF4-FFF2-40B4-BE49-F238E27FC236}">
                <a16:creationId xmlns:a16="http://schemas.microsoft.com/office/drawing/2014/main" id="{7A509E26-AE16-D10D-2F80-66CDFDF66752}"/>
              </a:ext>
            </a:extLst>
          </p:cNvPr>
          <p:cNvSpPr>
            <a:spLocks noGrp="1"/>
          </p:cNvSpPr>
          <p:nvPr>
            <p:ph type="title"/>
          </p:nvPr>
        </p:nvSpPr>
        <p:spPr>
          <a:xfrm>
            <a:off x="1386865" y="818984"/>
            <a:ext cx="6596245" cy="3268520"/>
          </a:xfrm>
        </p:spPr>
        <p:txBody>
          <a:bodyPr vert="horz" lIns="91440" tIns="45720" rIns="91440" bIns="45720" rtlCol="0" anchor="b">
            <a:normAutofit/>
          </a:bodyPr>
          <a:lstStyle/>
          <a:p>
            <a:pPr algn="r"/>
            <a:r>
              <a:rPr lang="en-US" sz="4800" kern="1200" dirty="0">
                <a:solidFill>
                  <a:srgbClr val="FFFFFF"/>
                </a:solidFill>
                <a:latin typeface="+mj-lt"/>
                <a:ea typeface="+mj-ea"/>
                <a:cs typeface="+mj-cs"/>
              </a:rPr>
              <a:t>Conclusion</a:t>
            </a:r>
          </a:p>
        </p:txBody>
      </p:sp>
      <p:sp>
        <p:nvSpPr>
          <p:cNvPr id="17" name="Rectangle 16">
            <a:extLst>
              <a:ext uri="{FF2B5EF4-FFF2-40B4-BE49-F238E27FC236}">
                <a16:creationId xmlns:a16="http://schemas.microsoft.com/office/drawing/2014/main" id="{8C516CC8-80AC-446C-A56E-9F54B721040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H="1">
            <a:off x="6314" y="4480038"/>
            <a:ext cx="12179371" cy="2377962"/>
          </a:xfrm>
          <a:prstGeom prst="rect">
            <a:avLst/>
          </a:prstGeom>
          <a:gradFill>
            <a:gsLst>
              <a:gs pos="0">
                <a:schemeClr val="accent1">
                  <a:lumMod val="75000"/>
                  <a:alpha val="50000"/>
                </a:schemeClr>
              </a:gs>
              <a:gs pos="99000">
                <a:srgbClr val="000000">
                  <a:alpha val="34000"/>
                </a:srgbClr>
              </a:gs>
            </a:gsLst>
            <a:lin ang="17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 name="Rectangle 18">
            <a:extLst>
              <a:ext uri="{FF2B5EF4-FFF2-40B4-BE49-F238E27FC236}">
                <a16:creationId xmlns:a16="http://schemas.microsoft.com/office/drawing/2014/main" id="{53947E58-F088-49F1-A3D1-DEA690192E8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6200000" flipH="1">
            <a:off x="6967085" y="1632660"/>
            <a:ext cx="6857572" cy="3592258"/>
          </a:xfrm>
          <a:prstGeom prst="rect">
            <a:avLst/>
          </a:prstGeom>
          <a:gradFill>
            <a:gsLst>
              <a:gs pos="0">
                <a:schemeClr val="accent1">
                  <a:lumMod val="75000"/>
                  <a:alpha val="50000"/>
                </a:schemeClr>
              </a:gs>
              <a:gs pos="99000">
                <a:srgbClr val="000000">
                  <a:alpha val="0"/>
                </a:srgbClr>
              </a:gs>
            </a:gsLst>
            <a:lin ang="156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1957952184"/>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09588DA8-065E-4F6F-8EFD-43104AB2E0C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useBgFill="1">
        <p:nvSpPr>
          <p:cNvPr id="29" name="Rectangle 28">
            <a:extLst>
              <a:ext uri="{FF2B5EF4-FFF2-40B4-BE49-F238E27FC236}">
                <a16:creationId xmlns:a16="http://schemas.microsoft.com/office/drawing/2014/main" id="{C4285719-470E-454C-AF62-8323075F1F5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0" name="Rectangle 29">
            <a:extLst>
              <a:ext uri="{FF2B5EF4-FFF2-40B4-BE49-F238E27FC236}">
                <a16:creationId xmlns:a16="http://schemas.microsoft.com/office/drawing/2014/main" id="{CD9FE4EF-C4D8-49A0-B2FF-81D8DB7D8A2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1410084" y="1410082"/>
            <a:ext cx="6858000" cy="4037836"/>
          </a:xfrm>
          <a:prstGeom prst="rect">
            <a:avLst/>
          </a:prstGeom>
          <a:gradFill>
            <a:gsLst>
              <a:gs pos="8000">
                <a:srgbClr val="000000"/>
              </a:gs>
              <a:gs pos="100000">
                <a:schemeClr val="accent1">
                  <a:lumMod val="75000"/>
                </a:schemeClr>
              </a:gs>
            </a:gsLst>
            <a:lin ang="3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1" name="Rectangle 30">
            <a:extLst>
              <a:ext uri="{FF2B5EF4-FFF2-40B4-BE49-F238E27FC236}">
                <a16:creationId xmlns:a16="http://schemas.microsoft.com/office/drawing/2014/main" id="{4300840D-0A0B-4512-BACA-B439D5B9C57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1410085" y="1420219"/>
            <a:ext cx="6857999" cy="4037839"/>
          </a:xfrm>
          <a:prstGeom prst="rect">
            <a:avLst/>
          </a:prstGeom>
          <a:gradFill>
            <a:gsLst>
              <a:gs pos="0">
                <a:srgbClr val="000000">
                  <a:alpha val="0"/>
                </a:srgbClr>
              </a:gs>
              <a:gs pos="99000">
                <a:schemeClr val="accent1">
                  <a:alpha val="46000"/>
                </a:schemeClr>
              </a:gs>
            </a:gsLst>
            <a:lin ang="1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2" name="Rectangle 31">
            <a:extLst>
              <a:ext uri="{FF2B5EF4-FFF2-40B4-BE49-F238E27FC236}">
                <a16:creationId xmlns:a16="http://schemas.microsoft.com/office/drawing/2014/main" id="{D2B78728-A580-49A7-84F9-6EF6F583ADE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767923" y="3588085"/>
            <a:ext cx="2501979" cy="4037841"/>
          </a:xfrm>
          <a:prstGeom prst="rect">
            <a:avLst/>
          </a:prstGeom>
          <a:gradFill>
            <a:gsLst>
              <a:gs pos="2000">
                <a:schemeClr val="accent1">
                  <a:alpha val="29000"/>
                </a:schemeClr>
              </a:gs>
              <a:gs pos="100000">
                <a:srgbClr val="000000">
                  <a:alpha val="30000"/>
                </a:srgbClr>
              </a:gs>
            </a:gsLst>
            <a:lin ang="7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33" name="Freeform: Shape 32">
            <a:extLst>
              <a:ext uri="{FF2B5EF4-FFF2-40B4-BE49-F238E27FC236}">
                <a16:creationId xmlns:a16="http://schemas.microsoft.com/office/drawing/2014/main" id="{38FAA1A1-D861-433F-88FA-1E9D6FD31D1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20635413">
            <a:off x="-501737" y="969718"/>
            <a:ext cx="3900357" cy="4178958"/>
          </a:xfrm>
          <a:custGeom>
            <a:avLst/>
            <a:gdLst>
              <a:gd name="connsiteX0" fmla="*/ 2432225 w 3900357"/>
              <a:gd name="connsiteY0" fmla="*/ 93939 h 4178958"/>
              <a:gd name="connsiteX1" fmla="*/ 3900357 w 3900357"/>
              <a:gd name="connsiteY1" fmla="*/ 2089479 h 4178958"/>
              <a:gd name="connsiteX2" fmla="*/ 1810878 w 3900357"/>
              <a:gd name="connsiteY2" fmla="*/ 4178958 h 4178958"/>
              <a:gd name="connsiteX3" fmla="*/ 78249 w 3900357"/>
              <a:gd name="connsiteY3" fmla="*/ 3257727 h 4178958"/>
              <a:gd name="connsiteX4" fmla="*/ 0 w 3900357"/>
              <a:gd name="connsiteY4" fmla="*/ 3128923 h 4178958"/>
              <a:gd name="connsiteX5" fmla="*/ 831324 w 3900357"/>
              <a:gd name="connsiteY5" fmla="*/ 244281 h 4178958"/>
              <a:gd name="connsiteX6" fmla="*/ 997559 w 3900357"/>
              <a:gd name="connsiteY6" fmla="*/ 164202 h 4178958"/>
              <a:gd name="connsiteX7" fmla="*/ 1810878 w 3900357"/>
              <a:gd name="connsiteY7" fmla="*/ 0 h 4178958"/>
              <a:gd name="connsiteX8" fmla="*/ 2432225 w 3900357"/>
              <a:gd name="connsiteY8" fmla="*/ 93939 h 417895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900357" h="4178958">
                <a:moveTo>
                  <a:pt x="2432225" y="93939"/>
                </a:moveTo>
                <a:cubicBezTo>
                  <a:pt x="3282786" y="358491"/>
                  <a:pt x="3900357" y="1151865"/>
                  <a:pt x="3900357" y="2089479"/>
                </a:cubicBezTo>
                <a:cubicBezTo>
                  <a:pt x="3900357" y="3243466"/>
                  <a:pt x="2964865" y="4178958"/>
                  <a:pt x="1810878" y="4178958"/>
                </a:cubicBezTo>
                <a:cubicBezTo>
                  <a:pt x="1089636" y="4178958"/>
                  <a:pt x="453744" y="3813531"/>
                  <a:pt x="78249" y="3257727"/>
                </a:cubicBezTo>
                <a:lnTo>
                  <a:pt x="0" y="3128923"/>
                </a:lnTo>
                <a:lnTo>
                  <a:pt x="831324" y="244281"/>
                </a:lnTo>
                <a:lnTo>
                  <a:pt x="997559" y="164202"/>
                </a:lnTo>
                <a:cubicBezTo>
                  <a:pt x="1247540" y="58468"/>
                  <a:pt x="1522381" y="0"/>
                  <a:pt x="1810878" y="0"/>
                </a:cubicBezTo>
                <a:cubicBezTo>
                  <a:pt x="2027251" y="0"/>
                  <a:pt x="2235942" y="32888"/>
                  <a:pt x="2432225" y="93939"/>
                </a:cubicBezTo>
                <a:close/>
              </a:path>
            </a:pathLst>
          </a:custGeom>
          <a:gradFill>
            <a:gsLst>
              <a:gs pos="29000">
                <a:srgbClr val="000000">
                  <a:alpha val="0"/>
                </a:srgbClr>
              </a:gs>
              <a:gs pos="100000">
                <a:schemeClr val="accent1">
                  <a:alpha val="43000"/>
                </a:schemeClr>
              </a:gs>
            </a:gsLst>
            <a:lin ang="1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20" name="Rectangle 19">
            <a:extLst>
              <a:ext uri="{FF2B5EF4-FFF2-40B4-BE49-F238E27FC236}">
                <a16:creationId xmlns:a16="http://schemas.microsoft.com/office/drawing/2014/main" id="{8D71EDA1-87BF-4D5D-AB79-F346FD19278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1410093" y="1399943"/>
            <a:ext cx="6858003" cy="4037835"/>
          </a:xfrm>
          <a:prstGeom prst="rect">
            <a:avLst/>
          </a:prstGeom>
          <a:gradFill>
            <a:gsLst>
              <a:gs pos="0">
                <a:srgbClr val="000000">
                  <a:alpha val="0"/>
                </a:srgbClr>
              </a:gs>
              <a:gs pos="99000">
                <a:schemeClr val="accent1">
                  <a:lumMod val="60000"/>
                  <a:lumOff val="40000"/>
                  <a:alpha val="11000"/>
                </a:schemeClr>
              </a:gs>
            </a:gsLst>
            <a:lin ang="7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612EFD15-CFA6-C59B-5DF9-DDB75225C3BB}"/>
              </a:ext>
            </a:extLst>
          </p:cNvPr>
          <p:cNvSpPr>
            <a:spLocks noGrp="1"/>
          </p:cNvSpPr>
          <p:nvPr>
            <p:ph type="title"/>
          </p:nvPr>
        </p:nvSpPr>
        <p:spPr>
          <a:xfrm>
            <a:off x="466722" y="586855"/>
            <a:ext cx="3201366" cy="3387497"/>
          </a:xfrm>
        </p:spPr>
        <p:txBody>
          <a:bodyPr anchor="b">
            <a:normAutofit/>
          </a:bodyPr>
          <a:lstStyle/>
          <a:p>
            <a:pPr algn="r"/>
            <a:r>
              <a:rPr lang="en-US" sz="3700" dirty="0">
                <a:solidFill>
                  <a:srgbClr val="FFFFFF"/>
                </a:solidFill>
              </a:rPr>
              <a:t>Closure</a:t>
            </a:r>
          </a:p>
        </p:txBody>
      </p:sp>
      <p:sp>
        <p:nvSpPr>
          <p:cNvPr id="3" name="Content Placeholder 2">
            <a:extLst>
              <a:ext uri="{FF2B5EF4-FFF2-40B4-BE49-F238E27FC236}">
                <a16:creationId xmlns:a16="http://schemas.microsoft.com/office/drawing/2014/main" id="{89DE7BBF-0895-0C6E-8463-EA9B1606ADAE}"/>
              </a:ext>
            </a:extLst>
          </p:cNvPr>
          <p:cNvSpPr>
            <a:spLocks noGrp="1"/>
          </p:cNvSpPr>
          <p:nvPr>
            <p:ph idx="1"/>
          </p:nvPr>
        </p:nvSpPr>
        <p:spPr>
          <a:xfrm>
            <a:off x="4810259" y="649480"/>
            <a:ext cx="6555347" cy="5546047"/>
          </a:xfrm>
        </p:spPr>
        <p:txBody>
          <a:bodyPr anchor="ctr">
            <a:normAutofit/>
          </a:bodyPr>
          <a:lstStyle/>
          <a:p>
            <a:r>
              <a:rPr lang="en-US" sz="1600" dirty="0"/>
              <a:t>Using Naïve Bayes Model with a lowered threshold to catch possible attrition would be beneficial to Frito Lay</a:t>
            </a:r>
          </a:p>
          <a:p>
            <a:pPr lvl="1"/>
            <a:r>
              <a:rPr lang="en-US" sz="1600" dirty="0"/>
              <a:t>Our highest model total cost $2,590,656 was a KNN model without a lowered threshold</a:t>
            </a:r>
          </a:p>
          <a:p>
            <a:pPr lvl="1"/>
            <a:r>
              <a:rPr lang="en-US" sz="1600" dirty="0"/>
              <a:t>Naïve Bayes Model with a lower threshold  cost was $1,315,728</a:t>
            </a:r>
          </a:p>
          <a:p>
            <a:pPr lvl="1"/>
            <a:r>
              <a:rPr lang="en-US" sz="1600" dirty="0"/>
              <a:t>Saving the company $1,274,928</a:t>
            </a:r>
          </a:p>
          <a:p>
            <a:r>
              <a:rPr lang="en-US" sz="1600" dirty="0"/>
              <a:t>Using these factors in our model gives us a better chance of predicting attrition</a:t>
            </a:r>
          </a:p>
          <a:p>
            <a:pPr lvl="1">
              <a:spcBef>
                <a:spcPts val="1000"/>
              </a:spcBef>
              <a:spcAft>
                <a:spcPts val="600"/>
              </a:spcAft>
            </a:pPr>
            <a:r>
              <a:rPr lang="en-US" sz="1600" dirty="0"/>
              <a:t>Age</a:t>
            </a:r>
          </a:p>
          <a:p>
            <a:pPr lvl="1">
              <a:spcBef>
                <a:spcPts val="1000"/>
              </a:spcBef>
              <a:spcAft>
                <a:spcPts val="600"/>
              </a:spcAft>
            </a:pPr>
            <a:r>
              <a:rPr lang="en-US" sz="1600" dirty="0"/>
              <a:t>Job level</a:t>
            </a:r>
          </a:p>
          <a:p>
            <a:pPr lvl="1">
              <a:spcBef>
                <a:spcPts val="1000"/>
              </a:spcBef>
              <a:spcAft>
                <a:spcPts val="600"/>
              </a:spcAft>
            </a:pPr>
            <a:r>
              <a:rPr lang="en-US" sz="1600" dirty="0"/>
              <a:t>Marital Status</a:t>
            </a:r>
          </a:p>
          <a:p>
            <a:pPr lvl="1">
              <a:spcBef>
                <a:spcPts val="1000"/>
              </a:spcBef>
              <a:spcAft>
                <a:spcPts val="600"/>
              </a:spcAft>
            </a:pPr>
            <a:r>
              <a:rPr lang="en-US" sz="1600" dirty="0"/>
              <a:t>Total Working Years</a:t>
            </a:r>
          </a:p>
          <a:p>
            <a:pPr lvl="1">
              <a:spcBef>
                <a:spcPts val="1000"/>
              </a:spcBef>
              <a:spcAft>
                <a:spcPts val="600"/>
              </a:spcAft>
            </a:pPr>
            <a:r>
              <a:rPr lang="en-US" sz="1600" dirty="0"/>
              <a:t>Monthly Income</a:t>
            </a:r>
          </a:p>
          <a:p>
            <a:pPr lvl="1">
              <a:spcBef>
                <a:spcPts val="1000"/>
              </a:spcBef>
              <a:spcAft>
                <a:spcPts val="600"/>
              </a:spcAft>
            </a:pPr>
            <a:r>
              <a:rPr lang="en-US" sz="1600" dirty="0"/>
              <a:t>Overtime</a:t>
            </a:r>
          </a:p>
          <a:p>
            <a:pPr lvl="1">
              <a:spcBef>
                <a:spcPts val="1000"/>
              </a:spcBef>
              <a:spcAft>
                <a:spcPts val="600"/>
              </a:spcAft>
            </a:pPr>
            <a:r>
              <a:rPr lang="en-US" sz="1600" dirty="0"/>
              <a:t>Years with their current manager</a:t>
            </a:r>
          </a:p>
          <a:p>
            <a:pPr lvl="1">
              <a:spcBef>
                <a:spcPts val="1000"/>
              </a:spcBef>
              <a:spcAft>
                <a:spcPts val="600"/>
              </a:spcAft>
            </a:pPr>
            <a:r>
              <a:rPr lang="en-US" sz="1600" dirty="0"/>
              <a:t>Job Role</a:t>
            </a:r>
          </a:p>
          <a:p>
            <a:pPr lvl="1"/>
            <a:endParaRPr lang="en-US" sz="1600" dirty="0"/>
          </a:p>
        </p:txBody>
      </p:sp>
    </p:spTree>
    <p:extLst>
      <p:ext uri="{BB962C8B-B14F-4D97-AF65-F5344CB8AC3E}">
        <p14:creationId xmlns:p14="http://schemas.microsoft.com/office/powerpoint/2010/main" val="369571211"/>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1687</TotalTime>
  <Words>2396</Words>
  <Application>Microsoft Office PowerPoint</Application>
  <PresentationFormat>Widescreen</PresentationFormat>
  <Paragraphs>210</Paragraphs>
  <Slides>26</Slides>
  <Notes>26</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26</vt:i4>
      </vt:variant>
    </vt:vector>
  </HeadingPairs>
  <TitlesOfParts>
    <vt:vector size="30" baseType="lpstr">
      <vt:lpstr>Aptos</vt:lpstr>
      <vt:lpstr>Aptos Display</vt:lpstr>
      <vt:lpstr>Arial</vt:lpstr>
      <vt:lpstr>Office Theme</vt:lpstr>
      <vt:lpstr>Frito Lay Attrition</vt:lpstr>
      <vt:lpstr>Employee Attrition Data</vt:lpstr>
      <vt:lpstr>Possible Attrition Factors</vt:lpstr>
      <vt:lpstr>PowerPoint Presentation</vt:lpstr>
      <vt:lpstr>Age</vt:lpstr>
      <vt:lpstr>Marital Status</vt:lpstr>
      <vt:lpstr>Job Level</vt:lpstr>
      <vt:lpstr>Total Years of Work Experience</vt:lpstr>
      <vt:lpstr>Monthly Income</vt:lpstr>
      <vt:lpstr>Years With Current Manager</vt:lpstr>
      <vt:lpstr>Overtime</vt:lpstr>
      <vt:lpstr>Job Role</vt:lpstr>
      <vt:lpstr>Job Role</vt:lpstr>
      <vt:lpstr>Key Takeaways</vt:lpstr>
      <vt:lpstr>Prevention and Cost</vt:lpstr>
      <vt:lpstr>Cost breakdown</vt:lpstr>
      <vt:lpstr>Employee Turnover with KNN Model</vt:lpstr>
      <vt:lpstr>Cost using this KNN to prevent turnover</vt:lpstr>
      <vt:lpstr>KNN Model with lowered threshold</vt:lpstr>
      <vt:lpstr>New Cost for lowering threshold</vt:lpstr>
      <vt:lpstr>Employee Turnover with Naïve Bayes</vt:lpstr>
      <vt:lpstr>Cost for using Naïve Bayes Model to prevent turnover</vt:lpstr>
      <vt:lpstr>Naïve Bayes with Lowered threshold</vt:lpstr>
      <vt:lpstr>Naïve Bayes Model with Lower Threshold </vt:lpstr>
      <vt:lpstr>Conclusion</vt:lpstr>
      <vt:lpstr>Closure</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Bui, Andy</dc:creator>
  <cp:lastModifiedBy>Bui, Andy</cp:lastModifiedBy>
  <cp:revision>21</cp:revision>
  <dcterms:created xsi:type="dcterms:W3CDTF">2026-03-01T03:13:52Z</dcterms:created>
  <dcterms:modified xsi:type="dcterms:W3CDTF">2026-03-08T22:47:06Z</dcterms:modified>
</cp:coreProperties>
</file>